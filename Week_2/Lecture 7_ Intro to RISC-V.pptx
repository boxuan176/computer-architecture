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Lst>
  <p:sldSz cy="6858000" cx="12192000"/>
  <p:notesSz cx="6858000" cy="9144000"/>
  <p:embeddedFontLst>
    <p:embeddedFont>
      <p:font typeface="Helvetica Neue"/>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HelveticaNeue-regular.fntdata"/><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font" Target="fonts/HelveticaNeue-italic.fntdata"/><Relationship Id="rId14" Type="http://schemas.openxmlformats.org/officeDocument/2006/relationships/slide" Target="slides/slide10.xml"/><Relationship Id="rId36" Type="http://schemas.openxmlformats.org/officeDocument/2006/relationships/font" Target="fonts/HelveticaNeue-bold.fntdata"/><Relationship Id="rId17" Type="http://schemas.openxmlformats.org/officeDocument/2006/relationships/slide" Target="slides/slide13.xml"/><Relationship Id="rId16" Type="http://schemas.openxmlformats.org/officeDocument/2006/relationships/slide" Target="slides/slide12.xml"/><Relationship Id="rId38" Type="http://schemas.openxmlformats.org/officeDocument/2006/relationships/font" Target="fonts/HelveticaNeue-bold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 name="Google Shape;7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3:notes"/>
          <p:cNvSpPr txBox="1"/>
          <p:nvPr>
            <p:ph idx="1" type="body"/>
          </p:nvPr>
        </p:nvSpPr>
        <p:spPr>
          <a:xfrm>
            <a:off x="528638" y="4424363"/>
            <a:ext cx="6049962" cy="4186237"/>
          </a:xfrm>
          <a:prstGeom prst="rect">
            <a:avLst/>
          </a:prstGeom>
          <a:noFill/>
          <a:ln>
            <a:noFill/>
          </a:ln>
        </p:spPr>
        <p:txBody>
          <a:bodyPr anchorCtr="0" anchor="t" bIns="45325" lIns="92275" spcFirstLastPara="1" rIns="92275" wrap="square" tIns="45325">
            <a:noAutofit/>
          </a:bodyPr>
          <a:lstStyle/>
          <a:p>
            <a:pPr indent="0" lvl="0" marL="0" rtl="0" algn="just">
              <a:spcBef>
                <a:spcPts val="400"/>
              </a:spcBef>
              <a:spcAft>
                <a:spcPts val="0"/>
              </a:spcAft>
              <a:buClr>
                <a:schemeClr val="dk1"/>
              </a:buClr>
              <a:buSzPts val="1200"/>
              <a:buFont typeface="Calibri"/>
              <a:buNone/>
            </a:pPr>
            <a:r>
              <a:t/>
            </a:r>
            <a:endParaRPr>
              <a:latin typeface="Arial"/>
              <a:ea typeface="Arial"/>
              <a:cs typeface="Arial"/>
              <a:sym typeface="Arial"/>
            </a:endParaRPr>
          </a:p>
        </p:txBody>
      </p:sp>
      <p:sp>
        <p:nvSpPr>
          <p:cNvPr id="88" name="Google Shape;88;p3:notes"/>
          <p:cNvSpPr/>
          <p:nvPr>
            <p:ph idx="2" type="sldImg"/>
          </p:nvPr>
        </p:nvSpPr>
        <p:spPr>
          <a:xfrm>
            <a:off x="431800" y="596900"/>
            <a:ext cx="6183313" cy="34782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https://en.wikipedia.org/wiki/VAX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John Cocke IBM 801 1980 - This was not well publicized as it was an internal company project.</a:t>
            </a:r>
            <a:endParaRPr/>
          </a:p>
          <a:p>
            <a:pPr indent="0" lvl="0" marL="0" rtl="0" algn="l">
              <a:spcBef>
                <a:spcPts val="0"/>
              </a:spcBef>
              <a:spcAft>
                <a:spcPts val="0"/>
              </a:spcAft>
              <a:buNone/>
            </a:pPr>
            <a:r>
              <a:rPr lang="en-US"/>
              <a:t>John Hennessey Stanford MIPS 1981</a:t>
            </a:r>
            <a:endParaRPr/>
          </a:p>
          <a:p>
            <a:pPr indent="0" lvl="0" marL="0" rtl="0" algn="l">
              <a:spcBef>
                <a:spcPts val="0"/>
              </a:spcBef>
              <a:spcAft>
                <a:spcPts val="0"/>
              </a:spcAft>
              <a:buNone/>
            </a:pPr>
            <a:r>
              <a:rPr lang="en-US"/>
              <a:t>David Patterson Berkeley RISC 1980</a:t>
            </a:r>
            <a:endParaRPr/>
          </a:p>
        </p:txBody>
      </p:sp>
      <p:sp>
        <p:nvSpPr>
          <p:cNvPr id="242" name="Google Shape;24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7:notes"/>
          <p:cNvSpPr txBox="1"/>
          <p:nvPr>
            <p:ph idx="1" type="body"/>
          </p:nvPr>
        </p:nvSpPr>
        <p:spPr>
          <a:xfrm>
            <a:off x="528638" y="4424363"/>
            <a:ext cx="6049962" cy="4186237"/>
          </a:xfrm>
          <a:prstGeom prst="rect">
            <a:avLst/>
          </a:prstGeom>
          <a:noFill/>
          <a:ln>
            <a:noFill/>
          </a:ln>
        </p:spPr>
        <p:txBody>
          <a:bodyPr anchorCtr="0" anchor="t" bIns="45325" lIns="92275" spcFirstLastPara="1" rIns="92275" wrap="square" tIns="45325">
            <a:noAutofit/>
          </a:bodyPr>
          <a:lstStyle/>
          <a:p>
            <a:pPr indent="0" lvl="0" marL="0" rtl="0" algn="just">
              <a:spcBef>
                <a:spcPts val="400"/>
              </a:spcBef>
              <a:spcAft>
                <a:spcPts val="0"/>
              </a:spcAft>
              <a:buClr>
                <a:schemeClr val="dk1"/>
              </a:buClr>
              <a:buSzPts val="1200"/>
              <a:buFont typeface="Calibri"/>
              <a:buNone/>
            </a:pPr>
            <a:r>
              <a:rPr b="0" i="0" lang="en-US" sz="1200">
                <a:solidFill>
                  <a:schemeClr val="dk1"/>
                </a:solidFill>
                <a:latin typeface="Calibri"/>
                <a:ea typeface="Calibri"/>
                <a:cs typeface="Calibri"/>
                <a:sym typeface="Calibri"/>
              </a:rPr>
              <a:t>2017: For pioneering a systematic, quantitative approach to the design and evaluation of computer architectures with enduring impact on the microprocessor industry.</a:t>
            </a:r>
            <a:endParaRPr/>
          </a:p>
          <a:p>
            <a:pPr indent="0" lvl="0" marL="0" rtl="0" algn="just">
              <a:spcBef>
                <a:spcPts val="400"/>
              </a:spcBef>
              <a:spcAft>
                <a:spcPts val="0"/>
              </a:spcAft>
              <a:buClr>
                <a:schemeClr val="dk1"/>
              </a:buClr>
              <a:buSzPts val="1200"/>
              <a:buFont typeface="Calibri"/>
              <a:buNone/>
            </a:pPr>
            <a:r>
              <a:t/>
            </a:r>
            <a:endParaRPr b="0" i="0" sz="1200">
              <a:solidFill>
                <a:schemeClr val="dk1"/>
              </a:solidFill>
              <a:latin typeface="Calibri"/>
              <a:ea typeface="Calibri"/>
              <a:cs typeface="Calibri"/>
              <a:sym typeface="Calibri"/>
            </a:endParaRPr>
          </a:p>
          <a:p>
            <a:pPr indent="0" lvl="0" marL="0" rtl="0" algn="just">
              <a:spcBef>
                <a:spcPts val="400"/>
              </a:spcBef>
              <a:spcAft>
                <a:spcPts val="0"/>
              </a:spcAft>
              <a:buClr>
                <a:schemeClr val="dk1"/>
              </a:buClr>
              <a:buSzPts val="1200"/>
              <a:buFont typeface="Calibri"/>
              <a:buNone/>
            </a:pPr>
            <a:r>
              <a:rPr b="0" i="0" lang="en-US" sz="1200">
                <a:solidFill>
                  <a:schemeClr val="dk1"/>
                </a:solidFill>
                <a:latin typeface="Calibri"/>
                <a:ea typeface="Calibri"/>
                <a:cs typeface="Calibri"/>
                <a:sym typeface="Calibri"/>
              </a:rPr>
              <a:t>Patterson first met John Hennessy at a meeting for DARPA funded research VLSI projects in 1980 or 1981 where each was presenting their ideas.  RISC-2 emerged simultaneously with Hennessy’s MIPS (Microprocessor without Interlocked Pipeline Stages) prototype at Stanford in 1983. Arguments between RISC vs. MIPS designs were soon dwarfed by their common thesis against CISC (Complex Instruction Set Computers), used by the entire industrial computer design community.</a:t>
            </a:r>
            <a:endParaRPr/>
          </a:p>
          <a:p>
            <a:pPr indent="0" lvl="0" marL="0" rtl="0" algn="just">
              <a:spcBef>
                <a:spcPts val="400"/>
              </a:spcBef>
              <a:spcAft>
                <a:spcPts val="0"/>
              </a:spcAft>
              <a:buClr>
                <a:schemeClr val="dk1"/>
              </a:buClr>
              <a:buSzPts val="1200"/>
              <a:buFont typeface="Arial"/>
              <a:buNone/>
            </a:pPr>
            <a:r>
              <a:rPr lang="en-US">
                <a:latin typeface="Arial"/>
                <a:ea typeface="Arial"/>
                <a:cs typeface="Arial"/>
                <a:sym typeface="Arial"/>
              </a:rPr>
              <a:t>https://amturing.acm.org/award_winners/patterson_2316693.cfm</a:t>
            </a:r>
            <a:endParaRPr/>
          </a:p>
          <a:p>
            <a:pPr indent="0" lvl="0" marL="0" rtl="0" algn="just">
              <a:spcBef>
                <a:spcPts val="400"/>
              </a:spcBef>
              <a:spcAft>
                <a:spcPts val="0"/>
              </a:spcAft>
              <a:buClr>
                <a:schemeClr val="dk1"/>
              </a:buClr>
              <a:buSzPts val="1200"/>
              <a:buFont typeface="Arial"/>
              <a:buNone/>
            </a:pPr>
            <a:r>
              <a:rPr lang="en-US">
                <a:latin typeface="Arial"/>
                <a:ea typeface="Arial"/>
                <a:cs typeface="Arial"/>
                <a:sym typeface="Arial"/>
              </a:rPr>
              <a:t>https://amturing.acm.org/award_winners/hennessy_1426931.cfm</a:t>
            </a:r>
            <a:endParaRPr>
              <a:latin typeface="Arial"/>
              <a:ea typeface="Arial"/>
              <a:cs typeface="Arial"/>
              <a:sym typeface="Arial"/>
            </a:endParaRPr>
          </a:p>
        </p:txBody>
      </p:sp>
      <p:sp>
        <p:nvSpPr>
          <p:cNvPr id="248" name="Google Shape;248;p7:notes"/>
          <p:cNvSpPr/>
          <p:nvPr>
            <p:ph idx="2" type="sldImg"/>
          </p:nvPr>
        </p:nvSpPr>
        <p:spPr>
          <a:xfrm>
            <a:off x="431800" y="596900"/>
            <a:ext cx="6183313" cy="34782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Apple M1 Chip is 3.1 GHz max clock rate</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7/10 nm transistor density</a:t>
            </a:r>
            <a:endParaRPr/>
          </a:p>
        </p:txBody>
      </p:sp>
      <p:sp>
        <p:nvSpPr>
          <p:cNvPr id="315" name="Google Shape;31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4:notes"/>
          <p:cNvSpPr txBox="1"/>
          <p:nvPr>
            <p:ph idx="1" type="body"/>
          </p:nvPr>
        </p:nvSpPr>
        <p:spPr>
          <a:xfrm>
            <a:off x="528638" y="4424363"/>
            <a:ext cx="6049962" cy="4186237"/>
          </a:xfrm>
          <a:prstGeom prst="rect">
            <a:avLst/>
          </a:prstGeom>
          <a:noFill/>
          <a:ln>
            <a:noFill/>
          </a:ln>
        </p:spPr>
        <p:txBody>
          <a:bodyPr anchorCtr="0" anchor="t" bIns="45325" lIns="92275" spcFirstLastPara="1" rIns="92275" wrap="square" tIns="45325">
            <a:noAutofit/>
          </a:bodyPr>
          <a:lstStyle/>
          <a:p>
            <a:pPr indent="0" lvl="0" marL="0" rtl="0" algn="just">
              <a:spcBef>
                <a:spcPts val="400"/>
              </a:spcBef>
              <a:spcAft>
                <a:spcPts val="0"/>
              </a:spcAft>
              <a:buClr>
                <a:schemeClr val="dk1"/>
              </a:buClr>
              <a:buSzPts val="1200"/>
              <a:buFont typeface="Calibri"/>
              <a:buNone/>
            </a:pPr>
            <a:r>
              <a:t/>
            </a:r>
            <a:endParaRPr>
              <a:latin typeface="Arial"/>
              <a:ea typeface="Arial"/>
              <a:cs typeface="Arial"/>
              <a:sym typeface="Arial"/>
            </a:endParaRPr>
          </a:p>
        </p:txBody>
      </p:sp>
      <p:sp>
        <p:nvSpPr>
          <p:cNvPr id="327" name="Google Shape;327;p14:notes"/>
          <p:cNvSpPr/>
          <p:nvPr>
            <p:ph idx="2" type="sldImg"/>
          </p:nvPr>
        </p:nvSpPr>
        <p:spPr>
          <a:xfrm>
            <a:off x="431800" y="596900"/>
            <a:ext cx="6183313" cy="34782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 name="Google Shape;35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 name="Google Shape;358;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 name="Google Shape;376;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3" name="Google Shape;393;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1" name="Google Shape;421;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 name="Google Shape;422;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2" name="Google Shape;43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3" name="Google Shape;433;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https://www.smithsonianmag.com/smithsonian-institution/margaret-hamilton-led-nasa-software-team-landed-astronauts-moon-180971575/</a:t>
            </a:r>
            <a:endParaRPr/>
          </a:p>
          <a:p>
            <a:pPr indent="0" lvl="0" marL="0" rtl="0" algn="l">
              <a:spcBef>
                <a:spcPts val="0"/>
              </a:spcBef>
              <a:spcAft>
                <a:spcPts val="0"/>
              </a:spcAft>
              <a:buNone/>
            </a:pPr>
            <a:r>
              <a:rPr lang="en-US"/>
              <a:t>https://www.ibiblio.org/apollo/assembly_language_manual.html </a:t>
            </a:r>
            <a:endParaRPr/>
          </a:p>
          <a:p>
            <a:pPr indent="0" lvl="0" marL="0" rtl="0" algn="l">
              <a:spcBef>
                <a:spcPts val="0"/>
              </a:spcBef>
              <a:spcAft>
                <a:spcPts val="0"/>
              </a:spcAft>
              <a:buNone/>
            </a:pPr>
            <a:r>
              <a:rPr lang="en-US"/>
              <a:t>Obama is 6’2”</a:t>
            </a:r>
            <a:endParaRPr/>
          </a:p>
        </p:txBody>
      </p:sp>
      <p:sp>
        <p:nvSpPr>
          <p:cNvPr id="442" name="Google Shape;442;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9" name="Google Shape;459;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5" name="Google Shape;465;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 name="Google Shape;466;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7" name="Google Shape;477;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RISC: reduced instruction set computer</a:t>
            </a:r>
            <a:endParaRPr/>
          </a:p>
        </p:txBody>
      </p:sp>
      <p:sp>
        <p:nvSpPr>
          <p:cNvPr id="478" name="Google Shape;478;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6" name="Google Shape;496;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7" name="Google Shape;497;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0" name="Google Shape;510;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1" name="Google Shape;511;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7" name="Google Shape;517;p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None/>
            </a:pPr>
            <a:r>
              <a:rPr lang="en-US" sz="1200">
                <a:solidFill>
                  <a:srgbClr val="000000"/>
                </a:solidFill>
                <a:latin typeface="Arial"/>
                <a:ea typeface="Arial"/>
                <a:cs typeface="Arial"/>
                <a:sym typeface="Arial"/>
              </a:rPr>
              <a:t>1. True, we saw that on an early slide.</a:t>
            </a:r>
            <a:endParaRPr/>
          </a:p>
          <a:p>
            <a:pPr indent="-228600" lvl="0" marL="228600" rtl="0" algn="just">
              <a:lnSpc>
                <a:spcPct val="90000"/>
              </a:lnSpc>
              <a:spcBef>
                <a:spcPts val="525"/>
              </a:spcBef>
              <a:spcAft>
                <a:spcPts val="0"/>
              </a:spcAft>
              <a:buNone/>
            </a:pPr>
            <a:r>
              <a:rPr lang="en-US" sz="1200">
                <a:solidFill>
                  <a:srgbClr val="000000"/>
                </a:solidFill>
                <a:latin typeface="Arial"/>
                <a:ea typeface="Arial"/>
                <a:cs typeface="Arial"/>
                <a:sym typeface="Arial"/>
              </a:rPr>
              <a:t>2. False. we saw how to break up longer equations to smaller ones already.</a:t>
            </a:r>
            <a:endParaRPr/>
          </a:p>
          <a:p>
            <a:pPr indent="-228600" lvl="0" marL="228600" rtl="0" algn="just">
              <a:lnSpc>
                <a:spcPct val="90000"/>
              </a:lnSpc>
              <a:spcBef>
                <a:spcPts val="525"/>
              </a:spcBef>
              <a:spcAft>
                <a:spcPts val="0"/>
              </a:spcAft>
              <a:buNone/>
            </a:pPr>
            <a:r>
              <a:rPr lang="en-US" sz="1200">
                <a:solidFill>
                  <a:srgbClr val="000000"/>
                </a:solidFill>
                <a:latin typeface="Arial"/>
                <a:ea typeface="Arial"/>
                <a:cs typeface="Arial"/>
                <a:sym typeface="Arial"/>
              </a:rPr>
              <a:t>3. False. Don’t forget that ints are (usually) 4 bytes wide.</a:t>
            </a:r>
            <a:endParaRPr/>
          </a:p>
        </p:txBody>
      </p:sp>
      <p:sp>
        <p:nvSpPr>
          <p:cNvPr id="518" name="Google Shape;518;p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7" name="Google Shape;527;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8" name="Google Shape;528;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7" name="Shape 17"/>
        <p:cNvGrpSpPr/>
        <p:nvPr/>
      </p:nvGrpSpPr>
      <p:grpSpPr>
        <a:xfrm>
          <a:off x="0" y="0"/>
          <a:ext cx="0" cy="0"/>
          <a:chOff x="0" y="0"/>
          <a:chExt cx="0" cy="0"/>
        </a:xfrm>
      </p:grpSpPr>
      <p:sp>
        <p:nvSpPr>
          <p:cNvPr id="18" name="Google Shape;18;p2"/>
          <p:cNvSpPr txBox="1"/>
          <p:nvPr>
            <p:ph type="title"/>
          </p:nvPr>
        </p:nvSpPr>
        <p:spPr>
          <a:xfrm>
            <a:off x="2201021" y="4561558"/>
            <a:ext cx="7789961" cy="761999"/>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accent3"/>
              </a:buClr>
              <a:buSzPts val="4267"/>
              <a:buFont typeface="Arial"/>
              <a:buNone/>
              <a:defRPr b="1" i="0" sz="4267">
                <a:solidFill>
                  <a:schemeClr val="accent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
          <p:cNvSpPr/>
          <p:nvPr/>
        </p:nvSpPr>
        <p:spPr>
          <a:xfrm>
            <a:off x="2641600" y="405076"/>
            <a:ext cx="6908800" cy="1632842"/>
          </a:xfrm>
          <a:prstGeom prst="rect">
            <a:avLst/>
          </a:prstGeom>
          <a:noFill/>
          <a:ln>
            <a:noFill/>
          </a:ln>
        </p:spPr>
        <p:txBody>
          <a:bodyPr anchorCtr="0" anchor="ctr" bIns="30225" lIns="75575" spcFirstLastPara="1" rIns="75575" wrap="square" tIns="30225">
            <a:noAutofit/>
          </a:bodyPr>
          <a:lstStyle/>
          <a:p>
            <a:pPr indent="0" lvl="0" marL="0" marR="0" rtl="0" algn="ctr">
              <a:lnSpc>
                <a:spcPct val="77000"/>
              </a:lnSpc>
              <a:spcBef>
                <a:spcPts val="0"/>
              </a:spcBef>
              <a:spcAft>
                <a:spcPts val="0"/>
              </a:spcAft>
              <a:buNone/>
            </a:pPr>
            <a:r>
              <a:rPr b="1" i="0" lang="en-US" sz="12800" u="none" cap="none" strike="noStrike">
                <a:solidFill>
                  <a:srgbClr val="4991B1"/>
                </a:solidFill>
                <a:latin typeface="Arial"/>
                <a:ea typeface="Arial"/>
                <a:cs typeface="Arial"/>
                <a:sym typeface="Arial"/>
              </a:rPr>
              <a:t>CS61C</a:t>
            </a:r>
            <a:endParaRPr b="1" i="0" sz="6400" u="none" cap="none" strike="noStrike">
              <a:solidFill>
                <a:srgbClr val="4991B1"/>
              </a:solidFill>
              <a:latin typeface="Arial"/>
              <a:ea typeface="Arial"/>
              <a:cs typeface="Arial"/>
              <a:sym typeface="Arial"/>
            </a:endParaRPr>
          </a:p>
        </p:txBody>
      </p:sp>
      <p:pic>
        <p:nvPicPr>
          <p:cNvPr id="20" name="Google Shape;20;p2"/>
          <p:cNvPicPr preferRelativeResize="0"/>
          <p:nvPr/>
        </p:nvPicPr>
        <p:blipFill rotWithShape="1">
          <a:blip r:embed="rId2">
            <a:alphaModFix/>
          </a:blip>
          <a:srcRect b="47377" l="14185" r="32155" t="1842"/>
          <a:stretch/>
        </p:blipFill>
        <p:spPr>
          <a:xfrm>
            <a:off x="1954741" y="414398"/>
            <a:ext cx="1364768" cy="1690509"/>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
        <p:nvSpPr>
          <p:cNvPr id="21" name="Google Shape;21;p2"/>
          <p:cNvSpPr/>
          <p:nvPr/>
        </p:nvSpPr>
        <p:spPr>
          <a:xfrm>
            <a:off x="2641600" y="1859824"/>
            <a:ext cx="6908800" cy="1540509"/>
          </a:xfrm>
          <a:prstGeom prst="rect">
            <a:avLst/>
          </a:prstGeom>
          <a:noFill/>
          <a:ln>
            <a:noFill/>
          </a:ln>
        </p:spPr>
        <p:txBody>
          <a:bodyPr anchorCtr="0" anchor="ctr" bIns="30225" lIns="75575" spcFirstLastPara="1" rIns="75575" wrap="square" tIns="30225">
            <a:noAutofit/>
          </a:bodyPr>
          <a:lstStyle/>
          <a:p>
            <a:pPr indent="0" lvl="0" marL="0" marR="0" rtl="0" algn="ctr">
              <a:lnSpc>
                <a:spcPct val="77000"/>
              </a:lnSpc>
              <a:spcBef>
                <a:spcPts val="0"/>
              </a:spcBef>
              <a:spcAft>
                <a:spcPts val="0"/>
              </a:spcAft>
              <a:buNone/>
            </a:pPr>
            <a:r>
              <a:rPr b="1" i="0" lang="en-US" sz="3333" u="none" cap="none" strike="noStrike">
                <a:solidFill>
                  <a:schemeClr val="lt1"/>
                </a:solidFill>
                <a:latin typeface="Arial"/>
                <a:ea typeface="Arial"/>
                <a:cs typeface="Arial"/>
                <a:sym typeface="Arial"/>
              </a:rPr>
              <a:t>Great Ideas</a:t>
            </a:r>
            <a:endParaRPr/>
          </a:p>
          <a:p>
            <a:pPr indent="0" lvl="0" marL="0" marR="0" rtl="0" algn="ctr">
              <a:lnSpc>
                <a:spcPct val="77000"/>
              </a:lnSpc>
              <a:spcBef>
                <a:spcPts val="0"/>
              </a:spcBef>
              <a:spcAft>
                <a:spcPts val="0"/>
              </a:spcAft>
              <a:buNone/>
            </a:pPr>
            <a:r>
              <a:rPr b="1" i="0" lang="en-US" sz="3333" u="none" cap="none" strike="noStrike">
                <a:solidFill>
                  <a:schemeClr val="lt1"/>
                </a:solidFill>
                <a:latin typeface="Arial"/>
                <a:ea typeface="Arial"/>
                <a:cs typeface="Arial"/>
                <a:sym typeface="Arial"/>
              </a:rPr>
              <a:t>in</a:t>
            </a:r>
            <a:br>
              <a:rPr b="1" i="0" lang="en-US" sz="3333" u="none" cap="none" strike="noStrike">
                <a:solidFill>
                  <a:schemeClr val="lt1"/>
                </a:solidFill>
                <a:latin typeface="Arial"/>
                <a:ea typeface="Arial"/>
                <a:cs typeface="Arial"/>
                <a:sym typeface="Arial"/>
              </a:rPr>
            </a:br>
            <a:r>
              <a:rPr b="1" i="0" lang="en-US" sz="3333" u="none" cap="none" strike="noStrike">
                <a:solidFill>
                  <a:schemeClr val="lt1"/>
                </a:solidFill>
                <a:latin typeface="Arial"/>
                <a:ea typeface="Arial"/>
                <a:cs typeface="Arial"/>
                <a:sym typeface="Arial"/>
              </a:rPr>
              <a:t>Computer Architecture</a:t>
            </a:r>
            <a:endParaRPr/>
          </a:p>
          <a:p>
            <a:pPr indent="0" lvl="0" marL="0" marR="0" rtl="0" algn="ctr">
              <a:lnSpc>
                <a:spcPct val="77000"/>
              </a:lnSpc>
              <a:spcBef>
                <a:spcPts val="0"/>
              </a:spcBef>
              <a:spcAft>
                <a:spcPts val="0"/>
              </a:spcAft>
              <a:buNone/>
            </a:pPr>
            <a:r>
              <a:rPr b="0" i="0" lang="en-US" sz="2400" u="none" cap="none" strike="noStrike">
                <a:solidFill>
                  <a:schemeClr val="lt2"/>
                </a:solidFill>
                <a:latin typeface="Arial"/>
                <a:ea typeface="Arial"/>
                <a:cs typeface="Arial"/>
                <a:sym typeface="Arial"/>
              </a:rPr>
              <a:t>(a.k.a. Machine Structures)</a:t>
            </a:r>
            <a:endParaRPr b="1" i="0" sz="3833" u="none" cap="none" strike="noStrike">
              <a:solidFill>
                <a:schemeClr val="lt2"/>
              </a:solidFill>
              <a:latin typeface="Arial"/>
              <a:ea typeface="Arial"/>
              <a:cs typeface="Arial"/>
              <a:sym typeface="Arial"/>
            </a:endParaRPr>
          </a:p>
        </p:txBody>
      </p:sp>
      <p:sp>
        <p:nvSpPr>
          <p:cNvPr id="22" name="Google Shape;22;p2"/>
          <p:cNvSpPr txBox="1"/>
          <p:nvPr/>
        </p:nvSpPr>
        <p:spPr>
          <a:xfrm>
            <a:off x="1525875" y="2494613"/>
            <a:ext cx="2222500" cy="86196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667" u="none" cap="none" strike="noStrike">
                <a:solidFill>
                  <a:srgbClr val="7F7F7F"/>
                </a:solidFill>
                <a:latin typeface="Arial"/>
                <a:ea typeface="Arial"/>
                <a:cs typeface="Arial"/>
                <a:sym typeface="Arial"/>
              </a:rPr>
              <a:t>UC Berkeley</a:t>
            </a:r>
            <a:br>
              <a:rPr b="1" i="0" lang="en-US" sz="1667" u="none" cap="none" strike="noStrike">
                <a:solidFill>
                  <a:srgbClr val="7F7F7F"/>
                </a:solidFill>
                <a:latin typeface="Arial"/>
                <a:ea typeface="Arial"/>
                <a:cs typeface="Arial"/>
                <a:sym typeface="Arial"/>
              </a:rPr>
            </a:br>
            <a:r>
              <a:rPr b="1" i="0" lang="en-US" sz="1667" u="none" cap="none" strike="noStrike">
                <a:solidFill>
                  <a:srgbClr val="7F7F7F"/>
                </a:solidFill>
                <a:latin typeface="Arial"/>
                <a:ea typeface="Arial"/>
                <a:cs typeface="Arial"/>
                <a:sym typeface="Arial"/>
              </a:rPr>
              <a:t>Teaching Professor </a:t>
            </a:r>
            <a:br>
              <a:rPr b="1" i="0" lang="en-US" sz="1667" u="none" cap="none" strike="noStrike">
                <a:solidFill>
                  <a:srgbClr val="7F7F7F"/>
                </a:solidFill>
                <a:latin typeface="Arial"/>
                <a:ea typeface="Arial"/>
                <a:cs typeface="Arial"/>
                <a:sym typeface="Arial"/>
              </a:rPr>
            </a:br>
            <a:r>
              <a:rPr b="1" i="0" lang="en-US" sz="1667" u="none" cap="none" strike="noStrike">
                <a:solidFill>
                  <a:srgbClr val="7F7F7F"/>
                </a:solidFill>
                <a:latin typeface="Arial"/>
                <a:ea typeface="Arial"/>
                <a:cs typeface="Arial"/>
                <a:sym typeface="Arial"/>
              </a:rPr>
              <a:t>Dan Garcia</a:t>
            </a:r>
            <a:endParaRPr/>
          </a:p>
        </p:txBody>
      </p:sp>
      <p:sp>
        <p:nvSpPr>
          <p:cNvPr id="23" name="Google Shape;23;p2"/>
          <p:cNvSpPr/>
          <p:nvPr/>
        </p:nvSpPr>
        <p:spPr>
          <a:xfrm>
            <a:off x="4774131" y="6362905"/>
            <a:ext cx="2643739" cy="492388"/>
          </a:xfrm>
          <a:prstGeom prst="rect">
            <a:avLst/>
          </a:prstGeom>
          <a:gradFill>
            <a:gsLst>
              <a:gs pos="0">
                <a:srgbClr val="002A52"/>
              </a:gs>
              <a:gs pos="100000">
                <a:srgbClr val="003262"/>
              </a:gs>
            </a:gsLst>
            <a:lin ang="5400000" scaled="0"/>
          </a:gradFill>
          <a:ln>
            <a:noFill/>
          </a:ln>
        </p:spPr>
        <p:txBody>
          <a:bodyPr anchorCtr="0" anchor="t" bIns="60925" lIns="121900" spcFirstLastPara="1" rIns="121900" wrap="square" tIns="60925">
            <a:noAutofit/>
          </a:bodyPr>
          <a:lstStyle/>
          <a:p>
            <a:pPr indent="0" lvl="0" marL="0" marR="0" rtl="0" algn="ctr">
              <a:spcBef>
                <a:spcPts val="0"/>
              </a:spcBef>
              <a:spcAft>
                <a:spcPts val="0"/>
              </a:spcAft>
              <a:buClr>
                <a:schemeClr val="lt1"/>
              </a:buClr>
              <a:buSzPts val="1867"/>
              <a:buFont typeface="Courier"/>
              <a:buNone/>
            </a:pPr>
            <a:r>
              <a:rPr b="1" i="0" lang="en-US" sz="1867" u="none" cap="none" strike="noStrike">
                <a:solidFill>
                  <a:schemeClr val="lt1"/>
                </a:solidFill>
                <a:latin typeface="Courier"/>
                <a:ea typeface="Courier"/>
                <a:cs typeface="Courier"/>
                <a:sym typeface="Courier"/>
              </a:rPr>
              <a:t>cs61c.org</a:t>
            </a:r>
            <a:r>
              <a:rPr b="1" i="0" lang="en-US" sz="2400" u="none" cap="none" strike="noStrike">
                <a:solidFill>
                  <a:schemeClr val="lt1"/>
                </a:solidFill>
                <a:latin typeface="Helvetica Neue"/>
                <a:ea typeface="Helvetica Neue"/>
                <a:cs typeface="Helvetica Neue"/>
                <a:sym typeface="Helvetica Neue"/>
              </a:rPr>
              <a:t> </a:t>
            </a:r>
            <a:endParaRPr b="0" i="0" sz="21199" u="none" cap="none" strike="noStrike">
              <a:solidFill>
                <a:schemeClr val="lt1"/>
              </a:solidFill>
              <a:latin typeface="Helvetica Neue"/>
              <a:ea typeface="Helvetica Neue"/>
              <a:cs typeface="Helvetica Neue"/>
              <a:sym typeface="Helvetica Neue"/>
            </a:endParaRPr>
          </a:p>
        </p:txBody>
      </p:sp>
      <p:sp>
        <p:nvSpPr>
          <p:cNvPr id="24" name="Google Shape;24;p2"/>
          <p:cNvSpPr/>
          <p:nvPr/>
        </p:nvSpPr>
        <p:spPr>
          <a:xfrm>
            <a:off x="1348741" y="5447637"/>
            <a:ext cx="9494518" cy="566338"/>
          </a:xfrm>
          <a:prstGeom prst="ellipse">
            <a:avLst/>
          </a:prstGeom>
          <a:solidFill>
            <a:srgbClr val="262626">
              <a:alpha val="16862"/>
            </a:srgbClr>
          </a:solidFill>
          <a:ln>
            <a:noFill/>
          </a:ln>
        </p:spPr>
        <p:txBody>
          <a:bodyPr anchorCtr="0" anchor="ctr" bIns="65300" lIns="130600" spcFirstLastPara="1" rIns="130600" wrap="square" tIns="65300">
            <a:noAutofit/>
          </a:bodyPr>
          <a:lstStyle/>
          <a:p>
            <a:pPr indent="0" lvl="0" marL="0" marR="0" rtl="0" algn="ctr">
              <a:spcBef>
                <a:spcPts val="0"/>
              </a:spcBef>
              <a:spcAft>
                <a:spcPts val="0"/>
              </a:spcAft>
              <a:buNone/>
            </a:pPr>
            <a:r>
              <a:t/>
            </a:r>
            <a:endParaRPr b="0" i="0" sz="22875"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3"/>
          <p:cNvSpPr txBox="1"/>
          <p:nvPr>
            <p:ph idx="1" type="body"/>
          </p:nvPr>
        </p:nvSpPr>
        <p:spPr>
          <a:xfrm>
            <a:off x="5842475" y="909321"/>
            <a:ext cx="5998909" cy="5364480"/>
          </a:xfrm>
          <a:prstGeom prst="rect">
            <a:avLst/>
          </a:prstGeom>
          <a:noFill/>
          <a:ln>
            <a:noFill/>
          </a:ln>
        </p:spPr>
        <p:txBody>
          <a:bodyPr anchorCtr="0" anchor="ctr" bIns="45700" lIns="91425" spcFirstLastPara="1" rIns="91425" wrap="square" tIns="45700">
            <a:normAutofit/>
          </a:bodyPr>
          <a:lstStyle>
            <a:lvl1pPr indent="-445769" lvl="0" marL="457200" algn="l">
              <a:lnSpc>
                <a:spcPct val="100000"/>
              </a:lnSpc>
              <a:spcBef>
                <a:spcPts val="1000"/>
              </a:spcBef>
              <a:spcAft>
                <a:spcPts val="0"/>
              </a:spcAft>
              <a:buClr>
                <a:schemeClr val="lt1"/>
              </a:buClr>
              <a:buSzPts val="3420"/>
              <a:buFont typeface="Arial"/>
              <a:buChar char="•"/>
              <a:defRPr b="0" i="0" sz="3600">
                <a:solidFill>
                  <a:schemeClr val="lt1"/>
                </a:solidFill>
                <a:latin typeface="Arial"/>
                <a:ea typeface="Arial"/>
                <a:cs typeface="Arial"/>
                <a:sym typeface="Arial"/>
              </a:defRPr>
            </a:lvl1pPr>
            <a:lvl2pPr indent="-228600" lvl="1" marL="914400" algn="l">
              <a:lnSpc>
                <a:spcPct val="100000"/>
              </a:lnSpc>
              <a:spcBef>
                <a:spcPts val="500"/>
              </a:spcBef>
              <a:spcAft>
                <a:spcPts val="0"/>
              </a:spcAft>
              <a:buClr>
                <a:srgbClr val="888888"/>
              </a:buClr>
              <a:buSzPts val="1800"/>
              <a:buNone/>
              <a:defRPr sz="2000">
                <a:solidFill>
                  <a:srgbClr val="888888"/>
                </a:solidFill>
              </a:defRPr>
            </a:lvl2pPr>
            <a:lvl3pPr indent="-228600" lvl="2" marL="1371600" algn="l">
              <a:lnSpc>
                <a:spcPct val="100000"/>
              </a:lnSpc>
              <a:spcBef>
                <a:spcPts val="500"/>
              </a:spcBef>
              <a:spcAft>
                <a:spcPts val="0"/>
              </a:spcAft>
              <a:buClr>
                <a:srgbClr val="888888"/>
              </a:buClr>
              <a:buSzPts val="1800"/>
              <a:buNone/>
              <a:defRPr sz="1800">
                <a:solidFill>
                  <a:srgbClr val="888888"/>
                </a:solidFill>
              </a:defRPr>
            </a:lvl3pPr>
            <a:lvl4pPr indent="-228600" lvl="3" marL="1828800" algn="l">
              <a:lnSpc>
                <a:spcPct val="100000"/>
              </a:lnSpc>
              <a:spcBef>
                <a:spcPts val="500"/>
              </a:spcBef>
              <a:spcAft>
                <a:spcPts val="0"/>
              </a:spcAft>
              <a:buClr>
                <a:srgbClr val="888888"/>
              </a:buClr>
              <a:buSzPts val="1600"/>
              <a:buNone/>
              <a:defRPr sz="1600">
                <a:solidFill>
                  <a:srgbClr val="888888"/>
                </a:solidFill>
              </a:defRPr>
            </a:lvl4pPr>
            <a:lvl5pPr indent="-228600" lvl="4" marL="2286000" algn="l">
              <a:lnSpc>
                <a:spcPct val="10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7" name="Google Shape;27;p3"/>
          <p:cNvSpPr/>
          <p:nvPr/>
        </p:nvSpPr>
        <p:spPr>
          <a:xfrm>
            <a:off x="0" y="908051"/>
            <a:ext cx="5514021" cy="5365751"/>
          </a:xfrm>
          <a:prstGeom prst="rect">
            <a:avLst/>
          </a:prstGeom>
          <a:gradFill>
            <a:gsLst>
              <a:gs pos="0">
                <a:srgbClr val="000000">
                  <a:alpha val="14901"/>
                </a:srgbClr>
              </a:gs>
              <a:gs pos="100000">
                <a:srgbClr val="3A7EA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Arial"/>
              <a:ea typeface="Arial"/>
              <a:cs typeface="Arial"/>
              <a:sym typeface="Arial"/>
            </a:endParaRPr>
          </a:p>
        </p:txBody>
      </p:sp>
      <p:cxnSp>
        <p:nvCxnSpPr>
          <p:cNvPr id="28" name="Google Shape;28;p3"/>
          <p:cNvCxnSpPr/>
          <p:nvPr/>
        </p:nvCxnSpPr>
        <p:spPr>
          <a:xfrm>
            <a:off x="1115843" y="888611"/>
            <a:ext cx="10466559" cy="389"/>
          </a:xfrm>
          <a:prstGeom prst="straightConnector1">
            <a:avLst/>
          </a:prstGeom>
          <a:noFill/>
          <a:ln cap="flat" cmpd="sng" w="19050">
            <a:solidFill>
              <a:schemeClr val="lt1"/>
            </a:solidFill>
            <a:prstDash val="solid"/>
            <a:miter lim="800000"/>
            <a:headEnd len="sm" w="sm" type="none"/>
            <a:tailEnd len="sm" w="sm" type="none"/>
          </a:ln>
        </p:spPr>
      </p:cxnSp>
      <p:cxnSp>
        <p:nvCxnSpPr>
          <p:cNvPr id="29" name="Google Shape;29;p3"/>
          <p:cNvCxnSpPr/>
          <p:nvPr/>
        </p:nvCxnSpPr>
        <p:spPr>
          <a:xfrm>
            <a:off x="1115843" y="888611"/>
            <a:ext cx="10466559" cy="389"/>
          </a:xfrm>
          <a:prstGeom prst="straightConnector1">
            <a:avLst/>
          </a:prstGeom>
          <a:noFill/>
          <a:ln cap="flat" cmpd="sng" w="19050">
            <a:solidFill>
              <a:schemeClr val="lt1"/>
            </a:solidFill>
            <a:prstDash val="solid"/>
            <a:miter lim="800000"/>
            <a:headEnd len="sm" w="sm" type="none"/>
            <a:tailEnd len="sm" w="sm" type="none"/>
          </a:ln>
        </p:spPr>
      </p:cxnSp>
      <p:sp>
        <p:nvSpPr>
          <p:cNvPr id="30" name="Google Shape;30;p3"/>
          <p:cNvSpPr txBox="1"/>
          <p:nvPr>
            <p:ph type="title"/>
          </p:nvPr>
        </p:nvSpPr>
        <p:spPr>
          <a:xfrm>
            <a:off x="330437" y="886850"/>
            <a:ext cx="5181600" cy="536575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3"/>
              </a:buClr>
              <a:buSzPts val="5867"/>
              <a:buFont typeface="Arial"/>
              <a:buNone/>
              <a:defRPr b="1" i="0" sz="5867">
                <a:solidFill>
                  <a:schemeClr val="accent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3"/>
          <p:cNvSpPr/>
          <p:nvPr/>
        </p:nvSpPr>
        <p:spPr>
          <a:xfrm>
            <a:off x="330438" y="5084098"/>
            <a:ext cx="4740068" cy="471948"/>
          </a:xfrm>
          <a:prstGeom prst="ellipse">
            <a:avLst/>
          </a:prstGeom>
          <a:solidFill>
            <a:srgbClr val="3A7EA2">
              <a:alpha val="16470"/>
            </a:srgbClr>
          </a:solidFill>
          <a:ln>
            <a:noFill/>
          </a:ln>
        </p:spPr>
        <p:txBody>
          <a:bodyPr anchorCtr="0" anchor="ctr" bIns="54400" lIns="108825" spcFirstLastPara="1" rIns="108825" wrap="square" tIns="54400">
            <a:noAutofit/>
          </a:bodyPr>
          <a:lstStyle/>
          <a:p>
            <a:pPr indent="0" lvl="0" marL="0" marR="0" rtl="0" algn="ctr">
              <a:spcBef>
                <a:spcPts val="0"/>
              </a:spcBef>
              <a:spcAft>
                <a:spcPts val="0"/>
              </a:spcAft>
              <a:buClr>
                <a:schemeClr val="dk1"/>
              </a:buClr>
              <a:buSzPts val="19062"/>
              <a:buFont typeface="Calibri"/>
              <a:buNone/>
            </a:pPr>
            <a:r>
              <a:t/>
            </a:r>
            <a:endParaRPr b="0" i="0" sz="19062" u="none" cap="none" strike="noStrike">
              <a:solidFill>
                <a:schemeClr val="lt1"/>
              </a:solidFill>
              <a:latin typeface="Helvetica Neue"/>
              <a:ea typeface="Helvetica Neue"/>
              <a:cs typeface="Helvetica Neue"/>
              <a:sym typeface="Helvetica Neue"/>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ype="obj">
  <p:cSld name="OBJECT">
    <p:spTree>
      <p:nvGrpSpPr>
        <p:cNvPr id="32" name="Shape 32"/>
        <p:cNvGrpSpPr/>
        <p:nvPr/>
      </p:nvGrpSpPr>
      <p:grpSpPr>
        <a:xfrm>
          <a:off x="0" y="0"/>
          <a:ext cx="0" cy="0"/>
          <a:chOff x="0" y="0"/>
          <a:chExt cx="0" cy="0"/>
        </a:xfrm>
      </p:grpSpPr>
      <p:sp>
        <p:nvSpPr>
          <p:cNvPr id="33" name="Google Shape;33;p4"/>
          <p:cNvSpPr txBox="1"/>
          <p:nvPr>
            <p:ph type="title"/>
          </p:nvPr>
        </p:nvSpPr>
        <p:spPr>
          <a:xfrm>
            <a:off x="1104901" y="76199"/>
            <a:ext cx="10509504" cy="76809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4"/>
          <p:cNvSpPr txBox="1"/>
          <p:nvPr>
            <p:ph idx="1" type="body"/>
          </p:nvPr>
        </p:nvSpPr>
        <p:spPr>
          <a:xfrm>
            <a:off x="288413" y="916710"/>
            <a:ext cx="11332079" cy="5287965"/>
          </a:xfrm>
          <a:prstGeom prst="rect">
            <a:avLst/>
          </a:prstGeom>
          <a:noFill/>
          <a:ln>
            <a:noFill/>
          </a:ln>
        </p:spPr>
        <p:txBody>
          <a:bodyPr anchorCtr="0" anchor="t" bIns="45700" lIns="91425" spcFirstLastPara="1" rIns="91425" wrap="square" tIns="45700">
            <a:normAutofit/>
          </a:bodyPr>
          <a:lstStyle>
            <a:lvl1pPr indent="-337185" lvl="0" marL="457200" algn="l">
              <a:lnSpc>
                <a:spcPct val="100000"/>
              </a:lnSpc>
              <a:spcBef>
                <a:spcPts val="1000"/>
              </a:spcBef>
              <a:spcAft>
                <a:spcPts val="0"/>
              </a:spcAft>
              <a:buClr>
                <a:schemeClr val="lt1"/>
              </a:buClr>
              <a:buSzPts val="1710"/>
              <a:buChar char="▪"/>
              <a:defRPr/>
            </a:lvl1pPr>
            <a:lvl2pPr indent="-331469" lvl="1" marL="914400" algn="l">
              <a:lnSpc>
                <a:spcPct val="100000"/>
              </a:lnSpc>
              <a:spcBef>
                <a:spcPts val="500"/>
              </a:spcBef>
              <a:spcAft>
                <a:spcPts val="0"/>
              </a:spcAft>
              <a:buClr>
                <a:schemeClr val="accent2"/>
              </a:buClr>
              <a:buSzPts val="1620"/>
              <a:buChar char="▫"/>
              <a:defRPr/>
            </a:lvl2pPr>
            <a:lvl3pPr indent="-342900" lvl="2" marL="1371600" algn="l">
              <a:lnSpc>
                <a:spcPct val="100000"/>
              </a:lnSpc>
              <a:spcBef>
                <a:spcPts val="500"/>
              </a:spcBef>
              <a:spcAft>
                <a:spcPts val="0"/>
              </a:spcAft>
              <a:buClr>
                <a:schemeClr val="accent1"/>
              </a:buClr>
              <a:buSzPts val="1800"/>
              <a:buChar char="▪"/>
              <a:defRPr/>
            </a:lvl3pPr>
            <a:lvl4pPr indent="-342900" lvl="3" marL="1828800" algn="l">
              <a:lnSpc>
                <a:spcPct val="100000"/>
              </a:lnSpc>
              <a:spcBef>
                <a:spcPts val="500"/>
              </a:spcBef>
              <a:spcAft>
                <a:spcPts val="0"/>
              </a:spcAft>
              <a:buClr>
                <a:schemeClr val="accent3"/>
              </a:buClr>
              <a:buSzPts val="1800"/>
              <a:buChar char="•"/>
              <a:defRPr/>
            </a:lvl4pPr>
            <a:lvl5pPr indent="-342900" lvl="4" marL="2286000" algn="l">
              <a:lnSpc>
                <a:spcPct val="10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35" name="Google Shape;35;p4"/>
          <p:cNvCxnSpPr/>
          <p:nvPr/>
        </p:nvCxnSpPr>
        <p:spPr>
          <a:xfrm>
            <a:off x="1115843" y="888611"/>
            <a:ext cx="10466559" cy="389"/>
          </a:xfrm>
          <a:prstGeom prst="straightConnector1">
            <a:avLst/>
          </a:prstGeom>
          <a:noFill/>
          <a:ln cap="flat" cmpd="sng" w="19050">
            <a:solidFill>
              <a:schemeClr val="lt1"/>
            </a:solidFill>
            <a:prstDash val="solid"/>
            <a:miter lim="800000"/>
            <a:headEnd len="sm" w="sm" type="none"/>
            <a:tailEnd len="sm" w="sm" type="none"/>
          </a:ln>
        </p:spPr>
      </p:cxnSp>
      <p:cxnSp>
        <p:nvCxnSpPr>
          <p:cNvPr id="36" name="Google Shape;36;p4"/>
          <p:cNvCxnSpPr/>
          <p:nvPr/>
        </p:nvCxnSpPr>
        <p:spPr>
          <a:xfrm>
            <a:off x="1115843" y="888611"/>
            <a:ext cx="10466559" cy="389"/>
          </a:xfrm>
          <a:prstGeom prst="straightConnector1">
            <a:avLst/>
          </a:prstGeom>
          <a:noFill/>
          <a:ln cap="flat" cmpd="sng" w="19050">
            <a:solidFill>
              <a:schemeClr val="lt1"/>
            </a:solidFill>
            <a:prstDash val="solid"/>
            <a:miter lim="800000"/>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type="twoObj">
  <p:cSld name="TWO_OBJECTS">
    <p:spTree>
      <p:nvGrpSpPr>
        <p:cNvPr id="37" name="Shape 37"/>
        <p:cNvGrpSpPr/>
        <p:nvPr/>
      </p:nvGrpSpPr>
      <p:grpSpPr>
        <a:xfrm>
          <a:off x="0" y="0"/>
          <a:ext cx="0" cy="0"/>
          <a:chOff x="0" y="0"/>
          <a:chExt cx="0" cy="0"/>
        </a:xfrm>
      </p:grpSpPr>
      <p:sp>
        <p:nvSpPr>
          <p:cNvPr id="38" name="Google Shape;38;p5"/>
          <p:cNvSpPr txBox="1"/>
          <p:nvPr>
            <p:ph type="title"/>
          </p:nvPr>
        </p:nvSpPr>
        <p:spPr>
          <a:xfrm>
            <a:off x="1104901" y="76199"/>
            <a:ext cx="10509504" cy="76809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5"/>
          <p:cNvSpPr txBox="1"/>
          <p:nvPr>
            <p:ph idx="1" type="body"/>
          </p:nvPr>
        </p:nvSpPr>
        <p:spPr>
          <a:xfrm>
            <a:off x="288413" y="916710"/>
            <a:ext cx="5303520" cy="5260254"/>
          </a:xfrm>
          <a:prstGeom prst="rect">
            <a:avLst/>
          </a:prstGeom>
          <a:noFill/>
          <a:ln>
            <a:noFill/>
          </a:ln>
        </p:spPr>
        <p:txBody>
          <a:bodyPr anchorCtr="0" anchor="t" bIns="45700" lIns="91425" spcFirstLastPara="1" rIns="91425" wrap="square" tIns="45700">
            <a:normAutofit/>
          </a:bodyPr>
          <a:lstStyle>
            <a:lvl1pPr indent="-445769" lvl="0" marL="457200" algn="l">
              <a:lnSpc>
                <a:spcPct val="100000"/>
              </a:lnSpc>
              <a:spcBef>
                <a:spcPts val="1000"/>
              </a:spcBef>
              <a:spcAft>
                <a:spcPts val="0"/>
              </a:spcAft>
              <a:buClr>
                <a:schemeClr val="lt1"/>
              </a:buClr>
              <a:buSzPts val="3420"/>
              <a:buChar char="▪"/>
              <a:defRPr sz="3600"/>
            </a:lvl1pPr>
            <a:lvl2pPr indent="-331469" lvl="1" marL="914400" algn="l">
              <a:lnSpc>
                <a:spcPct val="100000"/>
              </a:lnSpc>
              <a:spcBef>
                <a:spcPts val="500"/>
              </a:spcBef>
              <a:spcAft>
                <a:spcPts val="0"/>
              </a:spcAft>
              <a:buClr>
                <a:schemeClr val="accent2"/>
              </a:buClr>
              <a:buSzPts val="1620"/>
              <a:buChar char="▫"/>
              <a:defRPr/>
            </a:lvl2pPr>
            <a:lvl3pPr indent="-342900" lvl="2" marL="1371600" algn="l">
              <a:lnSpc>
                <a:spcPct val="100000"/>
              </a:lnSpc>
              <a:spcBef>
                <a:spcPts val="500"/>
              </a:spcBef>
              <a:spcAft>
                <a:spcPts val="0"/>
              </a:spcAft>
              <a:buClr>
                <a:schemeClr val="accent1"/>
              </a:buClr>
              <a:buSzPts val="1800"/>
              <a:buChar char="▪"/>
              <a:defRPr/>
            </a:lvl3pPr>
            <a:lvl4pPr indent="-342900" lvl="3" marL="1828800" algn="l">
              <a:lnSpc>
                <a:spcPct val="100000"/>
              </a:lnSpc>
              <a:spcBef>
                <a:spcPts val="500"/>
              </a:spcBef>
              <a:spcAft>
                <a:spcPts val="0"/>
              </a:spcAft>
              <a:buClr>
                <a:schemeClr val="accent3"/>
              </a:buClr>
              <a:buSzPts val="1800"/>
              <a:buChar char="•"/>
              <a:defRPr/>
            </a:lvl4pPr>
            <a:lvl5pPr indent="-342900" lvl="4" marL="2286000" algn="l">
              <a:lnSpc>
                <a:spcPct val="10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5"/>
          <p:cNvSpPr txBox="1"/>
          <p:nvPr>
            <p:ph idx="2" type="body"/>
          </p:nvPr>
        </p:nvSpPr>
        <p:spPr>
          <a:xfrm>
            <a:off x="6172200" y="933316"/>
            <a:ext cx="5394960" cy="5243648"/>
          </a:xfrm>
          <a:prstGeom prst="rect">
            <a:avLst/>
          </a:prstGeom>
          <a:noFill/>
          <a:ln>
            <a:noFill/>
          </a:ln>
        </p:spPr>
        <p:txBody>
          <a:bodyPr anchorCtr="0" anchor="t" bIns="45700" lIns="91425" spcFirstLastPara="1" rIns="91425" wrap="square" tIns="45700">
            <a:normAutofit/>
          </a:bodyPr>
          <a:lstStyle>
            <a:lvl1pPr indent="-445769" lvl="0" marL="457200" algn="l">
              <a:lnSpc>
                <a:spcPct val="100000"/>
              </a:lnSpc>
              <a:spcBef>
                <a:spcPts val="1000"/>
              </a:spcBef>
              <a:spcAft>
                <a:spcPts val="0"/>
              </a:spcAft>
              <a:buClr>
                <a:schemeClr val="lt1"/>
              </a:buClr>
              <a:buSzPts val="3420"/>
              <a:buChar char="▪"/>
              <a:defRPr sz="3600"/>
            </a:lvl1pPr>
            <a:lvl2pPr indent="-331469" lvl="1" marL="914400" algn="l">
              <a:lnSpc>
                <a:spcPct val="100000"/>
              </a:lnSpc>
              <a:spcBef>
                <a:spcPts val="500"/>
              </a:spcBef>
              <a:spcAft>
                <a:spcPts val="0"/>
              </a:spcAft>
              <a:buClr>
                <a:schemeClr val="accent2"/>
              </a:buClr>
              <a:buSzPts val="1620"/>
              <a:buChar char="▫"/>
              <a:defRPr/>
            </a:lvl2pPr>
            <a:lvl3pPr indent="-342900" lvl="2" marL="1371600" algn="l">
              <a:lnSpc>
                <a:spcPct val="100000"/>
              </a:lnSpc>
              <a:spcBef>
                <a:spcPts val="500"/>
              </a:spcBef>
              <a:spcAft>
                <a:spcPts val="0"/>
              </a:spcAft>
              <a:buClr>
                <a:schemeClr val="accent1"/>
              </a:buClr>
              <a:buSzPts val="1800"/>
              <a:buChar char="▪"/>
              <a:defRPr/>
            </a:lvl3pPr>
            <a:lvl4pPr indent="-342900" lvl="3" marL="1828800" algn="l">
              <a:lnSpc>
                <a:spcPct val="100000"/>
              </a:lnSpc>
              <a:spcBef>
                <a:spcPts val="500"/>
              </a:spcBef>
              <a:spcAft>
                <a:spcPts val="0"/>
              </a:spcAft>
              <a:buClr>
                <a:schemeClr val="accent3"/>
              </a:buClr>
              <a:buSzPts val="1800"/>
              <a:buChar char="•"/>
              <a:defRPr/>
            </a:lvl4pPr>
            <a:lvl5pPr indent="-342900" lvl="4" marL="2286000" algn="l">
              <a:lnSpc>
                <a:spcPct val="10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41" name="Google Shape;41;p5"/>
          <p:cNvCxnSpPr/>
          <p:nvPr/>
        </p:nvCxnSpPr>
        <p:spPr>
          <a:xfrm>
            <a:off x="1115843" y="888611"/>
            <a:ext cx="10466559" cy="389"/>
          </a:xfrm>
          <a:prstGeom prst="straightConnector1">
            <a:avLst/>
          </a:prstGeom>
          <a:noFill/>
          <a:ln cap="flat" cmpd="sng" w="19050">
            <a:solidFill>
              <a:schemeClr val="lt1"/>
            </a:solidFill>
            <a:prstDash val="solid"/>
            <a:miter lim="800000"/>
            <a:headEnd len="sm" w="sm" type="none"/>
            <a:tailEnd len="sm" w="sm" type="none"/>
          </a:ln>
        </p:spPr>
      </p:cxnSp>
      <p:cxnSp>
        <p:nvCxnSpPr>
          <p:cNvPr id="42" name="Google Shape;42;p5"/>
          <p:cNvCxnSpPr/>
          <p:nvPr/>
        </p:nvCxnSpPr>
        <p:spPr>
          <a:xfrm>
            <a:off x="1115843" y="888611"/>
            <a:ext cx="10466559" cy="389"/>
          </a:xfrm>
          <a:prstGeom prst="straightConnector1">
            <a:avLst/>
          </a:prstGeom>
          <a:noFill/>
          <a:ln cap="flat" cmpd="sng" w="19050">
            <a:solidFill>
              <a:schemeClr val="lt1"/>
            </a:solidFill>
            <a:prstDash val="solid"/>
            <a:miter lim="800000"/>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1104901" y="76199"/>
            <a:ext cx="10509504" cy="76809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45" name="Google Shape;45;p6"/>
          <p:cNvCxnSpPr/>
          <p:nvPr/>
        </p:nvCxnSpPr>
        <p:spPr>
          <a:xfrm>
            <a:off x="1115843" y="888611"/>
            <a:ext cx="10466559" cy="389"/>
          </a:xfrm>
          <a:prstGeom prst="straightConnector1">
            <a:avLst/>
          </a:prstGeom>
          <a:noFill/>
          <a:ln cap="flat" cmpd="sng" w="19050">
            <a:solidFill>
              <a:schemeClr val="lt1"/>
            </a:solidFill>
            <a:prstDash val="solid"/>
            <a:miter lim="800000"/>
            <a:headEnd len="sm" w="sm" type="none"/>
            <a:tailEnd len="sm" w="sm" type="none"/>
          </a:ln>
        </p:spPr>
      </p:cxnSp>
      <p:cxnSp>
        <p:nvCxnSpPr>
          <p:cNvPr id="46" name="Google Shape;46;p6"/>
          <p:cNvCxnSpPr/>
          <p:nvPr/>
        </p:nvCxnSpPr>
        <p:spPr>
          <a:xfrm>
            <a:off x="1115843" y="888611"/>
            <a:ext cx="10466559" cy="389"/>
          </a:xfrm>
          <a:prstGeom prst="straightConnector1">
            <a:avLst/>
          </a:prstGeom>
          <a:noFill/>
          <a:ln cap="flat" cmpd="sng" w="19050">
            <a:solidFill>
              <a:schemeClr val="lt1"/>
            </a:solidFill>
            <a:prstDash val="solid"/>
            <a:miter lim="800000"/>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type="title">
  <p:cSld name="TITLE">
    <p:spTree>
      <p:nvGrpSpPr>
        <p:cNvPr id="47" name="Shape 47"/>
        <p:cNvGrpSpPr/>
        <p:nvPr/>
      </p:nvGrpSpPr>
      <p:grpSpPr>
        <a:xfrm>
          <a:off x="0" y="0"/>
          <a:ext cx="0" cy="0"/>
          <a:chOff x="0" y="0"/>
          <a:chExt cx="0" cy="0"/>
        </a:xfrm>
      </p:grpSpPr>
      <p:sp>
        <p:nvSpPr>
          <p:cNvPr id="48" name="Google Shape;48;p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2"/>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1000"/>
              </a:spcBef>
              <a:spcAft>
                <a:spcPts val="0"/>
              </a:spcAft>
              <a:buClr>
                <a:schemeClr val="lt1"/>
              </a:buClr>
              <a:buSzPts val="2280"/>
              <a:buNone/>
              <a:defRPr sz="2400"/>
            </a:lvl1pPr>
            <a:lvl2pPr lvl="1" algn="ctr">
              <a:lnSpc>
                <a:spcPct val="100000"/>
              </a:lnSpc>
              <a:spcBef>
                <a:spcPts val="500"/>
              </a:spcBef>
              <a:spcAft>
                <a:spcPts val="0"/>
              </a:spcAft>
              <a:buClr>
                <a:schemeClr val="accent2"/>
              </a:buClr>
              <a:buSzPts val="1800"/>
              <a:buNone/>
              <a:defRPr sz="2000"/>
            </a:lvl2pPr>
            <a:lvl3pPr lvl="2" algn="ctr">
              <a:lnSpc>
                <a:spcPct val="100000"/>
              </a:lnSpc>
              <a:spcBef>
                <a:spcPts val="500"/>
              </a:spcBef>
              <a:spcAft>
                <a:spcPts val="0"/>
              </a:spcAft>
              <a:buClr>
                <a:schemeClr val="accent1"/>
              </a:buClr>
              <a:buSzPts val="1800"/>
              <a:buNone/>
              <a:defRPr sz="1800"/>
            </a:lvl3pPr>
            <a:lvl4pPr lvl="3" algn="ctr">
              <a:lnSpc>
                <a:spcPct val="100000"/>
              </a:lnSpc>
              <a:spcBef>
                <a:spcPts val="500"/>
              </a:spcBef>
              <a:spcAft>
                <a:spcPts val="0"/>
              </a:spcAft>
              <a:buClr>
                <a:schemeClr val="accent3"/>
              </a:buClr>
              <a:buSzPts val="1600"/>
              <a:buNone/>
              <a:defRPr sz="1600"/>
            </a:lvl4pPr>
            <a:lvl5pPr lvl="4" algn="ctr">
              <a:lnSpc>
                <a:spcPct val="100000"/>
              </a:lnSpc>
              <a:spcBef>
                <a:spcPts val="500"/>
              </a:spcBef>
              <a:spcAft>
                <a:spcPts val="0"/>
              </a:spcAft>
              <a:buClr>
                <a:schemeClr val="lt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 Text">
  <p:cSld name="Center Text">
    <p:spTree>
      <p:nvGrpSpPr>
        <p:cNvPr id="51" name="Shape 51"/>
        <p:cNvGrpSpPr/>
        <p:nvPr/>
      </p:nvGrpSpPr>
      <p:grpSpPr>
        <a:xfrm>
          <a:off x="0" y="0"/>
          <a:ext cx="0" cy="0"/>
          <a:chOff x="0" y="0"/>
          <a:chExt cx="0" cy="0"/>
        </a:xfrm>
      </p:grpSpPr>
      <p:sp>
        <p:nvSpPr>
          <p:cNvPr id="52" name="Google Shape;52;p9"/>
          <p:cNvSpPr txBox="1"/>
          <p:nvPr>
            <p:ph type="title"/>
          </p:nvPr>
        </p:nvSpPr>
        <p:spPr>
          <a:xfrm>
            <a:off x="2027465" y="2306249"/>
            <a:ext cx="8137073" cy="2245505"/>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chemeClr val="accent3"/>
              </a:buClr>
              <a:buSzPts val="8533"/>
              <a:buFont typeface="Arial"/>
              <a:buNone/>
              <a:defRPr sz="8533">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center">
  <p:cSld name="Blank_center">
    <p:spTree>
      <p:nvGrpSpPr>
        <p:cNvPr id="53" name="Shape 53"/>
        <p:cNvGrpSpPr/>
        <p:nvPr/>
      </p:nvGrpSpPr>
      <p:grpSpPr>
        <a:xfrm>
          <a:off x="0" y="0"/>
          <a:ext cx="0" cy="0"/>
          <a:chOff x="0" y="0"/>
          <a:chExt cx="0" cy="0"/>
        </a:xfrm>
      </p:grpSpPr>
      <p:cxnSp>
        <p:nvCxnSpPr>
          <p:cNvPr id="54" name="Google Shape;54;p10"/>
          <p:cNvCxnSpPr/>
          <p:nvPr/>
        </p:nvCxnSpPr>
        <p:spPr>
          <a:xfrm>
            <a:off x="6096000" y="0"/>
            <a:ext cx="0" cy="6858000"/>
          </a:xfrm>
          <a:prstGeom prst="straightConnector1">
            <a:avLst/>
          </a:prstGeom>
          <a:noFill/>
          <a:ln cap="flat" cmpd="sng" w="9525">
            <a:solidFill>
              <a:schemeClr val="accent4"/>
            </a:solidFill>
            <a:prstDash val="solid"/>
            <a:miter lim="800000"/>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_center">
  <p:cSld name="One Column_center">
    <p:spTree>
      <p:nvGrpSpPr>
        <p:cNvPr id="55" name="Shape 55"/>
        <p:cNvGrpSpPr/>
        <p:nvPr/>
      </p:nvGrpSpPr>
      <p:grpSpPr>
        <a:xfrm>
          <a:off x="0" y="0"/>
          <a:ext cx="0" cy="0"/>
          <a:chOff x="0" y="0"/>
          <a:chExt cx="0" cy="0"/>
        </a:xfrm>
      </p:grpSpPr>
      <p:sp>
        <p:nvSpPr>
          <p:cNvPr id="56" name="Google Shape;56;p11"/>
          <p:cNvSpPr txBox="1"/>
          <p:nvPr>
            <p:ph type="title"/>
          </p:nvPr>
        </p:nvSpPr>
        <p:spPr>
          <a:xfrm>
            <a:off x="1104901" y="76199"/>
            <a:ext cx="10509504" cy="76809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11"/>
          <p:cNvSpPr txBox="1"/>
          <p:nvPr>
            <p:ph idx="1" type="body"/>
          </p:nvPr>
        </p:nvSpPr>
        <p:spPr>
          <a:xfrm>
            <a:off x="288413" y="916710"/>
            <a:ext cx="11332079" cy="5287965"/>
          </a:xfrm>
          <a:prstGeom prst="rect">
            <a:avLst/>
          </a:prstGeom>
          <a:noFill/>
          <a:ln>
            <a:noFill/>
          </a:ln>
        </p:spPr>
        <p:txBody>
          <a:bodyPr anchorCtr="0" anchor="t" bIns="45700" lIns="91425" spcFirstLastPara="1" rIns="91425" wrap="square" tIns="45700">
            <a:normAutofit/>
          </a:bodyPr>
          <a:lstStyle>
            <a:lvl1pPr indent="-337185" lvl="0" marL="457200" algn="l">
              <a:lnSpc>
                <a:spcPct val="100000"/>
              </a:lnSpc>
              <a:spcBef>
                <a:spcPts val="1000"/>
              </a:spcBef>
              <a:spcAft>
                <a:spcPts val="0"/>
              </a:spcAft>
              <a:buClr>
                <a:schemeClr val="lt1"/>
              </a:buClr>
              <a:buSzPts val="1710"/>
              <a:buChar char="▪"/>
              <a:defRPr/>
            </a:lvl1pPr>
            <a:lvl2pPr indent="-331469" lvl="1" marL="914400" algn="l">
              <a:lnSpc>
                <a:spcPct val="100000"/>
              </a:lnSpc>
              <a:spcBef>
                <a:spcPts val="500"/>
              </a:spcBef>
              <a:spcAft>
                <a:spcPts val="0"/>
              </a:spcAft>
              <a:buClr>
                <a:schemeClr val="accent2"/>
              </a:buClr>
              <a:buSzPts val="1620"/>
              <a:buChar char="▫"/>
              <a:defRPr/>
            </a:lvl2pPr>
            <a:lvl3pPr indent="-342900" lvl="2" marL="1371600" algn="l">
              <a:lnSpc>
                <a:spcPct val="100000"/>
              </a:lnSpc>
              <a:spcBef>
                <a:spcPts val="500"/>
              </a:spcBef>
              <a:spcAft>
                <a:spcPts val="0"/>
              </a:spcAft>
              <a:buClr>
                <a:schemeClr val="accent1"/>
              </a:buClr>
              <a:buSzPts val="1800"/>
              <a:buChar char="▪"/>
              <a:defRPr/>
            </a:lvl3pPr>
            <a:lvl4pPr indent="-342900" lvl="3" marL="1828800" algn="l">
              <a:lnSpc>
                <a:spcPct val="100000"/>
              </a:lnSpc>
              <a:spcBef>
                <a:spcPts val="500"/>
              </a:spcBef>
              <a:spcAft>
                <a:spcPts val="0"/>
              </a:spcAft>
              <a:buClr>
                <a:schemeClr val="accent3"/>
              </a:buClr>
              <a:buSzPts val="1800"/>
              <a:buChar char="•"/>
              <a:defRPr/>
            </a:lvl4pPr>
            <a:lvl5pPr indent="-342900" lvl="4" marL="2286000" algn="l">
              <a:lnSpc>
                <a:spcPct val="10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58" name="Google Shape;58;p11"/>
          <p:cNvCxnSpPr/>
          <p:nvPr/>
        </p:nvCxnSpPr>
        <p:spPr>
          <a:xfrm>
            <a:off x="1115843" y="888611"/>
            <a:ext cx="10466559" cy="389"/>
          </a:xfrm>
          <a:prstGeom prst="straightConnector1">
            <a:avLst/>
          </a:prstGeom>
          <a:noFill/>
          <a:ln cap="flat" cmpd="sng" w="19050">
            <a:solidFill>
              <a:schemeClr val="lt1"/>
            </a:solidFill>
            <a:prstDash val="solid"/>
            <a:miter lim="800000"/>
            <a:headEnd len="sm" w="sm" type="none"/>
            <a:tailEnd len="sm" w="sm" type="none"/>
          </a:ln>
        </p:spPr>
      </p:cxnSp>
      <p:cxnSp>
        <p:nvCxnSpPr>
          <p:cNvPr id="59" name="Google Shape;59;p11"/>
          <p:cNvCxnSpPr/>
          <p:nvPr/>
        </p:nvCxnSpPr>
        <p:spPr>
          <a:xfrm>
            <a:off x="1115843" y="888611"/>
            <a:ext cx="10466559" cy="389"/>
          </a:xfrm>
          <a:prstGeom prst="straightConnector1">
            <a:avLst/>
          </a:prstGeom>
          <a:noFill/>
          <a:ln cap="flat" cmpd="sng" w="19050">
            <a:solidFill>
              <a:schemeClr val="lt1"/>
            </a:solidFill>
            <a:prstDash val="solid"/>
            <a:miter lim="800000"/>
            <a:headEnd len="sm" w="sm" type="none"/>
            <a:tailEnd len="sm" w="sm" type="none"/>
          </a:ln>
        </p:spPr>
      </p:cxnSp>
      <p:cxnSp>
        <p:nvCxnSpPr>
          <p:cNvPr id="60" name="Google Shape;60;p11"/>
          <p:cNvCxnSpPr/>
          <p:nvPr/>
        </p:nvCxnSpPr>
        <p:spPr>
          <a:xfrm>
            <a:off x="6096000" y="0"/>
            <a:ext cx="0" cy="6858000"/>
          </a:xfrm>
          <a:prstGeom prst="straightConnector1">
            <a:avLst/>
          </a:prstGeom>
          <a:noFill/>
          <a:ln cap="flat" cmpd="sng" w="9525">
            <a:solidFill>
              <a:schemeClr val="accent4"/>
            </a:solidFill>
            <a:prstDash val="solid"/>
            <a:miter lim="800000"/>
            <a:headEnd len="sm" w="sm" type="none"/>
            <a:tailEnd len="sm" w="sm"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a20_center">
  <p:cSld name="Fa20_center">
    <p:spTree>
      <p:nvGrpSpPr>
        <p:cNvPr id="61" name="Shape 61"/>
        <p:cNvGrpSpPr/>
        <p:nvPr/>
      </p:nvGrpSpPr>
      <p:grpSpPr>
        <a:xfrm>
          <a:off x="0" y="0"/>
          <a:ext cx="0" cy="0"/>
          <a:chOff x="0" y="0"/>
          <a:chExt cx="0" cy="0"/>
        </a:xfrm>
      </p:grpSpPr>
      <p:sp>
        <p:nvSpPr>
          <p:cNvPr id="62" name="Google Shape;62;p12"/>
          <p:cNvSpPr txBox="1"/>
          <p:nvPr>
            <p:ph type="title"/>
          </p:nvPr>
        </p:nvSpPr>
        <p:spPr>
          <a:xfrm>
            <a:off x="1104901" y="76199"/>
            <a:ext cx="10509504" cy="76809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2"/>
          <p:cNvSpPr txBox="1"/>
          <p:nvPr>
            <p:ph idx="1" type="body"/>
          </p:nvPr>
        </p:nvSpPr>
        <p:spPr>
          <a:xfrm>
            <a:off x="3048000" y="898041"/>
            <a:ext cx="8572491" cy="5278924"/>
          </a:xfrm>
          <a:prstGeom prst="rect">
            <a:avLst/>
          </a:prstGeom>
          <a:noFill/>
          <a:ln>
            <a:noFill/>
          </a:ln>
        </p:spPr>
        <p:txBody>
          <a:bodyPr anchorCtr="0" anchor="t" bIns="45700" lIns="91425" spcFirstLastPara="1" rIns="91425" wrap="square" tIns="45700">
            <a:normAutofit/>
          </a:bodyPr>
          <a:lstStyle>
            <a:lvl1pPr indent="-337185" lvl="0" marL="457200" algn="l">
              <a:lnSpc>
                <a:spcPct val="100000"/>
              </a:lnSpc>
              <a:spcBef>
                <a:spcPts val="1000"/>
              </a:spcBef>
              <a:spcAft>
                <a:spcPts val="0"/>
              </a:spcAft>
              <a:buClr>
                <a:schemeClr val="lt1"/>
              </a:buClr>
              <a:buSzPts val="1710"/>
              <a:buChar char="▪"/>
              <a:defRPr/>
            </a:lvl1pPr>
            <a:lvl2pPr indent="-331469" lvl="1" marL="914400" algn="l">
              <a:lnSpc>
                <a:spcPct val="100000"/>
              </a:lnSpc>
              <a:spcBef>
                <a:spcPts val="500"/>
              </a:spcBef>
              <a:spcAft>
                <a:spcPts val="0"/>
              </a:spcAft>
              <a:buClr>
                <a:schemeClr val="accent2"/>
              </a:buClr>
              <a:buSzPts val="1620"/>
              <a:buChar char="▫"/>
              <a:defRPr/>
            </a:lvl2pPr>
            <a:lvl3pPr indent="-342900" lvl="2" marL="1371600" algn="l">
              <a:lnSpc>
                <a:spcPct val="100000"/>
              </a:lnSpc>
              <a:spcBef>
                <a:spcPts val="500"/>
              </a:spcBef>
              <a:spcAft>
                <a:spcPts val="0"/>
              </a:spcAft>
              <a:buClr>
                <a:schemeClr val="accent1"/>
              </a:buClr>
              <a:buSzPts val="1800"/>
              <a:buChar char="▪"/>
              <a:defRPr/>
            </a:lvl3pPr>
            <a:lvl4pPr indent="-342900" lvl="3" marL="1828800" algn="l">
              <a:lnSpc>
                <a:spcPct val="100000"/>
              </a:lnSpc>
              <a:spcBef>
                <a:spcPts val="500"/>
              </a:spcBef>
              <a:spcAft>
                <a:spcPts val="0"/>
              </a:spcAft>
              <a:buClr>
                <a:schemeClr val="accent3"/>
              </a:buClr>
              <a:buSzPts val="1800"/>
              <a:buChar char="•"/>
              <a:defRPr/>
            </a:lvl4pPr>
            <a:lvl5pPr indent="-342900" lvl="4" marL="2286000" algn="l">
              <a:lnSpc>
                <a:spcPct val="10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64" name="Google Shape;64;p12"/>
          <p:cNvCxnSpPr/>
          <p:nvPr/>
        </p:nvCxnSpPr>
        <p:spPr>
          <a:xfrm>
            <a:off x="1115843" y="888611"/>
            <a:ext cx="10466559" cy="389"/>
          </a:xfrm>
          <a:prstGeom prst="straightConnector1">
            <a:avLst/>
          </a:prstGeom>
          <a:noFill/>
          <a:ln cap="flat" cmpd="sng" w="19050">
            <a:solidFill>
              <a:schemeClr val="lt1"/>
            </a:solidFill>
            <a:prstDash val="solid"/>
            <a:miter lim="800000"/>
            <a:headEnd len="sm" w="sm" type="none"/>
            <a:tailEnd len="sm" w="sm" type="none"/>
          </a:ln>
        </p:spPr>
      </p:cxnSp>
      <p:cxnSp>
        <p:nvCxnSpPr>
          <p:cNvPr id="65" name="Google Shape;65;p12"/>
          <p:cNvCxnSpPr/>
          <p:nvPr/>
        </p:nvCxnSpPr>
        <p:spPr>
          <a:xfrm>
            <a:off x="1115843" y="888611"/>
            <a:ext cx="10466559" cy="389"/>
          </a:xfrm>
          <a:prstGeom prst="straightConnector1">
            <a:avLst/>
          </a:prstGeom>
          <a:noFill/>
          <a:ln cap="flat" cmpd="sng" w="19050">
            <a:solidFill>
              <a:schemeClr val="lt1"/>
            </a:solidFill>
            <a:prstDash val="solid"/>
            <a:miter lim="800000"/>
            <a:headEnd len="sm" w="sm" type="none"/>
            <a:tailEnd len="sm" w="sm" type="none"/>
          </a:ln>
        </p:spPr>
      </p:cxnSp>
      <p:cxnSp>
        <p:nvCxnSpPr>
          <p:cNvPr id="66" name="Google Shape;66;p12"/>
          <p:cNvCxnSpPr/>
          <p:nvPr/>
        </p:nvCxnSpPr>
        <p:spPr>
          <a:xfrm>
            <a:off x="3048000" y="0"/>
            <a:ext cx="0" cy="6858000"/>
          </a:xfrm>
          <a:prstGeom prst="straightConnector1">
            <a:avLst/>
          </a:prstGeom>
          <a:noFill/>
          <a:ln cap="flat" cmpd="sng" w="9525">
            <a:solidFill>
              <a:srgbClr val="FF0000"/>
            </a:solidFill>
            <a:prstDash val="solid"/>
            <a:miter lim="800000"/>
            <a:headEnd len="sm" w="sm" type="none"/>
            <a:tailEnd len="sm" w="sm" type="none"/>
          </a:ln>
        </p:spPr>
      </p:cxnSp>
      <p:cxnSp>
        <p:nvCxnSpPr>
          <p:cNvPr id="67" name="Google Shape;67;p12"/>
          <p:cNvCxnSpPr/>
          <p:nvPr/>
        </p:nvCxnSpPr>
        <p:spPr>
          <a:xfrm>
            <a:off x="7620000" y="0"/>
            <a:ext cx="0" cy="6858000"/>
          </a:xfrm>
          <a:prstGeom prst="straightConnector1">
            <a:avLst/>
          </a:prstGeom>
          <a:noFill/>
          <a:ln cap="flat" cmpd="sng" w="9525">
            <a:solidFill>
              <a:schemeClr val="accent4"/>
            </a:solidFill>
            <a:prstDash val="solid"/>
            <a:miter lim="800000"/>
            <a:headEnd len="sm" w="sm" type="none"/>
            <a:tailEnd len="sm" w="sm"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Fa20_center">
  <p:cSld name="1_Fa20_center">
    <p:spTree>
      <p:nvGrpSpPr>
        <p:cNvPr id="68" name="Shape 68"/>
        <p:cNvGrpSpPr/>
        <p:nvPr/>
      </p:nvGrpSpPr>
      <p:grpSpPr>
        <a:xfrm>
          <a:off x="0" y="0"/>
          <a:ext cx="0" cy="0"/>
          <a:chOff x="0" y="0"/>
          <a:chExt cx="0" cy="0"/>
        </a:xfrm>
      </p:grpSpPr>
      <p:sp>
        <p:nvSpPr>
          <p:cNvPr id="69" name="Google Shape;69;p13"/>
          <p:cNvSpPr txBox="1"/>
          <p:nvPr>
            <p:ph type="title"/>
          </p:nvPr>
        </p:nvSpPr>
        <p:spPr>
          <a:xfrm>
            <a:off x="1104901" y="76199"/>
            <a:ext cx="10509504" cy="76809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3"/>
          <p:cNvSpPr txBox="1"/>
          <p:nvPr>
            <p:ph idx="1" type="body"/>
          </p:nvPr>
        </p:nvSpPr>
        <p:spPr>
          <a:xfrm>
            <a:off x="3048000" y="898041"/>
            <a:ext cx="8572491" cy="5278924"/>
          </a:xfrm>
          <a:prstGeom prst="rect">
            <a:avLst/>
          </a:prstGeom>
          <a:noFill/>
          <a:ln>
            <a:noFill/>
          </a:ln>
        </p:spPr>
        <p:txBody>
          <a:bodyPr anchorCtr="0" anchor="t" bIns="45700" lIns="91425" spcFirstLastPara="1" rIns="91425" wrap="square" tIns="45700">
            <a:normAutofit/>
          </a:bodyPr>
          <a:lstStyle>
            <a:lvl1pPr indent="-337185" lvl="0" marL="457200" algn="l">
              <a:lnSpc>
                <a:spcPct val="100000"/>
              </a:lnSpc>
              <a:spcBef>
                <a:spcPts val="1000"/>
              </a:spcBef>
              <a:spcAft>
                <a:spcPts val="0"/>
              </a:spcAft>
              <a:buClr>
                <a:schemeClr val="lt1"/>
              </a:buClr>
              <a:buSzPts val="1710"/>
              <a:buChar char="▪"/>
              <a:defRPr/>
            </a:lvl1pPr>
            <a:lvl2pPr indent="-331469" lvl="1" marL="914400" algn="l">
              <a:lnSpc>
                <a:spcPct val="100000"/>
              </a:lnSpc>
              <a:spcBef>
                <a:spcPts val="500"/>
              </a:spcBef>
              <a:spcAft>
                <a:spcPts val="0"/>
              </a:spcAft>
              <a:buClr>
                <a:schemeClr val="accent2"/>
              </a:buClr>
              <a:buSzPts val="1620"/>
              <a:buChar char="▫"/>
              <a:defRPr/>
            </a:lvl2pPr>
            <a:lvl3pPr indent="-342900" lvl="2" marL="1371600" algn="l">
              <a:lnSpc>
                <a:spcPct val="100000"/>
              </a:lnSpc>
              <a:spcBef>
                <a:spcPts val="500"/>
              </a:spcBef>
              <a:spcAft>
                <a:spcPts val="0"/>
              </a:spcAft>
              <a:buClr>
                <a:schemeClr val="accent1"/>
              </a:buClr>
              <a:buSzPts val="1800"/>
              <a:buChar char="▪"/>
              <a:defRPr/>
            </a:lvl3pPr>
            <a:lvl4pPr indent="-342900" lvl="3" marL="1828800" algn="l">
              <a:lnSpc>
                <a:spcPct val="100000"/>
              </a:lnSpc>
              <a:spcBef>
                <a:spcPts val="500"/>
              </a:spcBef>
              <a:spcAft>
                <a:spcPts val="0"/>
              </a:spcAft>
              <a:buClr>
                <a:schemeClr val="accent3"/>
              </a:buClr>
              <a:buSzPts val="1800"/>
              <a:buChar char="•"/>
              <a:defRPr/>
            </a:lvl4pPr>
            <a:lvl5pPr indent="-342900" lvl="4" marL="2286000" algn="l">
              <a:lnSpc>
                <a:spcPct val="100000"/>
              </a:lnSpc>
              <a:spcBef>
                <a:spcPts val="500"/>
              </a:spcBef>
              <a:spcAft>
                <a:spcPts val="0"/>
              </a:spcAft>
              <a:buClr>
                <a:schemeClr val="lt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71" name="Google Shape;71;p13"/>
          <p:cNvCxnSpPr/>
          <p:nvPr/>
        </p:nvCxnSpPr>
        <p:spPr>
          <a:xfrm>
            <a:off x="1115843" y="888611"/>
            <a:ext cx="10466559" cy="389"/>
          </a:xfrm>
          <a:prstGeom prst="straightConnector1">
            <a:avLst/>
          </a:prstGeom>
          <a:noFill/>
          <a:ln cap="flat" cmpd="sng" w="19050">
            <a:solidFill>
              <a:schemeClr val="lt1"/>
            </a:solidFill>
            <a:prstDash val="solid"/>
            <a:miter lim="800000"/>
            <a:headEnd len="sm" w="sm" type="none"/>
            <a:tailEnd len="sm" w="sm" type="none"/>
          </a:ln>
        </p:spPr>
      </p:cxnSp>
      <p:cxnSp>
        <p:nvCxnSpPr>
          <p:cNvPr id="72" name="Google Shape;72;p13"/>
          <p:cNvCxnSpPr/>
          <p:nvPr/>
        </p:nvCxnSpPr>
        <p:spPr>
          <a:xfrm>
            <a:off x="1115843" y="888611"/>
            <a:ext cx="10466559" cy="389"/>
          </a:xfrm>
          <a:prstGeom prst="straightConnector1">
            <a:avLst/>
          </a:prstGeom>
          <a:noFill/>
          <a:ln cap="flat" cmpd="sng" w="19050">
            <a:solidFill>
              <a:schemeClr val="lt1"/>
            </a:solidFill>
            <a:prstDash val="solid"/>
            <a:miter lim="800000"/>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8.xml"/><Relationship Id="rId10" Type="http://schemas.openxmlformats.org/officeDocument/2006/relationships/slideLayout" Target="../slideLayouts/slideLayout7.xml"/><Relationship Id="rId13" Type="http://schemas.openxmlformats.org/officeDocument/2006/relationships/slideLayout" Target="../slideLayouts/slideLayout10.xml"/><Relationship Id="rId12" Type="http://schemas.openxmlformats.org/officeDocument/2006/relationships/slideLayout" Target="../slideLayouts/slideLayout9.xml"/><Relationship Id="rId1" Type="http://schemas.openxmlformats.org/officeDocument/2006/relationships/image" Target="../media/image1.png"/><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slideLayout" Target="../slideLayouts/slideLayout1.xml"/><Relationship Id="rId9" Type="http://schemas.openxmlformats.org/officeDocument/2006/relationships/slideLayout" Target="../slideLayouts/slideLayout6.xml"/><Relationship Id="rId15" Type="http://schemas.openxmlformats.org/officeDocument/2006/relationships/slideLayout" Target="../slideLayouts/slideLayout12.xml"/><Relationship Id="rId14" Type="http://schemas.openxmlformats.org/officeDocument/2006/relationships/slideLayout" Target="../slideLayouts/slideLayout11.xml"/><Relationship Id="rId16" Type="http://schemas.openxmlformats.org/officeDocument/2006/relationships/theme" Target="../theme/theme2.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1"/>
            </a:gs>
            <a:gs pos="50000">
              <a:schemeClr val="dk1"/>
            </a:gs>
            <a:gs pos="100000">
              <a:srgbClr val="003262"/>
            </a:gs>
          </a:gsLst>
          <a:lin ang="5400000" scaled="0"/>
        </a:gra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1110997" y="76200"/>
            <a:ext cx="10509504" cy="768096"/>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lt2"/>
              </a:buClr>
              <a:buSzPts val="4267"/>
              <a:buFont typeface="Arial"/>
              <a:buNone/>
              <a:defRPr b="1" i="0" sz="4267" u="none" cap="none" strike="noStrike">
                <a:solidFill>
                  <a:schemeClr val="lt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288413" y="916710"/>
            <a:ext cx="11332079" cy="5287965"/>
          </a:xfrm>
          <a:prstGeom prst="rect">
            <a:avLst/>
          </a:prstGeom>
          <a:noFill/>
          <a:ln>
            <a:noFill/>
          </a:ln>
        </p:spPr>
        <p:txBody>
          <a:bodyPr anchorCtr="0" anchor="t" bIns="45700" lIns="91425" spcFirstLastPara="1" rIns="91425" wrap="square" tIns="45700">
            <a:normAutofit/>
          </a:bodyPr>
          <a:lstStyle>
            <a:lvl1pPr indent="-445769" lvl="0" marL="457200" marR="0" rtl="0" algn="l">
              <a:lnSpc>
                <a:spcPct val="100000"/>
              </a:lnSpc>
              <a:spcBef>
                <a:spcPts val="1000"/>
              </a:spcBef>
              <a:spcAft>
                <a:spcPts val="0"/>
              </a:spcAft>
              <a:buClr>
                <a:schemeClr val="lt1"/>
              </a:buClr>
              <a:buSzPts val="3420"/>
              <a:buFont typeface="Noto Sans Symbols"/>
              <a:buChar char="▪"/>
              <a:defRPr b="1" i="0" sz="3600" u="none" cap="none" strike="noStrike">
                <a:solidFill>
                  <a:schemeClr val="lt1"/>
                </a:solidFill>
                <a:latin typeface="Arial"/>
                <a:ea typeface="Arial"/>
                <a:cs typeface="Arial"/>
                <a:sym typeface="Arial"/>
              </a:defRPr>
            </a:lvl1pPr>
            <a:lvl2pPr indent="-411480" lvl="1" marL="914400" marR="0" rtl="0" algn="l">
              <a:lnSpc>
                <a:spcPct val="100000"/>
              </a:lnSpc>
              <a:spcBef>
                <a:spcPts val="500"/>
              </a:spcBef>
              <a:spcAft>
                <a:spcPts val="0"/>
              </a:spcAft>
              <a:buClr>
                <a:schemeClr val="accent2"/>
              </a:buClr>
              <a:buSzPts val="2880"/>
              <a:buFont typeface="Inter"/>
              <a:buChar char="▫"/>
              <a:defRPr b="0" i="0" sz="3200" u="none" cap="none" strike="noStrike">
                <a:solidFill>
                  <a:schemeClr val="accent2"/>
                </a:solidFill>
                <a:latin typeface="Arial"/>
                <a:ea typeface="Arial"/>
                <a:cs typeface="Arial"/>
                <a:sym typeface="Arial"/>
              </a:defRPr>
            </a:lvl2pPr>
            <a:lvl3pPr indent="-406400" lvl="2" marL="1371600" marR="0" rtl="0" algn="l">
              <a:lnSpc>
                <a:spcPct val="100000"/>
              </a:lnSpc>
              <a:spcBef>
                <a:spcPts val="500"/>
              </a:spcBef>
              <a:spcAft>
                <a:spcPts val="0"/>
              </a:spcAft>
              <a:buClr>
                <a:schemeClr val="accent1"/>
              </a:buClr>
              <a:buSzPts val="2800"/>
              <a:buFont typeface="Inter"/>
              <a:buChar char="▪"/>
              <a:defRPr b="0" i="0" sz="2800" u="none" cap="none" strike="noStrike">
                <a:solidFill>
                  <a:schemeClr val="accent1"/>
                </a:solidFill>
                <a:latin typeface="Arial"/>
                <a:ea typeface="Arial"/>
                <a:cs typeface="Arial"/>
                <a:sym typeface="Arial"/>
              </a:defRPr>
            </a:lvl3pPr>
            <a:lvl4pPr indent="-381000" lvl="3" marL="1828800" marR="0" rtl="0" algn="l">
              <a:lnSpc>
                <a:spcPct val="100000"/>
              </a:lnSpc>
              <a:spcBef>
                <a:spcPts val="500"/>
              </a:spcBef>
              <a:spcAft>
                <a:spcPts val="0"/>
              </a:spcAft>
              <a:buClr>
                <a:schemeClr val="accent3"/>
              </a:buClr>
              <a:buSzPts val="2400"/>
              <a:buFont typeface="Arial"/>
              <a:buChar char="•"/>
              <a:defRPr b="0" i="0" sz="2400" u="none" cap="none" strike="noStrike">
                <a:solidFill>
                  <a:schemeClr val="accent3"/>
                </a:solidFill>
                <a:latin typeface="Arial"/>
                <a:ea typeface="Arial"/>
                <a:cs typeface="Arial"/>
                <a:sym typeface="Arial"/>
              </a:defRPr>
            </a:lvl4pPr>
            <a:lvl5pPr indent="-355600" lvl="4" marL="2286000" marR="0" rtl="0" algn="l">
              <a:lnSpc>
                <a:spcPct val="100000"/>
              </a:lnSpc>
              <a:spcBef>
                <a:spcPts val="500"/>
              </a:spcBef>
              <a:spcAft>
                <a:spcPts val="0"/>
              </a:spcAft>
              <a:buClr>
                <a:schemeClr val="lt2"/>
              </a:buClr>
              <a:buSzPts val="2000"/>
              <a:buFont typeface="Arial"/>
              <a:buChar char="•"/>
              <a:defRPr b="0" i="0" sz="2000" u="none" cap="none" strike="noStrike">
                <a:solidFill>
                  <a:schemeClr val="lt2"/>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2" name="Google Shape;12;p1"/>
          <p:cNvPicPr preferRelativeResize="0"/>
          <p:nvPr/>
        </p:nvPicPr>
        <p:blipFill rotWithShape="1">
          <a:blip r:embed="rId1">
            <a:alphaModFix/>
          </a:blip>
          <a:srcRect b="0" l="0" r="0" t="0"/>
          <a:stretch/>
        </p:blipFill>
        <p:spPr>
          <a:xfrm>
            <a:off x="109176" y="6362905"/>
            <a:ext cx="1264675" cy="389467"/>
          </a:xfrm>
          <a:prstGeom prst="rect">
            <a:avLst/>
          </a:prstGeom>
          <a:noFill/>
          <a:ln>
            <a:noFill/>
          </a:ln>
        </p:spPr>
      </p:pic>
      <p:sp>
        <p:nvSpPr>
          <p:cNvPr id="13" name="Google Shape;13;p1"/>
          <p:cNvSpPr/>
          <p:nvPr/>
        </p:nvSpPr>
        <p:spPr>
          <a:xfrm>
            <a:off x="10871201" y="6248400"/>
            <a:ext cx="1320801" cy="240666"/>
          </a:xfrm>
          <a:prstGeom prst="rect">
            <a:avLst/>
          </a:prstGeom>
          <a:noFill/>
          <a:ln>
            <a:noFill/>
          </a:ln>
        </p:spPr>
        <p:txBody>
          <a:bodyPr anchorCtr="0" anchor="t" bIns="30225" lIns="75575" spcFirstLastPara="1" rIns="75575" wrap="square" tIns="30225">
            <a:noAutofit/>
          </a:bodyPr>
          <a:lstStyle/>
          <a:p>
            <a:pPr indent="0" lvl="0" marL="0" marR="0" rtl="0" algn="r">
              <a:spcBef>
                <a:spcPts val="0"/>
              </a:spcBef>
              <a:spcAft>
                <a:spcPts val="0"/>
              </a:spcAft>
              <a:buNone/>
            </a:pPr>
            <a:r>
              <a:rPr b="0" i="0" lang="en-US" sz="1167" u="none" cap="none" strike="noStrike">
                <a:solidFill>
                  <a:schemeClr val="lt1"/>
                </a:solidFill>
                <a:latin typeface="Arial"/>
                <a:ea typeface="Arial"/>
                <a:cs typeface="Arial"/>
                <a:sym typeface="Arial"/>
              </a:rPr>
              <a:t>Garcia, Kao</a:t>
            </a:r>
            <a:endParaRPr/>
          </a:p>
        </p:txBody>
      </p:sp>
      <p:pic>
        <p:nvPicPr>
          <p:cNvPr id="14" name="Google Shape;14;p1"/>
          <p:cNvPicPr preferRelativeResize="0"/>
          <p:nvPr/>
        </p:nvPicPr>
        <p:blipFill rotWithShape="1">
          <a:blip r:embed="rId2">
            <a:alphaModFix/>
          </a:blip>
          <a:srcRect b="0" l="0" r="0" t="0"/>
          <a:stretch/>
        </p:blipFill>
        <p:spPr>
          <a:xfrm>
            <a:off x="11112283" y="6480099"/>
            <a:ext cx="1079717" cy="377901"/>
          </a:xfrm>
          <a:prstGeom prst="rect">
            <a:avLst/>
          </a:prstGeom>
          <a:noFill/>
          <a:ln>
            <a:noFill/>
          </a:ln>
        </p:spPr>
      </p:pic>
      <p:pic>
        <p:nvPicPr>
          <p:cNvPr id="15" name="Google Shape;15;p1"/>
          <p:cNvPicPr preferRelativeResize="0"/>
          <p:nvPr/>
        </p:nvPicPr>
        <p:blipFill rotWithShape="1">
          <a:blip r:embed="rId3">
            <a:alphaModFix/>
          </a:blip>
          <a:srcRect b="0" l="0" r="0" t="0"/>
          <a:stretch/>
        </p:blipFill>
        <p:spPr>
          <a:xfrm>
            <a:off x="101600" y="76200"/>
            <a:ext cx="812800" cy="812800"/>
          </a:xfrm>
          <a:prstGeom prst="rect">
            <a:avLst/>
          </a:prstGeom>
          <a:noFill/>
          <a:ln>
            <a:noFill/>
          </a:ln>
        </p:spPr>
      </p:pic>
      <p:sp>
        <p:nvSpPr>
          <p:cNvPr id="16" name="Google Shape;16;p1"/>
          <p:cNvSpPr txBox="1"/>
          <p:nvPr/>
        </p:nvSpPr>
        <p:spPr>
          <a:xfrm>
            <a:off x="2243221" y="6512634"/>
            <a:ext cx="7705556" cy="291889"/>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507" u="none" cap="none" strike="noStrike">
                <a:solidFill>
                  <a:schemeClr val="accent3"/>
                </a:solidFill>
                <a:latin typeface="Arial"/>
                <a:ea typeface="Arial"/>
                <a:cs typeface="Arial"/>
                <a:sym typeface="Arial"/>
              </a:rPr>
              <a:t>07 Intro to RISC-V </a:t>
            </a:r>
            <a:r>
              <a:rPr b="1" i="0" lang="en-US" sz="1507" u="none" cap="none" strike="noStrike">
                <a:solidFill>
                  <a:schemeClr val="lt1"/>
                </a:solidFill>
                <a:latin typeface="Arial"/>
                <a:ea typeface="Arial"/>
                <a:cs typeface="Arial"/>
                <a:sym typeface="Arial"/>
              </a:rPr>
              <a:t>(</a:t>
            </a:r>
            <a:fld id="{00000000-1234-1234-1234-123412341234}" type="slidenum">
              <a:rPr b="1" i="0" lang="en-US" sz="1507" u="none" cap="none" strike="noStrike">
                <a:solidFill>
                  <a:schemeClr val="lt1"/>
                </a:solidFill>
                <a:latin typeface="Arial"/>
                <a:ea typeface="Arial"/>
                <a:cs typeface="Arial"/>
                <a:sym typeface="Arial"/>
              </a:rPr>
              <a:t>‹#›</a:t>
            </a:fld>
            <a:r>
              <a:rPr b="1" i="0" lang="en-US" sz="1507" u="none" cap="none" strike="noStrike">
                <a:solidFill>
                  <a:schemeClr val="lt1"/>
                </a:solidFill>
                <a:latin typeface="Arial"/>
                <a:ea typeface="Arial"/>
                <a:cs typeface="Arial"/>
                <a:sym typeface="Arial"/>
              </a:rPr>
              <a:t>)</a:t>
            </a:r>
            <a:endParaRPr/>
          </a:p>
        </p:txBody>
      </p:sp>
    </p:spTree>
  </p:cSld>
  <p:clrMap accent1="accent1" accent2="accent2" accent3="accent3" accent4="accent4" accent5="accent5" accent6="accent6" bg1="lt1" bg2="dk2" tx1="dk1" tx2="lt2" folHlink="folHlink" hlink="hlink"/>
  <p:sldLayoutIdLst>
    <p:sldLayoutId id="2147483648" r:id="rId4"/>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jpg"/><Relationship Id="rId4" Type="http://schemas.openxmlformats.org/officeDocument/2006/relationships/hyperlink" Target="https://engineering.berkeley.edu/news/2018/06/patterson-wins-turing-award/"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hyperlink" Target="https://cs61c.org/" TargetMode="External"/><Relationship Id="rId5" Type="http://schemas.openxmlformats.org/officeDocument/2006/relationships/image" Target="../media/image2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www.risc-v.org/" TargetMode="External"/><Relationship Id="rId4" Type="http://schemas.openxmlformats.org/officeDocument/2006/relationships/hyperlink" Target="https://riscv.org/risc-v-history/" TargetMode="External"/><Relationship Id="rId5" Type="http://schemas.openxmlformats.org/officeDocument/2006/relationships/hyperlink" Target="https://riscv.org/risc-v-genealogy/" TargetMode="External"/><Relationship Id="rId6" Type="http://schemas.openxmlformats.org/officeDocument/2006/relationships/image" Target="../media/image21.jpg"/><Relationship Id="rId7" Type="http://schemas.openxmlformats.org/officeDocument/2006/relationships/image" Target="../media/image6.jpg"/><Relationship Id="rId8"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3.jpg"/><Relationship Id="rId4" Type="http://schemas.openxmlformats.org/officeDocument/2006/relationships/image" Target="../media/image17.jpg"/><Relationship Id="rId5" Type="http://schemas.openxmlformats.org/officeDocument/2006/relationships/image" Target="../media/image18.jpg"/><Relationship Id="rId6" Type="http://schemas.openxmlformats.org/officeDocument/2006/relationships/image" Target="../media/image11.jpg"/><Relationship Id="rId7"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4"/>
          <p:cNvSpPr txBox="1"/>
          <p:nvPr>
            <p:ph type="title"/>
          </p:nvPr>
        </p:nvSpPr>
        <p:spPr>
          <a:xfrm>
            <a:off x="2201021" y="4561558"/>
            <a:ext cx="7789961" cy="76199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3"/>
              </a:buClr>
              <a:buSzPts val="4200"/>
              <a:buFont typeface="Arial"/>
              <a:buNone/>
            </a:pPr>
            <a:r>
              <a:rPr lang="en-US"/>
              <a:t>Intro to RISC-V</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txBox="1"/>
          <p:nvPr>
            <p:ph idx="1" type="body"/>
          </p:nvPr>
        </p:nvSpPr>
        <p:spPr>
          <a:xfrm>
            <a:off x="5842475" y="909321"/>
            <a:ext cx="5998909" cy="5364480"/>
          </a:xfrm>
          <a:prstGeom prst="rect">
            <a:avLst/>
          </a:prstGeom>
          <a:noFill/>
          <a:ln>
            <a:noFill/>
          </a:ln>
        </p:spPr>
        <p:txBody>
          <a:bodyPr anchorCtr="0" anchor="ctr" bIns="45700" lIns="91425" spcFirstLastPara="1" rIns="91425" wrap="square" tIns="45700">
            <a:normAutofit/>
          </a:bodyPr>
          <a:lstStyle/>
          <a:p>
            <a:pPr indent="-531270" lvl="0" marL="609585" rtl="0" algn="l">
              <a:lnSpc>
                <a:spcPct val="100000"/>
              </a:lnSpc>
              <a:spcBef>
                <a:spcPts val="0"/>
              </a:spcBef>
              <a:spcAft>
                <a:spcPts val="0"/>
              </a:spcAft>
              <a:buClr>
                <a:schemeClr val="lt1"/>
              </a:buClr>
              <a:buSzPts val="3420"/>
              <a:buFont typeface="Arial"/>
              <a:buChar char="•"/>
            </a:pPr>
            <a:r>
              <a:rPr lang="en-US"/>
              <a:t>The RISC-V Instruction Set Architecture</a:t>
            </a:r>
            <a:endParaRPr/>
          </a:p>
          <a:p>
            <a:pPr indent="-531270" lvl="0" marL="609585" rtl="0" algn="l">
              <a:lnSpc>
                <a:spcPct val="100000"/>
              </a:lnSpc>
              <a:spcBef>
                <a:spcPts val="1000"/>
              </a:spcBef>
              <a:spcAft>
                <a:spcPts val="0"/>
              </a:spcAft>
              <a:buClr>
                <a:srgbClr val="7F7F7F"/>
              </a:buClr>
              <a:buSzPts val="3420"/>
              <a:buFont typeface="Arial"/>
              <a:buChar char="•"/>
            </a:pPr>
            <a:r>
              <a:rPr lang="en-US">
                <a:solidFill>
                  <a:srgbClr val="7F7F7F"/>
                </a:solidFill>
              </a:rPr>
              <a:t>Elements of Architecture: Registers</a:t>
            </a:r>
            <a:endParaRPr/>
          </a:p>
          <a:p>
            <a:pPr indent="-531270" lvl="0" marL="609585" rtl="0" algn="l">
              <a:lnSpc>
                <a:spcPct val="100000"/>
              </a:lnSpc>
              <a:spcBef>
                <a:spcPts val="1000"/>
              </a:spcBef>
              <a:spcAft>
                <a:spcPts val="0"/>
              </a:spcAft>
              <a:buClr>
                <a:srgbClr val="7F7F7F"/>
              </a:buClr>
              <a:buSzPts val="3420"/>
              <a:buFont typeface="Arial"/>
              <a:buChar char="•"/>
            </a:pPr>
            <a:r>
              <a:rPr lang="en-US">
                <a:solidFill>
                  <a:srgbClr val="7F7F7F"/>
                </a:solidFill>
              </a:rPr>
              <a:t>Add/Sub Instructions</a:t>
            </a:r>
            <a:endParaRPr/>
          </a:p>
          <a:p>
            <a:pPr indent="-531270" lvl="0" marL="609585" rtl="0" algn="l">
              <a:lnSpc>
                <a:spcPct val="100000"/>
              </a:lnSpc>
              <a:spcBef>
                <a:spcPts val="1000"/>
              </a:spcBef>
              <a:spcAft>
                <a:spcPts val="0"/>
              </a:spcAft>
              <a:buClr>
                <a:srgbClr val="7F7F7F"/>
              </a:buClr>
              <a:buSzPts val="3420"/>
              <a:buFont typeface="Arial"/>
              <a:buChar char="•"/>
            </a:pPr>
            <a:r>
              <a:rPr lang="en-US">
                <a:solidFill>
                  <a:srgbClr val="7F7F7F"/>
                </a:solidFill>
              </a:rPr>
              <a:t>Immediates</a:t>
            </a:r>
            <a:endParaRPr>
              <a:solidFill>
                <a:srgbClr val="7F7F7F"/>
              </a:solidFill>
            </a:endParaRPr>
          </a:p>
        </p:txBody>
      </p:sp>
      <p:sp>
        <p:nvSpPr>
          <p:cNvPr id="85" name="Google Shape;85;p15"/>
          <p:cNvSpPr txBox="1"/>
          <p:nvPr>
            <p:ph type="title"/>
          </p:nvPr>
        </p:nvSpPr>
        <p:spPr>
          <a:xfrm>
            <a:off x="330437" y="886850"/>
            <a:ext cx="5181600" cy="5365751"/>
          </a:xfrm>
          <a:prstGeom prst="rect">
            <a:avLst/>
          </a:prstGeom>
          <a:noFill/>
          <a:ln>
            <a:noFill/>
          </a:ln>
        </p:spPr>
        <p:txBody>
          <a:bodyPr anchorCtr="0" anchor="ctr" bIns="45700" lIns="91425" spcFirstLastPara="1" rIns="91425" wrap="square" tIns="45700">
            <a:normAutofit/>
          </a:bodyPr>
          <a:lstStyle/>
          <a:p>
            <a:pPr indent="0" lvl="0" marL="78315" rtl="0" algn="l">
              <a:lnSpc>
                <a:spcPct val="90000"/>
              </a:lnSpc>
              <a:spcBef>
                <a:spcPts val="0"/>
              </a:spcBef>
              <a:spcAft>
                <a:spcPts val="0"/>
              </a:spcAft>
              <a:buClr>
                <a:schemeClr val="accent3"/>
              </a:buClr>
              <a:buSzPts val="5800"/>
              <a:buFont typeface="Arial"/>
              <a:buNone/>
            </a:pPr>
            <a:r>
              <a:rPr lang="en-US"/>
              <a:t>The RISC-V Instruction Set Architecture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6"/>
          <p:cNvSpPr txBox="1"/>
          <p:nvPr>
            <p:ph type="title"/>
          </p:nvPr>
        </p:nvSpPr>
        <p:spPr>
          <a:xfrm>
            <a:off x="1104901" y="76199"/>
            <a:ext cx="10509504" cy="768096"/>
          </a:xfrm>
          <a:prstGeom prst="rect">
            <a:avLst/>
          </a:prstGeom>
          <a:noFill/>
          <a:ln>
            <a:noFill/>
          </a:ln>
        </p:spPr>
        <p:txBody>
          <a:bodyPr anchorCtr="0" anchor="t" bIns="87050" lIns="174125" spcFirstLastPara="1" rIns="174125" wrap="square" tIns="87050">
            <a:noAutofit/>
          </a:bodyPr>
          <a:lstStyle/>
          <a:p>
            <a:pPr indent="0" lvl="0" marL="0" rtl="0" algn="l">
              <a:lnSpc>
                <a:spcPct val="80000"/>
              </a:lnSpc>
              <a:spcBef>
                <a:spcPts val="0"/>
              </a:spcBef>
              <a:spcAft>
                <a:spcPts val="0"/>
              </a:spcAft>
              <a:buClr>
                <a:schemeClr val="lt2"/>
              </a:buClr>
              <a:buSzPts val="3151"/>
              <a:buFont typeface="Arial"/>
              <a:buNone/>
            </a:pPr>
            <a:r>
              <a:rPr lang="en-US" sz="3151"/>
              <a:t>Great Idea #1: Abstraction</a:t>
            </a:r>
            <a:br>
              <a:rPr lang="en-US" sz="3151"/>
            </a:br>
            <a:r>
              <a:rPr lang="en-US" sz="3151"/>
              <a:t>(Levels of Representation/Interpretation)</a:t>
            </a:r>
            <a:endParaRPr/>
          </a:p>
        </p:txBody>
      </p:sp>
      <p:sp>
        <p:nvSpPr>
          <p:cNvPr id="91" name="Google Shape;91;p16"/>
          <p:cNvSpPr txBox="1"/>
          <p:nvPr>
            <p:ph idx="1" type="body"/>
          </p:nvPr>
        </p:nvSpPr>
        <p:spPr>
          <a:xfrm>
            <a:off x="6919364" y="2031573"/>
            <a:ext cx="2250755" cy="842591"/>
          </a:xfrm>
          <a:prstGeom prst="rect">
            <a:avLst/>
          </a:prstGeom>
          <a:noFill/>
          <a:ln>
            <a:noFill/>
          </a:ln>
        </p:spPr>
        <p:txBody>
          <a:bodyPr anchorCtr="0" anchor="t" bIns="28550" lIns="28550" spcFirstLastPara="1" rIns="28550" wrap="square" tIns="28550">
            <a:noAutofit/>
          </a:bodyPr>
          <a:lstStyle/>
          <a:p>
            <a:pPr indent="0" lvl="0" marL="0" rtl="0" algn="l">
              <a:lnSpc>
                <a:spcPct val="72000"/>
              </a:lnSpc>
              <a:spcBef>
                <a:spcPts val="0"/>
              </a:spcBef>
              <a:spcAft>
                <a:spcPts val="0"/>
              </a:spcAft>
              <a:buClr>
                <a:schemeClr val="lt1"/>
              </a:buClr>
              <a:buSzPts val="1140"/>
              <a:buNone/>
            </a:pPr>
            <a:r>
              <a:rPr lang="en-US" sz="1600">
                <a:latin typeface="Courier"/>
                <a:ea typeface="Courier"/>
                <a:cs typeface="Courier"/>
                <a:sym typeface="Courier"/>
              </a:rPr>
              <a:t>lw    x3, 0(x10)</a:t>
            </a:r>
            <a:endParaRPr sz="3200">
              <a:latin typeface="Courier"/>
              <a:ea typeface="Courier"/>
              <a:cs typeface="Courier"/>
              <a:sym typeface="Courier"/>
            </a:endParaRPr>
          </a:p>
          <a:p>
            <a:pPr indent="0" lvl="0" marL="0" rtl="0" algn="l">
              <a:lnSpc>
                <a:spcPct val="72000"/>
              </a:lnSpc>
              <a:spcBef>
                <a:spcPts val="0"/>
              </a:spcBef>
              <a:spcAft>
                <a:spcPts val="0"/>
              </a:spcAft>
              <a:buClr>
                <a:schemeClr val="lt1"/>
              </a:buClr>
              <a:buSzPts val="1140"/>
              <a:buNone/>
            </a:pPr>
            <a:r>
              <a:rPr lang="en-US" sz="1600">
                <a:latin typeface="Courier"/>
                <a:ea typeface="Courier"/>
                <a:cs typeface="Courier"/>
                <a:sym typeface="Courier"/>
              </a:rPr>
              <a:t>lw    x4, 4(x10)</a:t>
            </a:r>
            <a:endParaRPr sz="3200">
              <a:latin typeface="Courier"/>
              <a:ea typeface="Courier"/>
              <a:cs typeface="Courier"/>
              <a:sym typeface="Courier"/>
            </a:endParaRPr>
          </a:p>
          <a:p>
            <a:pPr indent="0" lvl="0" marL="0" rtl="0" algn="l">
              <a:lnSpc>
                <a:spcPct val="72000"/>
              </a:lnSpc>
              <a:spcBef>
                <a:spcPts val="0"/>
              </a:spcBef>
              <a:spcAft>
                <a:spcPts val="0"/>
              </a:spcAft>
              <a:buClr>
                <a:schemeClr val="lt1"/>
              </a:buClr>
              <a:buSzPts val="1140"/>
              <a:buNone/>
            </a:pPr>
            <a:r>
              <a:rPr lang="en-US" sz="1600">
                <a:latin typeface="Courier"/>
                <a:ea typeface="Courier"/>
                <a:cs typeface="Courier"/>
                <a:sym typeface="Courier"/>
              </a:rPr>
              <a:t>sw    x4, 0(x10)</a:t>
            </a:r>
            <a:endParaRPr sz="3200">
              <a:latin typeface="Courier"/>
              <a:ea typeface="Courier"/>
              <a:cs typeface="Courier"/>
              <a:sym typeface="Courier"/>
            </a:endParaRPr>
          </a:p>
          <a:p>
            <a:pPr indent="0" lvl="0" marL="0" rtl="0" algn="l">
              <a:lnSpc>
                <a:spcPct val="72000"/>
              </a:lnSpc>
              <a:spcBef>
                <a:spcPts val="0"/>
              </a:spcBef>
              <a:spcAft>
                <a:spcPts val="0"/>
              </a:spcAft>
              <a:buClr>
                <a:schemeClr val="lt1"/>
              </a:buClr>
              <a:buSzPts val="1140"/>
              <a:buNone/>
            </a:pPr>
            <a:r>
              <a:rPr lang="en-US" sz="1600">
                <a:latin typeface="Courier"/>
                <a:ea typeface="Courier"/>
                <a:cs typeface="Courier"/>
                <a:sym typeface="Courier"/>
              </a:rPr>
              <a:t>sw    x3, 4(x10)</a:t>
            </a:r>
            <a:endParaRPr/>
          </a:p>
        </p:txBody>
      </p:sp>
      <p:sp>
        <p:nvSpPr>
          <p:cNvPr id="92" name="Google Shape;92;p16"/>
          <p:cNvSpPr/>
          <p:nvPr/>
        </p:nvSpPr>
        <p:spPr>
          <a:xfrm>
            <a:off x="3136901" y="1092201"/>
            <a:ext cx="3467100" cy="685404"/>
          </a:xfrm>
          <a:prstGeom prst="rect">
            <a:avLst/>
          </a:prstGeom>
          <a:solidFill>
            <a:srgbClr val="C5DBC3"/>
          </a:solidFill>
          <a:ln cap="flat" cmpd="sng" w="28575">
            <a:solidFill>
              <a:srgbClr val="3DA8C9"/>
            </a:solidFill>
            <a:prstDash val="solid"/>
            <a:miter lim="800000"/>
            <a:headEnd len="sm" w="sm" type="none"/>
            <a:tailEnd len="sm" w="sm" type="none"/>
          </a:ln>
        </p:spPr>
        <p:txBody>
          <a:bodyPr anchorCtr="0" anchor="t" bIns="19025" lIns="19025" spcFirstLastPara="1" rIns="19025" wrap="square" tIns="19025">
            <a:noAutofit/>
          </a:bodyPr>
          <a:lstStyle/>
          <a:p>
            <a:pPr indent="0" lvl="0" marL="0" marR="0" rtl="0" algn="l">
              <a:lnSpc>
                <a:spcPct val="85000"/>
              </a:lnSpc>
              <a:spcBef>
                <a:spcPts val="0"/>
              </a:spcBef>
              <a:spcAft>
                <a:spcPts val="0"/>
              </a:spcAft>
              <a:buNone/>
            </a:pPr>
            <a:r>
              <a:rPr b="1" i="0" lang="en-US" sz="2400" u="none" cap="none" strike="noStrike">
                <a:solidFill>
                  <a:srgbClr val="3A4E58"/>
                </a:solidFill>
                <a:latin typeface="Calibri"/>
                <a:ea typeface="Calibri"/>
                <a:cs typeface="Calibri"/>
                <a:sym typeface="Calibri"/>
              </a:rPr>
              <a:t>High Level Language</a:t>
            </a:r>
            <a:br>
              <a:rPr b="1" i="0" lang="en-US" sz="2400" u="none" cap="none" strike="noStrike">
                <a:solidFill>
                  <a:srgbClr val="3A4E58"/>
                </a:solidFill>
                <a:latin typeface="Calibri"/>
                <a:ea typeface="Calibri"/>
                <a:cs typeface="Calibri"/>
                <a:sym typeface="Calibri"/>
              </a:rPr>
            </a:br>
            <a:r>
              <a:rPr b="1" i="0" lang="en-US" sz="2400" u="none" cap="none" strike="noStrike">
                <a:solidFill>
                  <a:srgbClr val="3A4E58"/>
                </a:solidFill>
                <a:latin typeface="Calibri"/>
                <a:ea typeface="Calibri"/>
                <a:cs typeface="Calibri"/>
                <a:sym typeface="Calibri"/>
              </a:rPr>
              <a:t>Program (e.g., C)</a:t>
            </a:r>
            <a:endParaRPr b="0" i="0" sz="1800" u="none" cap="none" strike="noStrike">
              <a:solidFill>
                <a:schemeClr val="dk1"/>
              </a:solidFill>
              <a:latin typeface="Arial"/>
              <a:ea typeface="Arial"/>
              <a:cs typeface="Arial"/>
              <a:sym typeface="Arial"/>
            </a:endParaRPr>
          </a:p>
        </p:txBody>
      </p:sp>
      <p:sp>
        <p:nvSpPr>
          <p:cNvPr id="93" name="Google Shape;93;p16"/>
          <p:cNvSpPr/>
          <p:nvPr/>
        </p:nvSpPr>
        <p:spPr>
          <a:xfrm>
            <a:off x="3136900" y="2085577"/>
            <a:ext cx="3467101" cy="663179"/>
          </a:xfrm>
          <a:prstGeom prst="rect">
            <a:avLst/>
          </a:prstGeom>
          <a:solidFill>
            <a:srgbClr val="C5DBC3"/>
          </a:solidFill>
          <a:ln cap="flat" cmpd="sng" w="28575">
            <a:solidFill>
              <a:srgbClr val="3DA8C9"/>
            </a:solidFill>
            <a:prstDash val="solid"/>
            <a:miter lim="800000"/>
            <a:headEnd len="sm" w="sm" type="none"/>
            <a:tailEnd len="sm" w="sm" type="none"/>
          </a:ln>
        </p:spPr>
        <p:txBody>
          <a:bodyPr anchorCtr="0" anchor="t" bIns="19025" lIns="19025" spcFirstLastPara="1" rIns="19025" wrap="square" tIns="19025">
            <a:noAutofit/>
          </a:bodyPr>
          <a:lstStyle/>
          <a:p>
            <a:pPr indent="0" lvl="0" marL="0" marR="0" rtl="0" algn="l">
              <a:lnSpc>
                <a:spcPct val="85000"/>
              </a:lnSpc>
              <a:spcBef>
                <a:spcPts val="0"/>
              </a:spcBef>
              <a:spcAft>
                <a:spcPts val="0"/>
              </a:spcAft>
              <a:buNone/>
            </a:pPr>
            <a:r>
              <a:rPr b="1" i="0" lang="en-US" sz="2400" u="none" cap="none" strike="noStrike">
                <a:solidFill>
                  <a:srgbClr val="3A4E58"/>
                </a:solidFill>
                <a:latin typeface="Calibri"/>
                <a:ea typeface="Calibri"/>
                <a:cs typeface="Calibri"/>
                <a:sym typeface="Calibri"/>
              </a:rPr>
              <a:t>Assembly  Language </a:t>
            </a:r>
            <a:br>
              <a:rPr b="1" i="0" lang="en-US" sz="2400" u="none" cap="none" strike="noStrike">
                <a:solidFill>
                  <a:srgbClr val="3A4E58"/>
                </a:solidFill>
                <a:latin typeface="Calibri"/>
                <a:ea typeface="Calibri"/>
                <a:cs typeface="Calibri"/>
                <a:sym typeface="Calibri"/>
              </a:rPr>
            </a:br>
            <a:r>
              <a:rPr b="1" i="0" lang="en-US" sz="2400" u="none" cap="none" strike="noStrike">
                <a:solidFill>
                  <a:srgbClr val="3A4E58"/>
                </a:solidFill>
                <a:latin typeface="Calibri"/>
                <a:ea typeface="Calibri"/>
                <a:cs typeface="Calibri"/>
                <a:sym typeface="Calibri"/>
              </a:rPr>
              <a:t>Program (e.g., RISC-V)</a:t>
            </a:r>
            <a:endParaRPr b="0" i="0" sz="1800" u="none" cap="none" strike="noStrike">
              <a:solidFill>
                <a:schemeClr val="dk1"/>
              </a:solidFill>
              <a:latin typeface="Arial"/>
              <a:ea typeface="Arial"/>
              <a:cs typeface="Arial"/>
              <a:sym typeface="Arial"/>
            </a:endParaRPr>
          </a:p>
        </p:txBody>
      </p:sp>
      <p:sp>
        <p:nvSpPr>
          <p:cNvPr id="94" name="Google Shape;94;p16"/>
          <p:cNvSpPr/>
          <p:nvPr/>
        </p:nvSpPr>
        <p:spPr>
          <a:xfrm>
            <a:off x="3136900" y="2993147"/>
            <a:ext cx="3467101" cy="691755"/>
          </a:xfrm>
          <a:prstGeom prst="rect">
            <a:avLst/>
          </a:prstGeom>
          <a:solidFill>
            <a:srgbClr val="C5DBC3"/>
          </a:solidFill>
          <a:ln cap="flat" cmpd="sng" w="28575">
            <a:solidFill>
              <a:srgbClr val="3DA8C9"/>
            </a:solidFill>
            <a:prstDash val="solid"/>
            <a:miter lim="800000"/>
            <a:headEnd len="sm" w="sm" type="none"/>
            <a:tailEnd len="sm" w="sm" type="none"/>
          </a:ln>
        </p:spPr>
        <p:txBody>
          <a:bodyPr anchorCtr="0" anchor="t" bIns="19025" lIns="19025" spcFirstLastPara="1" rIns="19025" wrap="square" tIns="19025">
            <a:noAutofit/>
          </a:bodyPr>
          <a:lstStyle/>
          <a:p>
            <a:pPr indent="0" lvl="0" marL="0" marR="0" rtl="0" algn="l">
              <a:lnSpc>
                <a:spcPct val="85000"/>
              </a:lnSpc>
              <a:spcBef>
                <a:spcPts val="0"/>
              </a:spcBef>
              <a:spcAft>
                <a:spcPts val="0"/>
              </a:spcAft>
              <a:buNone/>
            </a:pPr>
            <a:r>
              <a:rPr b="1" i="0" lang="en-US" sz="2400" u="none" cap="none" strike="noStrike">
                <a:solidFill>
                  <a:srgbClr val="3A4E58"/>
                </a:solidFill>
                <a:latin typeface="Calibri"/>
                <a:ea typeface="Calibri"/>
                <a:cs typeface="Calibri"/>
                <a:sym typeface="Calibri"/>
              </a:rPr>
              <a:t>Machine  Language Program (RISC-V)</a:t>
            </a:r>
            <a:endParaRPr b="0" i="0" sz="1800" u="none" cap="none" strike="noStrike">
              <a:solidFill>
                <a:schemeClr val="dk1"/>
              </a:solidFill>
              <a:latin typeface="Arial"/>
              <a:ea typeface="Arial"/>
              <a:cs typeface="Arial"/>
              <a:sym typeface="Arial"/>
            </a:endParaRPr>
          </a:p>
        </p:txBody>
      </p:sp>
      <p:cxnSp>
        <p:nvCxnSpPr>
          <p:cNvPr id="95" name="Google Shape;95;p16"/>
          <p:cNvCxnSpPr/>
          <p:nvPr/>
        </p:nvCxnSpPr>
        <p:spPr>
          <a:xfrm>
            <a:off x="4733072" y="1803401"/>
            <a:ext cx="0" cy="301228"/>
          </a:xfrm>
          <a:prstGeom prst="straightConnector1">
            <a:avLst/>
          </a:prstGeom>
          <a:noFill/>
          <a:ln cap="flat" cmpd="sng" w="28575">
            <a:solidFill>
              <a:schemeClr val="lt1"/>
            </a:solidFill>
            <a:prstDash val="solid"/>
            <a:round/>
            <a:headEnd len="sm" w="sm" type="none"/>
            <a:tailEnd len="sm" w="sm" type="none"/>
          </a:ln>
        </p:spPr>
      </p:cxnSp>
      <p:sp>
        <p:nvSpPr>
          <p:cNvPr id="96" name="Google Shape;96;p16"/>
          <p:cNvSpPr/>
          <p:nvPr/>
        </p:nvSpPr>
        <p:spPr>
          <a:xfrm>
            <a:off x="4923572" y="1809352"/>
            <a:ext cx="1762125" cy="371475"/>
          </a:xfrm>
          <a:prstGeom prst="rect">
            <a:avLst/>
          </a:prstGeom>
          <a:noFill/>
          <a:ln>
            <a:noFill/>
          </a:ln>
        </p:spPr>
        <p:txBody>
          <a:bodyPr anchorCtr="0" anchor="t" bIns="19025" lIns="19025" spcFirstLastPara="1" rIns="19025" wrap="square" tIns="19025">
            <a:noAutofit/>
          </a:bodyPr>
          <a:lstStyle/>
          <a:p>
            <a:pPr indent="0" lvl="0" marL="0" marR="0" rtl="0" algn="l">
              <a:lnSpc>
                <a:spcPct val="85000"/>
              </a:lnSpc>
              <a:spcBef>
                <a:spcPts val="0"/>
              </a:spcBef>
              <a:spcAft>
                <a:spcPts val="0"/>
              </a:spcAft>
              <a:buNone/>
            </a:pPr>
            <a:r>
              <a:rPr b="1" i="1" lang="en-US" sz="2100" u="none" cap="none" strike="noStrike">
                <a:solidFill>
                  <a:schemeClr val="lt1"/>
                </a:solidFill>
                <a:latin typeface="Calibri"/>
                <a:ea typeface="Calibri"/>
                <a:cs typeface="Calibri"/>
                <a:sym typeface="Calibri"/>
              </a:rPr>
              <a:t>Compiler</a:t>
            </a:r>
            <a:endParaRPr b="0" i="0" sz="1800" u="none" cap="none" strike="noStrike">
              <a:solidFill>
                <a:schemeClr val="dk1"/>
              </a:solidFill>
              <a:latin typeface="Arial"/>
              <a:ea typeface="Arial"/>
              <a:cs typeface="Arial"/>
              <a:sym typeface="Arial"/>
            </a:endParaRPr>
          </a:p>
        </p:txBody>
      </p:sp>
      <p:sp>
        <p:nvSpPr>
          <p:cNvPr id="97" name="Google Shape;97;p16"/>
          <p:cNvSpPr/>
          <p:nvPr/>
        </p:nvSpPr>
        <p:spPr>
          <a:xfrm>
            <a:off x="4837847" y="2745497"/>
            <a:ext cx="1933575" cy="371475"/>
          </a:xfrm>
          <a:prstGeom prst="rect">
            <a:avLst/>
          </a:prstGeom>
          <a:noFill/>
          <a:ln>
            <a:noFill/>
          </a:ln>
        </p:spPr>
        <p:txBody>
          <a:bodyPr anchorCtr="0" anchor="t" bIns="19025" lIns="19025" spcFirstLastPara="1" rIns="19025" wrap="square" tIns="19025">
            <a:noAutofit/>
          </a:bodyPr>
          <a:lstStyle/>
          <a:p>
            <a:pPr indent="0" lvl="0" marL="0" marR="0" rtl="0" algn="l">
              <a:lnSpc>
                <a:spcPct val="85000"/>
              </a:lnSpc>
              <a:spcBef>
                <a:spcPts val="0"/>
              </a:spcBef>
              <a:spcAft>
                <a:spcPts val="0"/>
              </a:spcAft>
              <a:buNone/>
            </a:pPr>
            <a:r>
              <a:rPr b="1" i="1" lang="en-US" sz="2100" u="none" cap="none" strike="noStrike">
                <a:solidFill>
                  <a:schemeClr val="lt1"/>
                </a:solidFill>
                <a:latin typeface="Calibri"/>
                <a:ea typeface="Calibri"/>
                <a:cs typeface="Calibri"/>
                <a:sym typeface="Calibri"/>
              </a:rPr>
              <a:t>Assembler</a:t>
            </a:r>
            <a:endParaRPr b="0" i="0" sz="1800" u="none" cap="none" strike="noStrike">
              <a:solidFill>
                <a:schemeClr val="dk1"/>
              </a:solidFill>
              <a:latin typeface="Arial"/>
              <a:ea typeface="Arial"/>
              <a:cs typeface="Arial"/>
              <a:sym typeface="Arial"/>
            </a:endParaRPr>
          </a:p>
        </p:txBody>
      </p:sp>
      <p:sp>
        <p:nvSpPr>
          <p:cNvPr id="98" name="Google Shape;98;p16"/>
          <p:cNvSpPr/>
          <p:nvPr/>
        </p:nvSpPr>
        <p:spPr>
          <a:xfrm>
            <a:off x="3115013" y="3694907"/>
            <a:ext cx="3657600" cy="140493"/>
          </a:xfrm>
          <a:prstGeom prst="rect">
            <a:avLst/>
          </a:prstGeom>
          <a:solidFill>
            <a:srgbClr val="FFC000"/>
          </a:solidFill>
          <a:ln cap="flat" cmpd="sng" w="12700">
            <a:solidFill>
              <a:srgbClr val="3DA8C9"/>
            </a:solidFill>
            <a:prstDash val="solid"/>
            <a:miter lim="800000"/>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7156">
              <a:solidFill>
                <a:schemeClr val="accent1"/>
              </a:solidFill>
              <a:latin typeface="Helvetica Neue"/>
              <a:ea typeface="Helvetica Neue"/>
              <a:cs typeface="Helvetica Neue"/>
              <a:sym typeface="Helvetica Neue"/>
            </a:endParaRPr>
          </a:p>
        </p:txBody>
      </p:sp>
      <p:cxnSp>
        <p:nvCxnSpPr>
          <p:cNvPr id="99" name="Google Shape;99;p16"/>
          <p:cNvCxnSpPr/>
          <p:nvPr/>
        </p:nvCxnSpPr>
        <p:spPr>
          <a:xfrm>
            <a:off x="4771172" y="2771692"/>
            <a:ext cx="0" cy="214312"/>
          </a:xfrm>
          <a:prstGeom prst="straightConnector1">
            <a:avLst/>
          </a:prstGeom>
          <a:noFill/>
          <a:ln cap="flat" cmpd="sng" w="28575">
            <a:solidFill>
              <a:schemeClr val="lt1"/>
            </a:solidFill>
            <a:prstDash val="solid"/>
            <a:round/>
            <a:headEnd len="sm" w="sm" type="none"/>
            <a:tailEnd len="sm" w="sm" type="none"/>
          </a:ln>
        </p:spPr>
      </p:cxnSp>
      <p:sp>
        <p:nvSpPr>
          <p:cNvPr id="100" name="Google Shape;100;p16"/>
          <p:cNvSpPr/>
          <p:nvPr/>
        </p:nvSpPr>
        <p:spPr>
          <a:xfrm>
            <a:off x="3127984" y="4038600"/>
            <a:ext cx="4492016" cy="708397"/>
          </a:xfrm>
          <a:prstGeom prst="rect">
            <a:avLst/>
          </a:prstGeom>
          <a:solidFill>
            <a:srgbClr val="C5DBC3"/>
          </a:solidFill>
          <a:ln cap="flat" cmpd="sng" w="28575">
            <a:solidFill>
              <a:srgbClr val="3DA8C9"/>
            </a:solidFill>
            <a:prstDash val="solid"/>
            <a:miter lim="800000"/>
            <a:headEnd len="sm" w="sm" type="none"/>
            <a:tailEnd len="sm" w="sm" type="none"/>
          </a:ln>
        </p:spPr>
        <p:txBody>
          <a:bodyPr anchorCtr="0" anchor="t" bIns="19025" lIns="19025" spcFirstLastPara="1" rIns="19025" wrap="square" tIns="19025">
            <a:noAutofit/>
          </a:bodyPr>
          <a:lstStyle/>
          <a:p>
            <a:pPr indent="0" lvl="0" marL="0" marR="0" rtl="0" algn="l">
              <a:lnSpc>
                <a:spcPct val="88000"/>
              </a:lnSpc>
              <a:spcBef>
                <a:spcPts val="0"/>
              </a:spcBef>
              <a:spcAft>
                <a:spcPts val="0"/>
              </a:spcAft>
              <a:buNone/>
            </a:pPr>
            <a:r>
              <a:rPr b="1" lang="en-US" sz="2400">
                <a:solidFill>
                  <a:srgbClr val="3A4E58"/>
                </a:solidFill>
                <a:latin typeface="Calibri"/>
                <a:ea typeface="Calibri"/>
                <a:cs typeface="Calibri"/>
                <a:sym typeface="Calibri"/>
              </a:rPr>
              <a:t>Hardware Architecture Description</a:t>
            </a:r>
            <a:br>
              <a:rPr b="1" lang="en-US" sz="2400">
                <a:solidFill>
                  <a:srgbClr val="3A4E58"/>
                </a:solidFill>
                <a:latin typeface="Calibri"/>
                <a:ea typeface="Calibri"/>
                <a:cs typeface="Calibri"/>
                <a:sym typeface="Calibri"/>
              </a:rPr>
            </a:br>
            <a:r>
              <a:rPr b="1" lang="en-US" sz="2400">
                <a:solidFill>
                  <a:srgbClr val="3A4E58"/>
                </a:solidFill>
                <a:latin typeface="Calibri"/>
                <a:ea typeface="Calibri"/>
                <a:cs typeface="Calibri"/>
                <a:sym typeface="Calibri"/>
              </a:rPr>
              <a:t>(e.g., block diagrams)</a:t>
            </a:r>
            <a:r>
              <a:rPr lang="en-US" sz="2400">
                <a:solidFill>
                  <a:srgbClr val="3A4E58"/>
                </a:solidFill>
                <a:latin typeface="Calibri"/>
                <a:ea typeface="Calibri"/>
                <a:cs typeface="Calibri"/>
                <a:sym typeface="Calibri"/>
              </a:rPr>
              <a:t> </a:t>
            </a:r>
            <a:endParaRPr sz="1800">
              <a:solidFill>
                <a:schemeClr val="dk1"/>
              </a:solidFill>
              <a:latin typeface="Arial"/>
              <a:ea typeface="Arial"/>
              <a:cs typeface="Arial"/>
              <a:sym typeface="Arial"/>
            </a:endParaRPr>
          </a:p>
        </p:txBody>
      </p:sp>
      <p:sp>
        <p:nvSpPr>
          <p:cNvPr id="101" name="Google Shape;101;p16"/>
          <p:cNvSpPr/>
          <p:nvPr/>
        </p:nvSpPr>
        <p:spPr>
          <a:xfrm>
            <a:off x="3149600" y="4984749"/>
            <a:ext cx="4470400" cy="781051"/>
          </a:xfrm>
          <a:prstGeom prst="rect">
            <a:avLst/>
          </a:prstGeom>
          <a:solidFill>
            <a:srgbClr val="C5DBC3"/>
          </a:solidFill>
          <a:ln cap="flat" cmpd="sng" w="28575">
            <a:solidFill>
              <a:srgbClr val="3DA8C9"/>
            </a:solidFill>
            <a:prstDash val="solid"/>
            <a:miter lim="800000"/>
            <a:headEnd len="sm" w="sm" type="none"/>
            <a:tailEnd len="sm" w="sm" type="none"/>
          </a:ln>
        </p:spPr>
        <p:txBody>
          <a:bodyPr anchorCtr="0" anchor="t" bIns="19025" lIns="19025" spcFirstLastPara="1" rIns="19025" wrap="square" tIns="19025">
            <a:noAutofit/>
          </a:bodyPr>
          <a:lstStyle/>
          <a:p>
            <a:pPr indent="0" lvl="0" marL="0" marR="0" rtl="0" algn="l">
              <a:lnSpc>
                <a:spcPct val="88000"/>
              </a:lnSpc>
              <a:spcBef>
                <a:spcPts val="0"/>
              </a:spcBef>
              <a:spcAft>
                <a:spcPts val="0"/>
              </a:spcAft>
              <a:buNone/>
            </a:pPr>
            <a:r>
              <a:rPr b="1" lang="en-US" sz="2400">
                <a:solidFill>
                  <a:srgbClr val="3A4E58"/>
                </a:solidFill>
                <a:latin typeface="Calibri"/>
                <a:ea typeface="Calibri"/>
                <a:cs typeface="Calibri"/>
                <a:sym typeface="Calibri"/>
              </a:rPr>
              <a:t>Logic Circuit Description</a:t>
            </a:r>
            <a:br>
              <a:rPr b="1" lang="en-US" sz="2400">
                <a:solidFill>
                  <a:srgbClr val="3A4E58"/>
                </a:solidFill>
                <a:latin typeface="Calibri"/>
                <a:ea typeface="Calibri"/>
                <a:cs typeface="Calibri"/>
                <a:sym typeface="Calibri"/>
              </a:rPr>
            </a:br>
            <a:r>
              <a:rPr b="1" lang="en-US" sz="2400">
                <a:solidFill>
                  <a:srgbClr val="3A4E58"/>
                </a:solidFill>
                <a:latin typeface="Calibri"/>
                <a:ea typeface="Calibri"/>
                <a:cs typeface="Calibri"/>
                <a:sym typeface="Calibri"/>
              </a:rPr>
              <a:t>(Circuit Schematic Diagrams)</a:t>
            </a:r>
            <a:endParaRPr sz="1800">
              <a:solidFill>
                <a:schemeClr val="dk1"/>
              </a:solidFill>
              <a:latin typeface="Arial"/>
              <a:ea typeface="Arial"/>
              <a:cs typeface="Arial"/>
              <a:sym typeface="Arial"/>
            </a:endParaRPr>
          </a:p>
        </p:txBody>
      </p:sp>
      <p:sp>
        <p:nvSpPr>
          <p:cNvPr id="102" name="Google Shape;102;p16"/>
          <p:cNvSpPr/>
          <p:nvPr/>
        </p:nvSpPr>
        <p:spPr>
          <a:xfrm>
            <a:off x="4894095" y="4702176"/>
            <a:ext cx="3548187" cy="657225"/>
          </a:xfrm>
          <a:prstGeom prst="rect">
            <a:avLst/>
          </a:prstGeom>
          <a:noFill/>
          <a:ln>
            <a:noFill/>
          </a:ln>
        </p:spPr>
        <p:txBody>
          <a:bodyPr anchorCtr="0" anchor="t" bIns="19025" lIns="19025" spcFirstLastPara="1" rIns="19025" wrap="square" tIns="19025">
            <a:noAutofit/>
          </a:bodyPr>
          <a:lstStyle/>
          <a:p>
            <a:pPr indent="0" lvl="0" marL="0" marR="0" rtl="0" algn="l">
              <a:lnSpc>
                <a:spcPct val="85000"/>
              </a:lnSpc>
              <a:spcBef>
                <a:spcPts val="0"/>
              </a:spcBef>
              <a:spcAft>
                <a:spcPts val="0"/>
              </a:spcAft>
              <a:buNone/>
            </a:pPr>
            <a:r>
              <a:rPr b="1" i="1" lang="en-US" sz="2100">
                <a:solidFill>
                  <a:schemeClr val="lt1"/>
                </a:solidFill>
                <a:latin typeface="Calibri"/>
                <a:ea typeface="Calibri"/>
                <a:cs typeface="Calibri"/>
                <a:sym typeface="Calibri"/>
              </a:rPr>
              <a:t>Architecture Implementation</a:t>
            </a:r>
            <a:endParaRPr sz="1800">
              <a:solidFill>
                <a:schemeClr val="dk1"/>
              </a:solidFill>
              <a:latin typeface="Arial"/>
              <a:ea typeface="Arial"/>
              <a:cs typeface="Arial"/>
              <a:sym typeface="Arial"/>
            </a:endParaRPr>
          </a:p>
        </p:txBody>
      </p:sp>
      <p:cxnSp>
        <p:nvCxnSpPr>
          <p:cNvPr id="103" name="Google Shape;103;p16"/>
          <p:cNvCxnSpPr/>
          <p:nvPr/>
        </p:nvCxnSpPr>
        <p:spPr>
          <a:xfrm>
            <a:off x="4775200" y="3835400"/>
            <a:ext cx="0" cy="214312"/>
          </a:xfrm>
          <a:prstGeom prst="straightConnector1">
            <a:avLst/>
          </a:prstGeom>
          <a:noFill/>
          <a:ln cap="flat" cmpd="sng" w="28575">
            <a:solidFill>
              <a:schemeClr val="lt1"/>
            </a:solidFill>
            <a:prstDash val="solid"/>
            <a:round/>
            <a:headEnd len="sm" w="sm" type="none"/>
            <a:tailEnd len="sm" w="sm" type="none"/>
          </a:ln>
        </p:spPr>
      </p:cxnSp>
      <p:cxnSp>
        <p:nvCxnSpPr>
          <p:cNvPr id="104" name="Google Shape;104;p16"/>
          <p:cNvCxnSpPr/>
          <p:nvPr/>
        </p:nvCxnSpPr>
        <p:spPr>
          <a:xfrm>
            <a:off x="4775200" y="4749800"/>
            <a:ext cx="0" cy="214312"/>
          </a:xfrm>
          <a:prstGeom prst="straightConnector1">
            <a:avLst/>
          </a:prstGeom>
          <a:noFill/>
          <a:ln cap="flat" cmpd="sng" w="28575">
            <a:solidFill>
              <a:schemeClr val="lt1"/>
            </a:solidFill>
            <a:prstDash val="solid"/>
            <a:round/>
            <a:headEnd len="sm" w="sm" type="none"/>
            <a:tailEnd len="sm" w="sm" type="none"/>
          </a:ln>
        </p:spPr>
      </p:cxnSp>
      <p:sp>
        <p:nvSpPr>
          <p:cNvPr id="105" name="Google Shape;105;p16"/>
          <p:cNvSpPr/>
          <p:nvPr/>
        </p:nvSpPr>
        <p:spPr>
          <a:xfrm>
            <a:off x="6959136" y="1108829"/>
            <a:ext cx="4133851" cy="990600"/>
          </a:xfrm>
          <a:prstGeom prst="rect">
            <a:avLst/>
          </a:prstGeom>
          <a:noFill/>
          <a:ln>
            <a:noFill/>
          </a:ln>
        </p:spPr>
        <p:txBody>
          <a:bodyPr anchorCtr="0" anchor="t" bIns="19025" lIns="19025" spcFirstLastPara="1" rIns="19025" wrap="square" tIns="19025">
            <a:noAutofit/>
          </a:bodyPr>
          <a:lstStyle/>
          <a:p>
            <a:pPr indent="-438140" lvl="0" marL="438140" marR="0" rtl="0" algn="l">
              <a:lnSpc>
                <a:spcPct val="78000"/>
              </a:lnSpc>
              <a:spcBef>
                <a:spcPts val="0"/>
              </a:spcBef>
              <a:spcAft>
                <a:spcPts val="0"/>
              </a:spcAft>
              <a:buNone/>
            </a:pPr>
            <a:r>
              <a:rPr b="1" lang="en-US" sz="1600">
                <a:solidFill>
                  <a:schemeClr val="lt1"/>
                </a:solidFill>
                <a:latin typeface="Courier"/>
                <a:ea typeface="Courier"/>
                <a:cs typeface="Courier"/>
                <a:sym typeface="Courier"/>
              </a:rPr>
              <a:t>temp = v[k];</a:t>
            </a:r>
            <a:endParaRPr b="1" sz="1600">
              <a:solidFill>
                <a:schemeClr val="lt1"/>
              </a:solidFill>
              <a:latin typeface="Courier"/>
              <a:ea typeface="Courier"/>
              <a:cs typeface="Courier"/>
              <a:sym typeface="Courier"/>
            </a:endParaRPr>
          </a:p>
          <a:p>
            <a:pPr indent="-438140" lvl="0" marL="438140" marR="0" rtl="0" algn="l">
              <a:lnSpc>
                <a:spcPct val="78000"/>
              </a:lnSpc>
              <a:spcBef>
                <a:spcPts val="0"/>
              </a:spcBef>
              <a:spcAft>
                <a:spcPts val="0"/>
              </a:spcAft>
              <a:buNone/>
            </a:pPr>
            <a:r>
              <a:rPr b="1" lang="en-US" sz="1600">
                <a:solidFill>
                  <a:schemeClr val="lt1"/>
                </a:solidFill>
                <a:latin typeface="Courier"/>
                <a:ea typeface="Courier"/>
                <a:cs typeface="Courier"/>
                <a:sym typeface="Courier"/>
              </a:rPr>
              <a:t>v[k] = v[k+1];</a:t>
            </a:r>
            <a:endParaRPr b="1" sz="1600">
              <a:solidFill>
                <a:schemeClr val="lt1"/>
              </a:solidFill>
              <a:latin typeface="Courier"/>
              <a:ea typeface="Courier"/>
              <a:cs typeface="Courier"/>
              <a:sym typeface="Courier"/>
            </a:endParaRPr>
          </a:p>
          <a:p>
            <a:pPr indent="-438140" lvl="0" marL="438140" marR="0" rtl="0" algn="l">
              <a:lnSpc>
                <a:spcPct val="78000"/>
              </a:lnSpc>
              <a:spcBef>
                <a:spcPts val="0"/>
              </a:spcBef>
              <a:spcAft>
                <a:spcPts val="0"/>
              </a:spcAft>
              <a:buNone/>
            </a:pPr>
            <a:r>
              <a:rPr b="1" lang="en-US" sz="1600">
                <a:solidFill>
                  <a:schemeClr val="lt1"/>
                </a:solidFill>
                <a:latin typeface="Courier"/>
                <a:ea typeface="Courier"/>
                <a:cs typeface="Courier"/>
                <a:sym typeface="Courier"/>
              </a:rPr>
              <a:t>v[k+1] = temp;</a:t>
            </a:r>
            <a:endParaRPr sz="1800">
              <a:solidFill>
                <a:schemeClr val="dk1"/>
              </a:solidFill>
              <a:latin typeface="Arial"/>
              <a:ea typeface="Arial"/>
              <a:cs typeface="Arial"/>
              <a:sym typeface="Arial"/>
            </a:endParaRPr>
          </a:p>
        </p:txBody>
      </p:sp>
      <p:sp>
        <p:nvSpPr>
          <p:cNvPr id="106" name="Google Shape;106;p16"/>
          <p:cNvSpPr/>
          <p:nvPr/>
        </p:nvSpPr>
        <p:spPr>
          <a:xfrm>
            <a:off x="6879534" y="2776853"/>
            <a:ext cx="5016329" cy="1042577"/>
          </a:xfrm>
          <a:prstGeom prst="rect">
            <a:avLst/>
          </a:prstGeom>
          <a:noFill/>
          <a:ln>
            <a:noFill/>
          </a:ln>
        </p:spPr>
        <p:txBody>
          <a:bodyPr anchorCtr="0" anchor="t" bIns="28550" lIns="28550" spcFirstLastPara="1" rIns="28550" wrap="square" tIns="28550">
            <a:noAutofit/>
          </a:bodyPr>
          <a:lstStyle/>
          <a:p>
            <a:pPr indent="0" lvl="0" marL="0" marR="0" rtl="0" algn="l">
              <a:spcBef>
                <a:spcPts val="0"/>
              </a:spcBef>
              <a:spcAft>
                <a:spcPts val="0"/>
              </a:spcAft>
              <a:buNone/>
            </a:pPr>
            <a:r>
              <a:rPr b="1" lang="en-US" sz="1600">
                <a:solidFill>
                  <a:schemeClr val="lt1"/>
                </a:solidFill>
                <a:latin typeface="Courier"/>
                <a:ea typeface="Courier"/>
                <a:cs typeface="Courier"/>
                <a:sym typeface="Courier"/>
              </a:rPr>
              <a:t>1000 1101 1110 0010 0000 0000 0000 0000</a:t>
            </a:r>
            <a:endParaRPr b="1" sz="2133">
              <a:solidFill>
                <a:schemeClr val="lt1"/>
              </a:solidFill>
              <a:latin typeface="Courier"/>
              <a:ea typeface="Courier"/>
              <a:cs typeface="Courier"/>
              <a:sym typeface="Courier"/>
            </a:endParaRPr>
          </a:p>
          <a:p>
            <a:pPr indent="0" lvl="0" marL="0" marR="0" rtl="0" algn="l">
              <a:spcBef>
                <a:spcPts val="0"/>
              </a:spcBef>
              <a:spcAft>
                <a:spcPts val="0"/>
              </a:spcAft>
              <a:buNone/>
            </a:pPr>
            <a:r>
              <a:rPr b="1" lang="en-US" sz="1600">
                <a:solidFill>
                  <a:schemeClr val="lt1"/>
                </a:solidFill>
                <a:latin typeface="Courier"/>
                <a:ea typeface="Courier"/>
                <a:cs typeface="Courier"/>
                <a:sym typeface="Courier"/>
              </a:rPr>
              <a:t>1000 1110 0001 0000 0000 0000 0000 0100 </a:t>
            </a:r>
            <a:endParaRPr b="1" sz="2133">
              <a:solidFill>
                <a:schemeClr val="lt1"/>
              </a:solidFill>
              <a:latin typeface="Courier"/>
              <a:ea typeface="Courier"/>
              <a:cs typeface="Courier"/>
              <a:sym typeface="Courier"/>
            </a:endParaRPr>
          </a:p>
          <a:p>
            <a:pPr indent="0" lvl="0" marL="0" marR="0" rtl="0" algn="l">
              <a:spcBef>
                <a:spcPts val="0"/>
              </a:spcBef>
              <a:spcAft>
                <a:spcPts val="0"/>
              </a:spcAft>
              <a:buNone/>
            </a:pPr>
            <a:r>
              <a:rPr b="1" lang="en-US" sz="1600">
                <a:solidFill>
                  <a:schemeClr val="lt1"/>
                </a:solidFill>
                <a:latin typeface="Courier"/>
                <a:ea typeface="Courier"/>
                <a:cs typeface="Courier"/>
                <a:sym typeface="Courier"/>
              </a:rPr>
              <a:t>1010 1110 0001 0010 0000 0000 0000 0000 </a:t>
            </a:r>
            <a:endParaRPr b="1" sz="2133">
              <a:solidFill>
                <a:schemeClr val="lt1"/>
              </a:solidFill>
              <a:latin typeface="Courier"/>
              <a:ea typeface="Courier"/>
              <a:cs typeface="Courier"/>
              <a:sym typeface="Courier"/>
            </a:endParaRPr>
          </a:p>
          <a:p>
            <a:pPr indent="0" lvl="0" marL="0" marR="0" rtl="0" algn="l">
              <a:spcBef>
                <a:spcPts val="0"/>
              </a:spcBef>
              <a:spcAft>
                <a:spcPts val="0"/>
              </a:spcAft>
              <a:buNone/>
            </a:pPr>
            <a:r>
              <a:rPr b="1" lang="en-US" sz="1600">
                <a:solidFill>
                  <a:schemeClr val="lt1"/>
                </a:solidFill>
                <a:latin typeface="Courier"/>
                <a:ea typeface="Courier"/>
                <a:cs typeface="Courier"/>
                <a:sym typeface="Courier"/>
              </a:rPr>
              <a:t>1010 1101 1110 0010 0000 0000 0000 0100 </a:t>
            </a:r>
            <a:endParaRPr sz="1800">
              <a:solidFill>
                <a:schemeClr val="dk1"/>
              </a:solidFill>
              <a:latin typeface="Arial"/>
              <a:ea typeface="Arial"/>
              <a:cs typeface="Arial"/>
              <a:sym typeface="Arial"/>
            </a:endParaRPr>
          </a:p>
        </p:txBody>
      </p:sp>
      <p:pic>
        <p:nvPicPr>
          <p:cNvPr id="107" name="Google Shape;107;p16"/>
          <p:cNvPicPr preferRelativeResize="0"/>
          <p:nvPr/>
        </p:nvPicPr>
        <p:blipFill rotWithShape="1">
          <a:blip r:embed="rId3">
            <a:alphaModFix/>
          </a:blip>
          <a:srcRect b="0" l="0" r="0" t="0"/>
          <a:stretch/>
        </p:blipFill>
        <p:spPr>
          <a:xfrm>
            <a:off x="8155178" y="5605585"/>
            <a:ext cx="2263717" cy="920031"/>
          </a:xfrm>
          <a:prstGeom prst="rect">
            <a:avLst/>
          </a:prstGeom>
          <a:noFill/>
          <a:ln>
            <a:noFill/>
          </a:ln>
        </p:spPr>
      </p:pic>
      <p:grpSp>
        <p:nvGrpSpPr>
          <p:cNvPr id="108" name="Google Shape;108;p16"/>
          <p:cNvGrpSpPr/>
          <p:nvPr/>
        </p:nvGrpSpPr>
        <p:grpSpPr>
          <a:xfrm>
            <a:off x="7925042" y="3937005"/>
            <a:ext cx="4091276" cy="1544301"/>
            <a:chOff x="3849" y="1895"/>
            <a:chExt cx="1828" cy="690"/>
          </a:xfrm>
        </p:grpSpPr>
        <p:sp>
          <p:nvSpPr>
            <p:cNvPr id="109" name="Google Shape;109;p16"/>
            <p:cNvSpPr/>
            <p:nvPr/>
          </p:nvSpPr>
          <p:spPr>
            <a:xfrm>
              <a:off x="3849" y="1895"/>
              <a:ext cx="1828" cy="610"/>
            </a:xfrm>
            <a:prstGeom prst="rect">
              <a:avLst/>
            </a:prstGeom>
            <a:no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10" name="Google Shape;110;p16"/>
            <p:cNvSpPr/>
            <p:nvPr/>
          </p:nvSpPr>
          <p:spPr>
            <a:xfrm>
              <a:off x="4186" y="2111"/>
              <a:ext cx="136" cy="152"/>
            </a:xfrm>
            <a:prstGeom prst="rect">
              <a:avLst/>
            </a:prstGeom>
            <a:solidFill>
              <a:srgbClr val="C5DBC3"/>
            </a:solidFill>
            <a:ln cap="flat" cmpd="sng" w="9525">
              <a:solidFill>
                <a:srgbClr val="000000"/>
              </a:solidFill>
              <a:prstDash val="solid"/>
              <a:miter lim="800000"/>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11" name="Google Shape;111;p16"/>
            <p:cNvSpPr/>
            <p:nvPr/>
          </p:nvSpPr>
          <p:spPr>
            <a:xfrm>
              <a:off x="4186" y="2111"/>
              <a:ext cx="136" cy="152"/>
            </a:xfrm>
            <a:prstGeom prst="rect">
              <a:avLst/>
            </a:prstGeom>
            <a:noFill/>
            <a:ln cap="flat" cmpd="sng" w="11100">
              <a:solidFill>
                <a:srgbClr val="E4DDD2"/>
              </a:solidFill>
              <a:prstDash val="solid"/>
              <a:miter lim="800000"/>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12" name="Google Shape;112;p16"/>
            <p:cNvSpPr/>
            <p:nvPr/>
          </p:nvSpPr>
          <p:spPr>
            <a:xfrm>
              <a:off x="4192" y="2109"/>
              <a:ext cx="51" cy="16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800">
                  <a:solidFill>
                    <a:schemeClr val="dk2"/>
                  </a:solidFill>
                  <a:latin typeface="Calibri"/>
                  <a:ea typeface="Calibri"/>
                  <a:cs typeface="Calibri"/>
                  <a:sym typeface="Calibri"/>
                </a:rPr>
                <a:t>IMEM</a:t>
              </a:r>
              <a:endParaRPr sz="2400">
                <a:solidFill>
                  <a:schemeClr val="dk2"/>
                </a:solidFill>
                <a:latin typeface="Arial"/>
                <a:ea typeface="Arial"/>
                <a:cs typeface="Arial"/>
                <a:sym typeface="Arial"/>
              </a:endParaRPr>
            </a:p>
          </p:txBody>
        </p:sp>
        <p:sp>
          <p:nvSpPr>
            <p:cNvPr id="113" name="Google Shape;113;p16"/>
            <p:cNvSpPr/>
            <p:nvPr/>
          </p:nvSpPr>
          <p:spPr>
            <a:xfrm>
              <a:off x="5101" y="2043"/>
              <a:ext cx="85" cy="220"/>
            </a:xfrm>
            <a:custGeom>
              <a:rect b="b" l="l" r="r" t="t"/>
              <a:pathLst>
                <a:path extrusionOk="0" h="220" w="85">
                  <a:moveTo>
                    <a:pt x="0" y="0"/>
                  </a:moveTo>
                  <a:lnTo>
                    <a:pt x="85" y="40"/>
                  </a:lnTo>
                  <a:lnTo>
                    <a:pt x="85" y="181"/>
                  </a:lnTo>
                  <a:lnTo>
                    <a:pt x="0" y="220"/>
                  </a:lnTo>
                  <a:lnTo>
                    <a:pt x="0" y="0"/>
                  </a:lnTo>
                  <a:close/>
                </a:path>
              </a:pathLst>
            </a:custGeom>
            <a:solidFill>
              <a:srgbClr val="C5DBC3"/>
            </a:solidFill>
            <a:ln cap="flat" cmpd="sng" w="9525">
              <a:solidFill>
                <a:srgbClr val="000000"/>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14" name="Google Shape;114;p16"/>
            <p:cNvSpPr/>
            <p:nvPr/>
          </p:nvSpPr>
          <p:spPr>
            <a:xfrm>
              <a:off x="5101" y="2043"/>
              <a:ext cx="85" cy="220"/>
            </a:xfrm>
            <a:custGeom>
              <a:rect b="b" l="l" r="r" t="t"/>
              <a:pathLst>
                <a:path extrusionOk="0" h="220" w="85">
                  <a:moveTo>
                    <a:pt x="0" y="0"/>
                  </a:moveTo>
                  <a:lnTo>
                    <a:pt x="85" y="40"/>
                  </a:lnTo>
                  <a:lnTo>
                    <a:pt x="85" y="181"/>
                  </a:lnTo>
                  <a:lnTo>
                    <a:pt x="0" y="220"/>
                  </a:lnTo>
                  <a:lnTo>
                    <a:pt x="0" y="0"/>
                  </a:lnTo>
                  <a:close/>
                </a:path>
              </a:pathLst>
            </a:custGeom>
            <a:noFill/>
            <a:ln cap="flat" cmpd="sng" w="11100">
              <a:solidFill>
                <a:srgbClr val="E4DDD2"/>
              </a:solidFill>
              <a:prstDash val="solid"/>
              <a:miter lim="800000"/>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15" name="Google Shape;115;p16"/>
            <p:cNvSpPr/>
            <p:nvPr/>
          </p:nvSpPr>
          <p:spPr>
            <a:xfrm>
              <a:off x="5101" y="2145"/>
              <a:ext cx="17" cy="32"/>
            </a:xfrm>
            <a:custGeom>
              <a:rect b="b" l="l" r="r" t="t"/>
              <a:pathLst>
                <a:path extrusionOk="0" h="32" w="17">
                  <a:moveTo>
                    <a:pt x="0" y="0"/>
                  </a:moveTo>
                  <a:lnTo>
                    <a:pt x="17" y="16"/>
                  </a:lnTo>
                  <a:lnTo>
                    <a:pt x="0" y="32"/>
                  </a:lnTo>
                  <a:lnTo>
                    <a:pt x="0" y="0"/>
                  </a:lnTo>
                  <a:close/>
                </a:path>
              </a:pathLst>
            </a:custGeom>
            <a:noFill/>
            <a:ln cap="flat" cmpd="sng" w="11100">
              <a:solidFill>
                <a:srgbClr val="E4DDD2"/>
              </a:solidFill>
              <a:prstDash val="solid"/>
              <a:miter lim="800000"/>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cxnSp>
          <p:nvCxnSpPr>
            <p:cNvPr id="116" name="Google Shape;116;p16"/>
            <p:cNvCxnSpPr/>
            <p:nvPr/>
          </p:nvCxnSpPr>
          <p:spPr>
            <a:xfrm>
              <a:off x="5101" y="2145"/>
              <a:ext cx="0" cy="31"/>
            </a:xfrm>
            <a:prstGeom prst="straightConnector1">
              <a:avLst/>
            </a:prstGeom>
            <a:noFill/>
            <a:ln cap="flat" cmpd="sng" w="11100">
              <a:solidFill>
                <a:srgbClr val="E4DDD2"/>
              </a:solidFill>
              <a:prstDash val="solid"/>
              <a:miter lim="800000"/>
              <a:headEnd len="sm" w="sm" type="none"/>
              <a:tailEnd len="sm" w="sm" type="none"/>
            </a:ln>
          </p:spPr>
        </p:cxnSp>
        <p:sp>
          <p:nvSpPr>
            <p:cNvPr id="117" name="Google Shape;117;p16"/>
            <p:cNvSpPr/>
            <p:nvPr/>
          </p:nvSpPr>
          <p:spPr>
            <a:xfrm>
              <a:off x="5104" y="2065"/>
              <a:ext cx="35" cy="16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800">
                  <a:solidFill>
                    <a:schemeClr val="dk2"/>
                  </a:solidFill>
                  <a:latin typeface="Calibri"/>
                  <a:ea typeface="Calibri"/>
                  <a:cs typeface="Calibri"/>
                  <a:sym typeface="Calibri"/>
                </a:rPr>
                <a:t>ALU</a:t>
              </a:r>
              <a:endParaRPr sz="2400">
                <a:solidFill>
                  <a:schemeClr val="dk2"/>
                </a:solidFill>
                <a:latin typeface="Arial"/>
                <a:ea typeface="Arial"/>
                <a:cs typeface="Arial"/>
                <a:sym typeface="Arial"/>
              </a:endParaRPr>
            </a:p>
          </p:txBody>
        </p:sp>
        <p:sp>
          <p:nvSpPr>
            <p:cNvPr id="118" name="Google Shape;118;p16"/>
            <p:cNvSpPr/>
            <p:nvPr/>
          </p:nvSpPr>
          <p:spPr>
            <a:xfrm>
              <a:off x="4491" y="2331"/>
              <a:ext cx="119" cy="170"/>
            </a:xfrm>
            <a:custGeom>
              <a:rect b="b" l="l" r="r" t="t"/>
              <a:pathLst>
                <a:path extrusionOk="0" h="170" w="119">
                  <a:moveTo>
                    <a:pt x="0" y="0"/>
                  </a:moveTo>
                  <a:lnTo>
                    <a:pt x="119" y="36"/>
                  </a:lnTo>
                  <a:lnTo>
                    <a:pt x="119" y="133"/>
                  </a:lnTo>
                  <a:lnTo>
                    <a:pt x="0" y="170"/>
                  </a:lnTo>
                  <a:lnTo>
                    <a:pt x="0" y="0"/>
                  </a:lnTo>
                  <a:close/>
                </a:path>
              </a:pathLst>
            </a:custGeom>
            <a:solidFill>
              <a:srgbClr val="C5DBC3"/>
            </a:solidFill>
            <a:ln cap="flat" cmpd="sng" w="11100">
              <a:solidFill>
                <a:srgbClr val="E4DDD2"/>
              </a:solidFill>
              <a:prstDash val="solid"/>
              <a:miter lim="800000"/>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19" name="Google Shape;119;p16"/>
            <p:cNvSpPr/>
            <p:nvPr/>
          </p:nvSpPr>
          <p:spPr>
            <a:xfrm>
              <a:off x="4495" y="2366"/>
              <a:ext cx="39" cy="16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800">
                  <a:solidFill>
                    <a:schemeClr val="dk2"/>
                  </a:solidFill>
                  <a:latin typeface="Calibri"/>
                  <a:ea typeface="Calibri"/>
                  <a:cs typeface="Calibri"/>
                  <a:sym typeface="Calibri"/>
                </a:rPr>
                <a:t>Imm</a:t>
              </a:r>
              <a:endParaRPr sz="2400">
                <a:solidFill>
                  <a:schemeClr val="dk2"/>
                </a:solidFill>
                <a:latin typeface="Arial"/>
                <a:ea typeface="Arial"/>
                <a:cs typeface="Arial"/>
                <a:sym typeface="Arial"/>
              </a:endParaRPr>
            </a:p>
          </p:txBody>
        </p:sp>
        <p:sp>
          <p:nvSpPr>
            <p:cNvPr id="120" name="Google Shape;120;p16"/>
            <p:cNvSpPr/>
            <p:nvPr/>
          </p:nvSpPr>
          <p:spPr>
            <a:xfrm>
              <a:off x="4578" y="2366"/>
              <a:ext cx="12" cy="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800">
                  <a:solidFill>
                    <a:srgbClr val="E4DDD2"/>
                  </a:solidFill>
                  <a:latin typeface="Calibri"/>
                  <a:ea typeface="Calibri"/>
                  <a:cs typeface="Calibri"/>
                  <a:sym typeface="Calibri"/>
                </a:rPr>
                <a:t>.</a:t>
              </a:r>
              <a:endParaRPr sz="2400">
                <a:solidFill>
                  <a:srgbClr val="E4DDD2"/>
                </a:solidFill>
                <a:latin typeface="Arial"/>
                <a:ea typeface="Arial"/>
                <a:cs typeface="Arial"/>
                <a:sym typeface="Arial"/>
              </a:endParaRPr>
            </a:p>
          </p:txBody>
        </p:sp>
        <p:sp>
          <p:nvSpPr>
            <p:cNvPr id="121" name="Google Shape;121;p16"/>
            <p:cNvSpPr/>
            <p:nvPr/>
          </p:nvSpPr>
          <p:spPr>
            <a:xfrm>
              <a:off x="4495" y="2420"/>
              <a:ext cx="35" cy="16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800">
                  <a:solidFill>
                    <a:schemeClr val="dk2"/>
                  </a:solidFill>
                  <a:latin typeface="Calibri"/>
                  <a:ea typeface="Calibri"/>
                  <a:cs typeface="Calibri"/>
                  <a:sym typeface="Calibri"/>
                </a:rPr>
                <a:t>Gen</a:t>
              </a:r>
              <a:endParaRPr sz="2400">
                <a:solidFill>
                  <a:schemeClr val="dk2"/>
                </a:solidFill>
                <a:latin typeface="Arial"/>
                <a:ea typeface="Arial"/>
                <a:cs typeface="Arial"/>
                <a:sym typeface="Arial"/>
              </a:endParaRPr>
            </a:p>
          </p:txBody>
        </p:sp>
        <p:sp>
          <p:nvSpPr>
            <p:cNvPr id="122" name="Google Shape;122;p16"/>
            <p:cNvSpPr/>
            <p:nvPr/>
          </p:nvSpPr>
          <p:spPr>
            <a:xfrm>
              <a:off x="4203" y="1975"/>
              <a:ext cx="51" cy="102"/>
            </a:xfrm>
            <a:custGeom>
              <a:rect b="b" l="l" r="r" t="t"/>
              <a:pathLst>
                <a:path extrusionOk="0" h="102" w="51">
                  <a:moveTo>
                    <a:pt x="0" y="0"/>
                  </a:moveTo>
                  <a:lnTo>
                    <a:pt x="51" y="16"/>
                  </a:lnTo>
                  <a:lnTo>
                    <a:pt x="51" y="86"/>
                  </a:lnTo>
                  <a:lnTo>
                    <a:pt x="0" y="102"/>
                  </a:lnTo>
                  <a:lnTo>
                    <a:pt x="0" y="0"/>
                  </a:lnTo>
                  <a:close/>
                </a:path>
              </a:pathLst>
            </a:custGeom>
            <a:solidFill>
              <a:srgbClr val="C5DBC3"/>
            </a:solidFill>
            <a:ln cap="flat" cmpd="sng" w="11100">
              <a:solidFill>
                <a:srgbClr val="E4DDD2"/>
              </a:solidFill>
              <a:prstDash val="solid"/>
              <a:miter lim="800000"/>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23" name="Google Shape;123;p16"/>
            <p:cNvSpPr/>
            <p:nvPr/>
          </p:nvSpPr>
          <p:spPr>
            <a:xfrm>
              <a:off x="4207" y="1992"/>
              <a:ext cx="47" cy="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800">
                  <a:solidFill>
                    <a:srgbClr val="E4DDD2"/>
                  </a:solidFill>
                  <a:latin typeface="Calibri"/>
                  <a:ea typeface="Calibri"/>
                  <a:cs typeface="Calibri"/>
                  <a:sym typeface="Calibri"/>
                </a:rPr>
                <a:t>+4</a:t>
              </a:r>
              <a:endParaRPr sz="2400">
                <a:solidFill>
                  <a:srgbClr val="E4DDD2"/>
                </a:solidFill>
                <a:latin typeface="Arial"/>
                <a:ea typeface="Arial"/>
                <a:cs typeface="Arial"/>
                <a:sym typeface="Arial"/>
              </a:endParaRPr>
            </a:p>
          </p:txBody>
        </p:sp>
        <p:sp>
          <p:nvSpPr>
            <p:cNvPr id="124" name="Google Shape;124;p16"/>
            <p:cNvSpPr/>
            <p:nvPr/>
          </p:nvSpPr>
          <p:spPr>
            <a:xfrm>
              <a:off x="5270" y="2077"/>
              <a:ext cx="221" cy="186"/>
            </a:xfrm>
            <a:prstGeom prst="rect">
              <a:avLst/>
            </a:prstGeom>
            <a:solidFill>
              <a:srgbClr val="C5DBC3"/>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25" name="Google Shape;125;p16"/>
            <p:cNvSpPr/>
            <p:nvPr/>
          </p:nvSpPr>
          <p:spPr>
            <a:xfrm>
              <a:off x="5270" y="2077"/>
              <a:ext cx="221" cy="186"/>
            </a:xfrm>
            <a:prstGeom prst="rect">
              <a:avLst/>
            </a:prstGeom>
            <a:noFill/>
            <a:ln cap="flat" cmpd="sng" w="11100">
              <a:solidFill>
                <a:srgbClr val="E4DDD2"/>
              </a:solidFill>
              <a:prstDash val="solid"/>
              <a:miter lim="800000"/>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26" name="Google Shape;126;p16"/>
            <p:cNvSpPr/>
            <p:nvPr/>
          </p:nvSpPr>
          <p:spPr>
            <a:xfrm>
              <a:off x="5317" y="2076"/>
              <a:ext cx="59" cy="2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800">
                  <a:solidFill>
                    <a:schemeClr val="dk2"/>
                  </a:solidFill>
                  <a:latin typeface="Calibri"/>
                  <a:ea typeface="Calibri"/>
                  <a:cs typeface="Calibri"/>
                  <a:sym typeface="Calibri"/>
                </a:rPr>
                <a:t>DMEM</a:t>
              </a:r>
              <a:endParaRPr sz="2400">
                <a:solidFill>
                  <a:schemeClr val="dk2"/>
                </a:solidFill>
                <a:latin typeface="Arial"/>
                <a:ea typeface="Arial"/>
                <a:cs typeface="Arial"/>
                <a:sym typeface="Arial"/>
              </a:endParaRPr>
            </a:p>
          </p:txBody>
        </p:sp>
        <p:sp>
          <p:nvSpPr>
            <p:cNvPr id="127" name="Google Shape;127;p16"/>
            <p:cNvSpPr/>
            <p:nvPr/>
          </p:nvSpPr>
          <p:spPr>
            <a:xfrm>
              <a:off x="5423" y="2229"/>
              <a:ext cx="34" cy="34"/>
            </a:xfrm>
            <a:custGeom>
              <a:rect b="b" l="l" r="r" t="t"/>
              <a:pathLst>
                <a:path extrusionOk="0" h="34" w="34">
                  <a:moveTo>
                    <a:pt x="0" y="34"/>
                  </a:moveTo>
                  <a:lnTo>
                    <a:pt x="17" y="0"/>
                  </a:lnTo>
                  <a:lnTo>
                    <a:pt x="34" y="34"/>
                  </a:lnTo>
                  <a:lnTo>
                    <a:pt x="0" y="34"/>
                  </a:lnTo>
                  <a:close/>
                </a:path>
              </a:pathLst>
            </a:custGeom>
            <a:noFill/>
            <a:ln cap="flat" cmpd="sng" w="11100">
              <a:solidFill>
                <a:srgbClr val="E4DDD2"/>
              </a:solidFill>
              <a:prstDash val="solid"/>
              <a:miter lim="800000"/>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28" name="Google Shape;128;p16"/>
            <p:cNvSpPr/>
            <p:nvPr/>
          </p:nvSpPr>
          <p:spPr>
            <a:xfrm>
              <a:off x="4780" y="2128"/>
              <a:ext cx="101" cy="152"/>
            </a:xfrm>
            <a:custGeom>
              <a:rect b="b" l="l" r="r" t="t"/>
              <a:pathLst>
                <a:path extrusionOk="0" h="152" w="101">
                  <a:moveTo>
                    <a:pt x="0" y="0"/>
                  </a:moveTo>
                  <a:lnTo>
                    <a:pt x="101" y="31"/>
                  </a:lnTo>
                  <a:lnTo>
                    <a:pt x="101" y="121"/>
                  </a:lnTo>
                  <a:lnTo>
                    <a:pt x="0" y="152"/>
                  </a:lnTo>
                  <a:lnTo>
                    <a:pt x="0" y="0"/>
                  </a:lnTo>
                  <a:close/>
                </a:path>
              </a:pathLst>
            </a:custGeom>
            <a:solidFill>
              <a:srgbClr val="FFFFFF"/>
            </a:solidFill>
            <a:ln cap="flat" cmpd="sng" w="9525">
              <a:solidFill>
                <a:srgbClr val="000000"/>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29" name="Google Shape;129;p16"/>
            <p:cNvSpPr/>
            <p:nvPr/>
          </p:nvSpPr>
          <p:spPr>
            <a:xfrm>
              <a:off x="4780" y="2128"/>
              <a:ext cx="101" cy="152"/>
            </a:xfrm>
            <a:custGeom>
              <a:rect b="b" l="l" r="r" t="t"/>
              <a:pathLst>
                <a:path extrusionOk="0" h="152" w="101">
                  <a:moveTo>
                    <a:pt x="0" y="0"/>
                  </a:moveTo>
                  <a:lnTo>
                    <a:pt x="101" y="31"/>
                  </a:lnTo>
                  <a:lnTo>
                    <a:pt x="101" y="121"/>
                  </a:lnTo>
                  <a:lnTo>
                    <a:pt x="0" y="152"/>
                  </a:lnTo>
                  <a:lnTo>
                    <a:pt x="0" y="0"/>
                  </a:lnTo>
                  <a:close/>
                </a:path>
              </a:pathLst>
            </a:custGeom>
            <a:solidFill>
              <a:srgbClr val="C5DBC3"/>
            </a:solidFill>
            <a:ln cap="flat" cmpd="sng" w="11100">
              <a:solidFill>
                <a:srgbClr val="E4DDD2"/>
              </a:solidFill>
              <a:prstDash val="solid"/>
              <a:miter lim="800000"/>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chemeClr val="dk2"/>
                </a:solidFill>
                <a:latin typeface="Helvetica Neue"/>
                <a:ea typeface="Helvetica Neue"/>
                <a:cs typeface="Helvetica Neue"/>
                <a:sym typeface="Helvetica Neue"/>
              </a:endParaRPr>
            </a:p>
          </p:txBody>
        </p:sp>
        <p:sp>
          <p:nvSpPr>
            <p:cNvPr id="130" name="Google Shape;130;p16"/>
            <p:cNvSpPr/>
            <p:nvPr/>
          </p:nvSpPr>
          <p:spPr>
            <a:xfrm>
              <a:off x="4783" y="2155"/>
              <a:ext cx="43" cy="1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533">
                  <a:solidFill>
                    <a:schemeClr val="dk2"/>
                  </a:solidFill>
                  <a:latin typeface="Calibri"/>
                  <a:ea typeface="Calibri"/>
                  <a:cs typeface="Calibri"/>
                  <a:sym typeface="Calibri"/>
                </a:rPr>
                <a:t>Branch </a:t>
              </a:r>
              <a:endParaRPr sz="2400">
                <a:solidFill>
                  <a:schemeClr val="dk2"/>
                </a:solidFill>
                <a:latin typeface="Arial"/>
                <a:ea typeface="Arial"/>
                <a:cs typeface="Arial"/>
                <a:sym typeface="Arial"/>
              </a:endParaRPr>
            </a:p>
          </p:txBody>
        </p:sp>
        <p:sp>
          <p:nvSpPr>
            <p:cNvPr id="131" name="Google Shape;131;p16"/>
            <p:cNvSpPr/>
            <p:nvPr/>
          </p:nvSpPr>
          <p:spPr>
            <a:xfrm>
              <a:off x="4783" y="2197"/>
              <a:ext cx="37" cy="1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533">
                  <a:solidFill>
                    <a:schemeClr val="dk2"/>
                  </a:solidFill>
                  <a:latin typeface="Calibri"/>
                  <a:ea typeface="Calibri"/>
                  <a:cs typeface="Calibri"/>
                  <a:sym typeface="Calibri"/>
                </a:rPr>
                <a:t>Comp</a:t>
              </a:r>
              <a:r>
                <a:rPr lang="en-US" sz="533">
                  <a:solidFill>
                    <a:srgbClr val="E4DDD2"/>
                  </a:solidFill>
                  <a:latin typeface="Calibri"/>
                  <a:ea typeface="Calibri"/>
                  <a:cs typeface="Calibri"/>
                  <a:sym typeface="Calibri"/>
                </a:rPr>
                <a:t>.</a:t>
              </a:r>
              <a:endParaRPr sz="2400">
                <a:solidFill>
                  <a:srgbClr val="E4DDD2"/>
                </a:solidFill>
                <a:latin typeface="Arial"/>
                <a:ea typeface="Arial"/>
                <a:cs typeface="Arial"/>
                <a:sym typeface="Arial"/>
              </a:endParaRPr>
            </a:p>
          </p:txBody>
        </p:sp>
        <p:sp>
          <p:nvSpPr>
            <p:cNvPr id="132" name="Google Shape;132;p16"/>
            <p:cNvSpPr/>
            <p:nvPr/>
          </p:nvSpPr>
          <p:spPr>
            <a:xfrm>
              <a:off x="4525" y="1992"/>
              <a:ext cx="186" cy="322"/>
            </a:xfrm>
            <a:prstGeom prst="rect">
              <a:avLst/>
            </a:prstGeom>
            <a:solidFill>
              <a:srgbClr val="C5DBC3"/>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33" name="Google Shape;133;p16"/>
            <p:cNvSpPr/>
            <p:nvPr/>
          </p:nvSpPr>
          <p:spPr>
            <a:xfrm>
              <a:off x="4525" y="1992"/>
              <a:ext cx="186" cy="322"/>
            </a:xfrm>
            <a:prstGeom prst="rect">
              <a:avLst/>
            </a:prstGeom>
            <a:noFill/>
            <a:ln cap="flat" cmpd="sng" w="11100">
              <a:solidFill>
                <a:srgbClr val="E4DDD2"/>
              </a:solidFill>
              <a:prstDash val="solid"/>
              <a:miter lim="800000"/>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34" name="Google Shape;134;p16"/>
            <p:cNvSpPr/>
            <p:nvPr/>
          </p:nvSpPr>
          <p:spPr>
            <a:xfrm>
              <a:off x="4565" y="1992"/>
              <a:ext cx="32" cy="16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800">
                  <a:solidFill>
                    <a:schemeClr val="dk2"/>
                  </a:solidFill>
                  <a:latin typeface="Calibri"/>
                  <a:ea typeface="Calibri"/>
                  <a:cs typeface="Calibri"/>
                  <a:sym typeface="Calibri"/>
                </a:rPr>
                <a:t>Reg</a:t>
              </a:r>
              <a:endParaRPr sz="2400">
                <a:solidFill>
                  <a:schemeClr val="dk2"/>
                </a:solidFill>
                <a:latin typeface="Arial"/>
                <a:ea typeface="Arial"/>
                <a:cs typeface="Arial"/>
                <a:sym typeface="Arial"/>
              </a:endParaRPr>
            </a:p>
          </p:txBody>
        </p:sp>
        <p:sp>
          <p:nvSpPr>
            <p:cNvPr id="135" name="Google Shape;135;p16"/>
            <p:cNvSpPr/>
            <p:nvPr/>
          </p:nvSpPr>
          <p:spPr>
            <a:xfrm>
              <a:off x="4640" y="1992"/>
              <a:ext cx="13" cy="1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800">
                  <a:solidFill>
                    <a:schemeClr val="dk2"/>
                  </a:solidFill>
                  <a:latin typeface="Calibri"/>
                  <a:ea typeface="Calibri"/>
                  <a:cs typeface="Calibri"/>
                  <a:sym typeface="Calibri"/>
                </a:rPr>
                <a:t>[]</a:t>
              </a:r>
              <a:endParaRPr sz="2400">
                <a:solidFill>
                  <a:schemeClr val="dk2"/>
                </a:solidFill>
                <a:latin typeface="Arial"/>
                <a:ea typeface="Arial"/>
                <a:cs typeface="Arial"/>
                <a:sym typeface="Arial"/>
              </a:endParaRPr>
            </a:p>
          </p:txBody>
        </p:sp>
        <p:sp>
          <p:nvSpPr>
            <p:cNvPr id="136" name="Google Shape;136;p16"/>
            <p:cNvSpPr/>
            <p:nvPr/>
          </p:nvSpPr>
          <p:spPr>
            <a:xfrm>
              <a:off x="4661" y="2280"/>
              <a:ext cx="33" cy="34"/>
            </a:xfrm>
            <a:custGeom>
              <a:rect b="b" l="l" r="r" t="t"/>
              <a:pathLst>
                <a:path extrusionOk="0" h="34" w="33">
                  <a:moveTo>
                    <a:pt x="0" y="34"/>
                  </a:moveTo>
                  <a:lnTo>
                    <a:pt x="17" y="0"/>
                  </a:lnTo>
                  <a:lnTo>
                    <a:pt x="33" y="34"/>
                  </a:lnTo>
                  <a:lnTo>
                    <a:pt x="0" y="34"/>
                  </a:lnTo>
                  <a:close/>
                </a:path>
              </a:pathLst>
            </a:custGeom>
            <a:noFill/>
            <a:ln cap="flat" cmpd="sng" w="11100">
              <a:solidFill>
                <a:srgbClr val="E4DDD2"/>
              </a:solidFill>
              <a:prstDash val="solid"/>
              <a:miter lim="800000"/>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37" name="Google Shape;137;p16"/>
            <p:cNvSpPr/>
            <p:nvPr/>
          </p:nvSpPr>
          <p:spPr>
            <a:xfrm>
              <a:off x="4525" y="2171"/>
              <a:ext cx="81" cy="3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533">
                  <a:solidFill>
                    <a:srgbClr val="E4DDD2"/>
                  </a:solidFill>
                  <a:latin typeface="Calibri"/>
                  <a:ea typeface="Calibri"/>
                  <a:cs typeface="Calibri"/>
                  <a:sym typeface="Calibri"/>
                </a:rPr>
                <a:t>AddrA</a:t>
              </a:r>
              <a:endParaRPr sz="2400">
                <a:solidFill>
                  <a:srgbClr val="E4DDD2"/>
                </a:solidFill>
                <a:latin typeface="Arial"/>
                <a:ea typeface="Arial"/>
                <a:cs typeface="Arial"/>
                <a:sym typeface="Arial"/>
              </a:endParaRPr>
            </a:p>
          </p:txBody>
        </p:sp>
        <p:sp>
          <p:nvSpPr>
            <p:cNvPr id="138" name="Google Shape;138;p16"/>
            <p:cNvSpPr/>
            <p:nvPr/>
          </p:nvSpPr>
          <p:spPr>
            <a:xfrm>
              <a:off x="4525" y="2222"/>
              <a:ext cx="36" cy="1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533">
                  <a:solidFill>
                    <a:schemeClr val="dk2"/>
                  </a:solidFill>
                  <a:latin typeface="Calibri"/>
                  <a:ea typeface="Calibri"/>
                  <a:cs typeface="Calibri"/>
                  <a:sym typeface="Calibri"/>
                </a:rPr>
                <a:t>AddrB</a:t>
              </a:r>
              <a:endParaRPr sz="2400">
                <a:solidFill>
                  <a:schemeClr val="dk2"/>
                </a:solidFill>
                <a:latin typeface="Arial"/>
                <a:ea typeface="Arial"/>
                <a:cs typeface="Arial"/>
                <a:sym typeface="Arial"/>
              </a:endParaRPr>
            </a:p>
          </p:txBody>
        </p:sp>
        <p:sp>
          <p:nvSpPr>
            <p:cNvPr id="139" name="Google Shape;139;p16"/>
            <p:cNvSpPr/>
            <p:nvPr/>
          </p:nvSpPr>
          <p:spPr>
            <a:xfrm>
              <a:off x="4627" y="2171"/>
              <a:ext cx="35" cy="1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533">
                  <a:solidFill>
                    <a:schemeClr val="dk2"/>
                  </a:solidFill>
                  <a:latin typeface="Calibri"/>
                  <a:ea typeface="Calibri"/>
                  <a:cs typeface="Calibri"/>
                  <a:sym typeface="Calibri"/>
                </a:rPr>
                <a:t>DataA</a:t>
              </a:r>
              <a:endParaRPr sz="2400">
                <a:solidFill>
                  <a:schemeClr val="dk2"/>
                </a:solidFill>
                <a:latin typeface="Arial"/>
                <a:ea typeface="Arial"/>
                <a:cs typeface="Arial"/>
                <a:sym typeface="Arial"/>
              </a:endParaRPr>
            </a:p>
          </p:txBody>
        </p:sp>
        <p:sp>
          <p:nvSpPr>
            <p:cNvPr id="140" name="Google Shape;140;p16"/>
            <p:cNvSpPr/>
            <p:nvPr/>
          </p:nvSpPr>
          <p:spPr>
            <a:xfrm>
              <a:off x="4525" y="2119"/>
              <a:ext cx="37" cy="1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533">
                  <a:solidFill>
                    <a:schemeClr val="dk2"/>
                  </a:solidFill>
                  <a:latin typeface="Calibri"/>
                  <a:ea typeface="Calibri"/>
                  <a:cs typeface="Calibri"/>
                  <a:sym typeface="Calibri"/>
                </a:rPr>
                <a:t>AddrD</a:t>
              </a:r>
              <a:endParaRPr sz="2400">
                <a:solidFill>
                  <a:schemeClr val="dk2"/>
                </a:solidFill>
                <a:latin typeface="Arial"/>
                <a:ea typeface="Arial"/>
                <a:cs typeface="Arial"/>
                <a:sym typeface="Arial"/>
              </a:endParaRPr>
            </a:p>
          </p:txBody>
        </p:sp>
        <p:sp>
          <p:nvSpPr>
            <p:cNvPr id="141" name="Google Shape;141;p16"/>
            <p:cNvSpPr/>
            <p:nvPr/>
          </p:nvSpPr>
          <p:spPr>
            <a:xfrm>
              <a:off x="4627" y="2222"/>
              <a:ext cx="34" cy="1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533">
                  <a:solidFill>
                    <a:schemeClr val="dk2"/>
                  </a:solidFill>
                  <a:latin typeface="Calibri"/>
                  <a:ea typeface="Calibri"/>
                  <a:cs typeface="Calibri"/>
                  <a:sym typeface="Calibri"/>
                </a:rPr>
                <a:t>DataB</a:t>
              </a:r>
              <a:endParaRPr sz="2400">
                <a:solidFill>
                  <a:schemeClr val="dk2"/>
                </a:solidFill>
                <a:latin typeface="Arial"/>
                <a:ea typeface="Arial"/>
                <a:cs typeface="Arial"/>
                <a:sym typeface="Arial"/>
              </a:endParaRPr>
            </a:p>
          </p:txBody>
        </p:sp>
        <p:sp>
          <p:nvSpPr>
            <p:cNvPr id="142" name="Google Shape;142;p16"/>
            <p:cNvSpPr/>
            <p:nvPr/>
          </p:nvSpPr>
          <p:spPr>
            <a:xfrm>
              <a:off x="4525" y="2051"/>
              <a:ext cx="36" cy="1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533">
                  <a:solidFill>
                    <a:schemeClr val="dk2"/>
                  </a:solidFill>
                  <a:latin typeface="Calibri"/>
                  <a:ea typeface="Calibri"/>
                  <a:cs typeface="Calibri"/>
                  <a:sym typeface="Calibri"/>
                </a:rPr>
                <a:t>DataD</a:t>
              </a:r>
              <a:endParaRPr sz="2400">
                <a:solidFill>
                  <a:schemeClr val="dk2"/>
                </a:solidFill>
                <a:latin typeface="Arial"/>
                <a:ea typeface="Arial"/>
                <a:cs typeface="Arial"/>
                <a:sym typeface="Arial"/>
              </a:endParaRPr>
            </a:p>
          </p:txBody>
        </p:sp>
        <p:sp>
          <p:nvSpPr>
            <p:cNvPr id="143" name="Google Shape;143;p16"/>
            <p:cNvSpPr/>
            <p:nvPr/>
          </p:nvSpPr>
          <p:spPr>
            <a:xfrm>
              <a:off x="5270" y="2128"/>
              <a:ext cx="28" cy="1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533">
                  <a:solidFill>
                    <a:schemeClr val="dk2"/>
                  </a:solidFill>
                  <a:latin typeface="Calibri"/>
                  <a:ea typeface="Calibri"/>
                  <a:cs typeface="Calibri"/>
                  <a:sym typeface="Calibri"/>
                </a:rPr>
                <a:t>Addr</a:t>
              </a:r>
              <a:endParaRPr sz="2400">
                <a:solidFill>
                  <a:schemeClr val="dk2"/>
                </a:solidFill>
                <a:latin typeface="Arial"/>
                <a:ea typeface="Arial"/>
                <a:cs typeface="Arial"/>
                <a:sym typeface="Arial"/>
              </a:endParaRPr>
            </a:p>
          </p:txBody>
        </p:sp>
        <p:sp>
          <p:nvSpPr>
            <p:cNvPr id="144" name="Google Shape;144;p16"/>
            <p:cNvSpPr/>
            <p:nvPr/>
          </p:nvSpPr>
          <p:spPr>
            <a:xfrm>
              <a:off x="5275" y="2188"/>
              <a:ext cx="39" cy="1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533">
                  <a:solidFill>
                    <a:schemeClr val="dk2"/>
                  </a:solidFill>
                  <a:latin typeface="Calibri"/>
                  <a:ea typeface="Calibri"/>
                  <a:cs typeface="Calibri"/>
                  <a:sym typeface="Calibri"/>
                </a:rPr>
                <a:t>DataW</a:t>
              </a:r>
              <a:endParaRPr sz="2400">
                <a:solidFill>
                  <a:schemeClr val="dk2"/>
                </a:solidFill>
                <a:latin typeface="Arial"/>
                <a:ea typeface="Arial"/>
                <a:cs typeface="Arial"/>
                <a:sym typeface="Arial"/>
              </a:endParaRPr>
            </a:p>
          </p:txBody>
        </p:sp>
        <p:sp>
          <p:nvSpPr>
            <p:cNvPr id="145" name="Google Shape;145;p16"/>
            <p:cNvSpPr/>
            <p:nvPr/>
          </p:nvSpPr>
          <p:spPr>
            <a:xfrm>
              <a:off x="5389" y="2145"/>
              <a:ext cx="34" cy="1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533">
                  <a:solidFill>
                    <a:schemeClr val="dk2"/>
                  </a:solidFill>
                  <a:latin typeface="Calibri"/>
                  <a:ea typeface="Calibri"/>
                  <a:cs typeface="Calibri"/>
                  <a:sym typeface="Calibri"/>
                </a:rPr>
                <a:t>DataR</a:t>
              </a:r>
              <a:endParaRPr sz="2400">
                <a:solidFill>
                  <a:schemeClr val="dk2"/>
                </a:solidFill>
                <a:latin typeface="Arial"/>
                <a:ea typeface="Arial"/>
                <a:cs typeface="Arial"/>
                <a:sym typeface="Arial"/>
              </a:endParaRPr>
            </a:p>
          </p:txBody>
        </p:sp>
        <p:sp>
          <p:nvSpPr>
            <p:cNvPr id="146" name="Google Shape;146;p16"/>
            <p:cNvSpPr/>
            <p:nvPr/>
          </p:nvSpPr>
          <p:spPr>
            <a:xfrm>
              <a:off x="5033" y="2026"/>
              <a:ext cx="34" cy="119"/>
            </a:xfrm>
            <a:custGeom>
              <a:rect b="b" l="l" r="r" t="t"/>
              <a:pathLst>
                <a:path extrusionOk="0" h="119" w="34">
                  <a:moveTo>
                    <a:pt x="0" y="0"/>
                  </a:moveTo>
                  <a:lnTo>
                    <a:pt x="34" y="21"/>
                  </a:lnTo>
                  <a:lnTo>
                    <a:pt x="34" y="97"/>
                  </a:lnTo>
                  <a:lnTo>
                    <a:pt x="0" y="119"/>
                  </a:lnTo>
                  <a:lnTo>
                    <a:pt x="0" y="0"/>
                  </a:lnTo>
                  <a:close/>
                </a:path>
              </a:pathLst>
            </a:custGeom>
            <a:solidFill>
              <a:srgbClr val="FFFFFF"/>
            </a:solidFill>
            <a:ln cap="flat" cmpd="sng" w="9525">
              <a:solidFill>
                <a:srgbClr val="000000"/>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47" name="Google Shape;147;p16"/>
            <p:cNvSpPr/>
            <p:nvPr/>
          </p:nvSpPr>
          <p:spPr>
            <a:xfrm>
              <a:off x="5033" y="2026"/>
              <a:ext cx="34" cy="119"/>
            </a:xfrm>
            <a:custGeom>
              <a:rect b="b" l="l" r="r" t="t"/>
              <a:pathLst>
                <a:path extrusionOk="0" h="119" w="34">
                  <a:moveTo>
                    <a:pt x="0" y="0"/>
                  </a:moveTo>
                  <a:lnTo>
                    <a:pt x="34" y="21"/>
                  </a:lnTo>
                  <a:lnTo>
                    <a:pt x="34" y="97"/>
                  </a:lnTo>
                  <a:lnTo>
                    <a:pt x="0" y="119"/>
                  </a:lnTo>
                  <a:lnTo>
                    <a:pt x="0" y="0"/>
                  </a:lnTo>
                  <a:close/>
                </a:path>
              </a:pathLst>
            </a:custGeom>
            <a:solidFill>
              <a:srgbClr val="C5DBC3"/>
            </a:solidFill>
            <a:ln cap="flat" cmpd="sng" w="11100">
              <a:solidFill>
                <a:srgbClr val="E4DDD2"/>
              </a:solidFill>
              <a:prstDash val="solid"/>
              <a:miter lim="800000"/>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chemeClr val="dk2"/>
                </a:solidFill>
                <a:latin typeface="Helvetica Neue"/>
                <a:ea typeface="Helvetica Neue"/>
                <a:cs typeface="Helvetica Neue"/>
                <a:sym typeface="Helvetica Neue"/>
              </a:endParaRPr>
            </a:p>
          </p:txBody>
        </p:sp>
        <p:sp>
          <p:nvSpPr>
            <p:cNvPr id="148" name="Google Shape;148;p16"/>
            <p:cNvSpPr/>
            <p:nvPr/>
          </p:nvSpPr>
          <p:spPr>
            <a:xfrm>
              <a:off x="5037" y="2036"/>
              <a:ext cx="7" cy="3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533">
                  <a:solidFill>
                    <a:schemeClr val="dk2"/>
                  </a:solidFill>
                  <a:latin typeface="Calibri"/>
                  <a:ea typeface="Calibri"/>
                  <a:cs typeface="Calibri"/>
                  <a:sym typeface="Calibri"/>
                </a:rPr>
                <a:t>1</a:t>
              </a:r>
              <a:endParaRPr sz="2400">
                <a:solidFill>
                  <a:schemeClr val="dk2"/>
                </a:solidFill>
                <a:latin typeface="Arial"/>
                <a:ea typeface="Arial"/>
                <a:cs typeface="Arial"/>
                <a:sym typeface="Arial"/>
              </a:endParaRPr>
            </a:p>
          </p:txBody>
        </p:sp>
        <p:sp>
          <p:nvSpPr>
            <p:cNvPr id="149" name="Google Shape;149;p16"/>
            <p:cNvSpPr/>
            <p:nvPr/>
          </p:nvSpPr>
          <p:spPr>
            <a:xfrm>
              <a:off x="5037" y="2091"/>
              <a:ext cx="16" cy="3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533">
                  <a:solidFill>
                    <a:srgbClr val="E4DDD2"/>
                  </a:solidFill>
                  <a:latin typeface="Calibri"/>
                  <a:ea typeface="Calibri"/>
                  <a:cs typeface="Calibri"/>
                  <a:sym typeface="Calibri"/>
                </a:rPr>
                <a:t>0</a:t>
              </a:r>
              <a:endParaRPr sz="2400">
                <a:solidFill>
                  <a:srgbClr val="E4DDD2"/>
                </a:solidFill>
                <a:latin typeface="Arial"/>
                <a:ea typeface="Arial"/>
                <a:cs typeface="Arial"/>
                <a:sym typeface="Arial"/>
              </a:endParaRPr>
            </a:p>
          </p:txBody>
        </p:sp>
        <p:sp>
          <p:nvSpPr>
            <p:cNvPr id="150" name="Google Shape;150;p16"/>
            <p:cNvSpPr/>
            <p:nvPr/>
          </p:nvSpPr>
          <p:spPr>
            <a:xfrm>
              <a:off x="5491" y="2153"/>
              <a:ext cx="81" cy="30"/>
            </a:xfrm>
            <a:custGeom>
              <a:rect b="b" l="l" r="r" t="t"/>
              <a:pathLst>
                <a:path extrusionOk="0" h="352" w="967">
                  <a:moveTo>
                    <a:pt x="3" y="242"/>
                  </a:moveTo>
                  <a:lnTo>
                    <a:pt x="893" y="205"/>
                  </a:lnTo>
                  <a:lnTo>
                    <a:pt x="890" y="129"/>
                  </a:lnTo>
                  <a:lnTo>
                    <a:pt x="0" y="166"/>
                  </a:lnTo>
                  <a:lnTo>
                    <a:pt x="3" y="242"/>
                  </a:lnTo>
                  <a:close/>
                  <a:moveTo>
                    <a:pt x="689" y="341"/>
                  </a:moveTo>
                  <a:lnTo>
                    <a:pt x="967" y="163"/>
                  </a:lnTo>
                  <a:lnTo>
                    <a:pt x="676" y="10"/>
                  </a:lnTo>
                  <a:cubicBezTo>
                    <a:pt x="657" y="0"/>
                    <a:pt x="634" y="7"/>
                    <a:pt x="624" y="25"/>
                  </a:cubicBezTo>
                  <a:cubicBezTo>
                    <a:pt x="615" y="44"/>
                    <a:pt x="622" y="67"/>
                    <a:pt x="640" y="77"/>
                  </a:cubicBezTo>
                  <a:lnTo>
                    <a:pt x="873" y="200"/>
                  </a:lnTo>
                  <a:lnTo>
                    <a:pt x="871" y="135"/>
                  </a:lnTo>
                  <a:lnTo>
                    <a:pt x="648" y="277"/>
                  </a:lnTo>
                  <a:cubicBezTo>
                    <a:pt x="631" y="288"/>
                    <a:pt x="626" y="312"/>
                    <a:pt x="637" y="329"/>
                  </a:cubicBezTo>
                  <a:cubicBezTo>
                    <a:pt x="648" y="347"/>
                    <a:pt x="672" y="352"/>
                    <a:pt x="689" y="341"/>
                  </a:cubicBezTo>
                  <a:close/>
                </a:path>
              </a:pathLst>
            </a:custGeom>
            <a:solidFill>
              <a:srgbClr val="767171"/>
            </a:solidFill>
            <a:ln cap="flat" cmpd="sng" w="9525">
              <a:solidFill>
                <a:srgbClr val="E4DDD2"/>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51" name="Google Shape;151;p16"/>
            <p:cNvSpPr/>
            <p:nvPr/>
          </p:nvSpPr>
          <p:spPr>
            <a:xfrm>
              <a:off x="5575" y="2043"/>
              <a:ext cx="34" cy="169"/>
            </a:xfrm>
            <a:custGeom>
              <a:rect b="b" l="l" r="r" t="t"/>
              <a:pathLst>
                <a:path extrusionOk="0" h="169" w="34">
                  <a:moveTo>
                    <a:pt x="0" y="0"/>
                  </a:moveTo>
                  <a:lnTo>
                    <a:pt x="34" y="21"/>
                  </a:lnTo>
                  <a:lnTo>
                    <a:pt x="34" y="148"/>
                  </a:lnTo>
                  <a:lnTo>
                    <a:pt x="0" y="169"/>
                  </a:lnTo>
                  <a:lnTo>
                    <a:pt x="0" y="0"/>
                  </a:lnTo>
                  <a:close/>
                </a:path>
              </a:pathLst>
            </a:custGeom>
            <a:solidFill>
              <a:srgbClr val="C5DBC3"/>
            </a:solidFill>
            <a:ln cap="flat" cmpd="sng" w="9525">
              <a:solidFill>
                <a:srgbClr val="000000"/>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chemeClr val="dk2"/>
                </a:solidFill>
                <a:latin typeface="Helvetica Neue"/>
                <a:ea typeface="Helvetica Neue"/>
                <a:cs typeface="Helvetica Neue"/>
                <a:sym typeface="Helvetica Neue"/>
              </a:endParaRPr>
            </a:p>
          </p:txBody>
        </p:sp>
        <p:sp>
          <p:nvSpPr>
            <p:cNvPr id="152" name="Google Shape;152;p16"/>
            <p:cNvSpPr/>
            <p:nvPr/>
          </p:nvSpPr>
          <p:spPr>
            <a:xfrm>
              <a:off x="5575" y="2043"/>
              <a:ext cx="34" cy="169"/>
            </a:xfrm>
            <a:custGeom>
              <a:rect b="b" l="l" r="r" t="t"/>
              <a:pathLst>
                <a:path extrusionOk="0" h="169" w="34">
                  <a:moveTo>
                    <a:pt x="0" y="0"/>
                  </a:moveTo>
                  <a:lnTo>
                    <a:pt x="34" y="21"/>
                  </a:lnTo>
                  <a:lnTo>
                    <a:pt x="34" y="148"/>
                  </a:lnTo>
                  <a:lnTo>
                    <a:pt x="0" y="169"/>
                  </a:lnTo>
                  <a:lnTo>
                    <a:pt x="0" y="0"/>
                  </a:lnTo>
                  <a:close/>
                </a:path>
              </a:pathLst>
            </a:custGeom>
            <a:no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53" name="Google Shape;153;p16"/>
            <p:cNvSpPr/>
            <p:nvPr/>
          </p:nvSpPr>
          <p:spPr>
            <a:xfrm>
              <a:off x="5581" y="2154"/>
              <a:ext cx="17" cy="41"/>
            </a:xfrm>
            <a:prstGeom prst="rect">
              <a:avLst/>
            </a:prstGeom>
            <a:noFill/>
            <a:ln cap="flat" cmpd="sng" w="9525">
              <a:solidFill>
                <a:srgbClr val="E4DDD2"/>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54" name="Google Shape;154;p16"/>
            <p:cNvSpPr/>
            <p:nvPr/>
          </p:nvSpPr>
          <p:spPr>
            <a:xfrm>
              <a:off x="5581" y="2154"/>
              <a:ext cx="16" cy="3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533">
                  <a:solidFill>
                    <a:srgbClr val="E4DDD2"/>
                  </a:solidFill>
                  <a:latin typeface="Calibri"/>
                  <a:ea typeface="Calibri"/>
                  <a:cs typeface="Calibri"/>
                  <a:sym typeface="Calibri"/>
                </a:rPr>
                <a:t>0</a:t>
              </a:r>
              <a:endParaRPr sz="2400">
                <a:solidFill>
                  <a:srgbClr val="E4DDD2"/>
                </a:solidFill>
                <a:latin typeface="Arial"/>
                <a:ea typeface="Arial"/>
                <a:cs typeface="Arial"/>
                <a:sym typeface="Arial"/>
              </a:endParaRPr>
            </a:p>
          </p:txBody>
        </p:sp>
        <p:sp>
          <p:nvSpPr>
            <p:cNvPr id="155" name="Google Shape;155;p16"/>
            <p:cNvSpPr/>
            <p:nvPr/>
          </p:nvSpPr>
          <p:spPr>
            <a:xfrm>
              <a:off x="5581" y="2106"/>
              <a:ext cx="17" cy="41"/>
            </a:xfrm>
            <a:prstGeom prst="rect">
              <a:avLst/>
            </a:prstGeom>
            <a:noFill/>
            <a:ln cap="flat" cmpd="sng" w="9525">
              <a:solidFill>
                <a:srgbClr val="E4DDD2"/>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56" name="Google Shape;156;p16"/>
            <p:cNvSpPr/>
            <p:nvPr/>
          </p:nvSpPr>
          <p:spPr>
            <a:xfrm>
              <a:off x="5581" y="2106"/>
              <a:ext cx="16" cy="3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533">
                  <a:solidFill>
                    <a:srgbClr val="E4DDD2"/>
                  </a:solidFill>
                  <a:latin typeface="Calibri"/>
                  <a:ea typeface="Calibri"/>
                  <a:cs typeface="Calibri"/>
                  <a:sym typeface="Calibri"/>
                </a:rPr>
                <a:t>1</a:t>
              </a:r>
              <a:endParaRPr sz="2400">
                <a:solidFill>
                  <a:srgbClr val="E4DDD2"/>
                </a:solidFill>
                <a:latin typeface="Arial"/>
                <a:ea typeface="Arial"/>
                <a:cs typeface="Arial"/>
                <a:sym typeface="Arial"/>
              </a:endParaRPr>
            </a:p>
          </p:txBody>
        </p:sp>
        <p:sp>
          <p:nvSpPr>
            <p:cNvPr id="157" name="Google Shape;157;p16"/>
            <p:cNvSpPr/>
            <p:nvPr/>
          </p:nvSpPr>
          <p:spPr>
            <a:xfrm>
              <a:off x="5581" y="2058"/>
              <a:ext cx="16" cy="3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533">
                  <a:solidFill>
                    <a:srgbClr val="E4DDD2"/>
                  </a:solidFill>
                  <a:latin typeface="Calibri"/>
                  <a:ea typeface="Calibri"/>
                  <a:cs typeface="Calibri"/>
                  <a:sym typeface="Calibri"/>
                </a:rPr>
                <a:t>2</a:t>
              </a:r>
              <a:endParaRPr sz="2400">
                <a:solidFill>
                  <a:srgbClr val="E4DDD2"/>
                </a:solidFill>
                <a:latin typeface="Arial"/>
                <a:ea typeface="Arial"/>
                <a:cs typeface="Arial"/>
                <a:sym typeface="Arial"/>
              </a:endParaRPr>
            </a:p>
          </p:txBody>
        </p:sp>
        <p:sp>
          <p:nvSpPr>
            <p:cNvPr id="158" name="Google Shape;158;p16"/>
            <p:cNvSpPr/>
            <p:nvPr/>
          </p:nvSpPr>
          <p:spPr>
            <a:xfrm>
              <a:off x="5186" y="2135"/>
              <a:ext cx="84" cy="30"/>
            </a:xfrm>
            <a:custGeom>
              <a:rect b="b" l="l" r="r" t="t"/>
              <a:pathLst>
                <a:path extrusionOk="0" h="352" w="1003">
                  <a:moveTo>
                    <a:pt x="5" y="254"/>
                  </a:moveTo>
                  <a:lnTo>
                    <a:pt x="930" y="201"/>
                  </a:lnTo>
                  <a:lnTo>
                    <a:pt x="925" y="125"/>
                  </a:lnTo>
                  <a:lnTo>
                    <a:pt x="0" y="178"/>
                  </a:lnTo>
                  <a:lnTo>
                    <a:pt x="5" y="254"/>
                  </a:lnTo>
                  <a:close/>
                  <a:moveTo>
                    <a:pt x="728" y="340"/>
                  </a:moveTo>
                  <a:lnTo>
                    <a:pt x="1003" y="158"/>
                  </a:lnTo>
                  <a:lnTo>
                    <a:pt x="709" y="9"/>
                  </a:lnTo>
                  <a:lnTo>
                    <a:pt x="709" y="9"/>
                  </a:lnTo>
                  <a:cubicBezTo>
                    <a:pt x="691" y="0"/>
                    <a:pt x="668" y="7"/>
                    <a:pt x="658" y="26"/>
                  </a:cubicBezTo>
                  <a:cubicBezTo>
                    <a:pt x="649" y="45"/>
                    <a:pt x="656" y="68"/>
                    <a:pt x="675" y="77"/>
                  </a:cubicBezTo>
                  <a:lnTo>
                    <a:pt x="910" y="197"/>
                  </a:lnTo>
                  <a:lnTo>
                    <a:pt x="906" y="131"/>
                  </a:lnTo>
                  <a:lnTo>
                    <a:pt x="686" y="277"/>
                  </a:lnTo>
                  <a:cubicBezTo>
                    <a:pt x="669" y="289"/>
                    <a:pt x="664" y="312"/>
                    <a:pt x="676" y="330"/>
                  </a:cubicBezTo>
                  <a:cubicBezTo>
                    <a:pt x="687" y="347"/>
                    <a:pt x="711" y="352"/>
                    <a:pt x="728" y="340"/>
                  </a:cubicBezTo>
                  <a:close/>
                </a:path>
              </a:pathLst>
            </a:custGeom>
            <a:solidFill>
              <a:srgbClr val="767171"/>
            </a:solidFill>
            <a:ln cap="flat" cmpd="sng" w="9525">
              <a:solidFill>
                <a:srgbClr val="E4DDD2"/>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cxnSp>
          <p:nvCxnSpPr>
            <p:cNvPr id="159" name="Google Shape;159;p16"/>
            <p:cNvCxnSpPr/>
            <p:nvPr/>
          </p:nvCxnSpPr>
          <p:spPr>
            <a:xfrm rot="10800000">
              <a:off x="5220" y="1946"/>
              <a:ext cx="0" cy="206"/>
            </a:xfrm>
            <a:prstGeom prst="straightConnector1">
              <a:avLst/>
            </a:prstGeom>
            <a:noFill/>
            <a:ln cap="flat" cmpd="sng" w="11100">
              <a:solidFill>
                <a:srgbClr val="E4DDD2"/>
              </a:solidFill>
              <a:prstDash val="solid"/>
              <a:miter lim="800000"/>
              <a:headEnd len="sm" w="sm" type="none"/>
              <a:tailEnd len="sm" w="sm" type="none"/>
            </a:ln>
          </p:spPr>
        </p:cxnSp>
        <p:sp>
          <p:nvSpPr>
            <p:cNvPr id="160" name="Google Shape;160;p16"/>
            <p:cNvSpPr/>
            <p:nvPr/>
          </p:nvSpPr>
          <p:spPr>
            <a:xfrm>
              <a:off x="3915" y="1943"/>
              <a:ext cx="1660" cy="200"/>
            </a:xfrm>
            <a:custGeom>
              <a:rect b="b" l="l" r="r" t="t"/>
              <a:pathLst>
                <a:path extrusionOk="0" h="2360" w="19601">
                  <a:moveTo>
                    <a:pt x="0" y="0"/>
                  </a:moveTo>
                  <a:lnTo>
                    <a:pt x="18990" y="0"/>
                  </a:lnTo>
                  <a:lnTo>
                    <a:pt x="18990" y="2184"/>
                  </a:lnTo>
                  <a:lnTo>
                    <a:pt x="18952" y="2146"/>
                  </a:lnTo>
                  <a:lnTo>
                    <a:pt x="19525" y="2146"/>
                  </a:lnTo>
                  <a:lnTo>
                    <a:pt x="19525" y="2222"/>
                  </a:lnTo>
                  <a:lnTo>
                    <a:pt x="18914" y="2222"/>
                  </a:lnTo>
                  <a:lnTo>
                    <a:pt x="18914" y="38"/>
                  </a:lnTo>
                  <a:lnTo>
                    <a:pt x="18952" y="76"/>
                  </a:lnTo>
                  <a:lnTo>
                    <a:pt x="0" y="76"/>
                  </a:lnTo>
                  <a:lnTo>
                    <a:pt x="0" y="0"/>
                  </a:lnTo>
                  <a:close/>
                  <a:moveTo>
                    <a:pt x="19316" y="2018"/>
                  </a:moveTo>
                  <a:lnTo>
                    <a:pt x="19601" y="2184"/>
                  </a:lnTo>
                  <a:lnTo>
                    <a:pt x="19316" y="2349"/>
                  </a:lnTo>
                  <a:cubicBezTo>
                    <a:pt x="19298" y="2360"/>
                    <a:pt x="19275" y="2354"/>
                    <a:pt x="19264" y="2336"/>
                  </a:cubicBezTo>
                  <a:cubicBezTo>
                    <a:pt x="19254" y="2318"/>
                    <a:pt x="19260" y="2294"/>
                    <a:pt x="19278" y="2284"/>
                  </a:cubicBezTo>
                  <a:lnTo>
                    <a:pt x="19506" y="2151"/>
                  </a:lnTo>
                  <a:lnTo>
                    <a:pt x="19506" y="2216"/>
                  </a:lnTo>
                  <a:lnTo>
                    <a:pt x="19278" y="2083"/>
                  </a:lnTo>
                  <a:cubicBezTo>
                    <a:pt x="19260" y="2073"/>
                    <a:pt x="19254" y="2050"/>
                    <a:pt x="19264" y="2031"/>
                  </a:cubicBezTo>
                  <a:cubicBezTo>
                    <a:pt x="19275" y="2013"/>
                    <a:pt x="19298" y="2007"/>
                    <a:pt x="19316" y="2018"/>
                  </a:cubicBezTo>
                  <a:close/>
                </a:path>
              </a:pathLst>
            </a:custGeom>
            <a:solidFill>
              <a:srgbClr val="767171"/>
            </a:solidFill>
            <a:ln cap="flat" cmpd="sng" w="9525">
              <a:solidFill>
                <a:srgbClr val="E4DDD2"/>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61" name="Google Shape;161;p16"/>
            <p:cNvSpPr/>
            <p:nvPr/>
          </p:nvSpPr>
          <p:spPr>
            <a:xfrm>
              <a:off x="3912" y="1945"/>
              <a:ext cx="54" cy="163"/>
            </a:xfrm>
            <a:custGeom>
              <a:rect b="b" l="l" r="r" t="t"/>
              <a:pathLst>
                <a:path extrusionOk="0" h="7665" w="2553">
                  <a:moveTo>
                    <a:pt x="0" y="0"/>
                  </a:moveTo>
                  <a:lnTo>
                    <a:pt x="0" y="6835"/>
                  </a:lnTo>
                  <a:lnTo>
                    <a:pt x="2270" y="6835"/>
                  </a:lnTo>
                  <a:lnTo>
                    <a:pt x="2270" y="6531"/>
                  </a:lnTo>
                  <a:lnTo>
                    <a:pt x="152" y="6531"/>
                  </a:lnTo>
                  <a:lnTo>
                    <a:pt x="304" y="6683"/>
                  </a:lnTo>
                  <a:lnTo>
                    <a:pt x="304" y="0"/>
                  </a:lnTo>
                  <a:lnTo>
                    <a:pt x="0" y="0"/>
                  </a:lnTo>
                  <a:close/>
                  <a:moveTo>
                    <a:pt x="1710" y="7591"/>
                  </a:moveTo>
                  <a:lnTo>
                    <a:pt x="2553" y="6581"/>
                  </a:lnTo>
                  <a:lnTo>
                    <a:pt x="1258" y="6344"/>
                  </a:lnTo>
                  <a:cubicBezTo>
                    <a:pt x="1176" y="6329"/>
                    <a:pt x="1096" y="6384"/>
                    <a:pt x="1081" y="6466"/>
                  </a:cubicBezTo>
                  <a:cubicBezTo>
                    <a:pt x="1066" y="6549"/>
                    <a:pt x="1121" y="6628"/>
                    <a:pt x="1204" y="6643"/>
                  </a:cubicBezTo>
                  <a:lnTo>
                    <a:pt x="2242" y="6833"/>
                  </a:lnTo>
                  <a:lnTo>
                    <a:pt x="2153" y="6586"/>
                  </a:lnTo>
                  <a:lnTo>
                    <a:pt x="1477" y="7397"/>
                  </a:lnTo>
                  <a:cubicBezTo>
                    <a:pt x="1423" y="7461"/>
                    <a:pt x="1431" y="7557"/>
                    <a:pt x="1496" y="7611"/>
                  </a:cubicBezTo>
                  <a:cubicBezTo>
                    <a:pt x="1560" y="7665"/>
                    <a:pt x="1656" y="7656"/>
                    <a:pt x="1710" y="7591"/>
                  </a:cubicBezTo>
                  <a:close/>
                </a:path>
              </a:pathLst>
            </a:custGeom>
            <a:solidFill>
              <a:srgbClr val="767171"/>
            </a:solidFill>
            <a:ln cap="flat" cmpd="sng" w="9525">
              <a:solidFill>
                <a:srgbClr val="E4DDD2"/>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62" name="Google Shape;162;p16"/>
            <p:cNvSpPr/>
            <p:nvPr/>
          </p:nvSpPr>
          <p:spPr>
            <a:xfrm>
              <a:off x="3966" y="2060"/>
              <a:ext cx="34" cy="119"/>
            </a:xfrm>
            <a:custGeom>
              <a:rect b="b" l="l" r="r" t="t"/>
              <a:pathLst>
                <a:path extrusionOk="0" h="119" w="34">
                  <a:moveTo>
                    <a:pt x="0" y="0"/>
                  </a:moveTo>
                  <a:lnTo>
                    <a:pt x="34" y="21"/>
                  </a:lnTo>
                  <a:lnTo>
                    <a:pt x="34" y="97"/>
                  </a:lnTo>
                  <a:lnTo>
                    <a:pt x="0" y="119"/>
                  </a:lnTo>
                  <a:lnTo>
                    <a:pt x="0" y="0"/>
                  </a:lnTo>
                  <a:close/>
                </a:path>
              </a:pathLst>
            </a:custGeom>
            <a:solidFill>
              <a:srgbClr val="C5DBC3"/>
            </a:solidFill>
            <a:ln cap="flat" cmpd="sng" w="9525">
              <a:solidFill>
                <a:srgbClr val="000000"/>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chemeClr val="dk2"/>
                </a:solidFill>
                <a:latin typeface="Helvetica Neue"/>
                <a:ea typeface="Helvetica Neue"/>
                <a:cs typeface="Helvetica Neue"/>
                <a:sym typeface="Helvetica Neue"/>
              </a:endParaRPr>
            </a:p>
          </p:txBody>
        </p:sp>
        <p:sp>
          <p:nvSpPr>
            <p:cNvPr id="163" name="Google Shape;163;p16"/>
            <p:cNvSpPr/>
            <p:nvPr/>
          </p:nvSpPr>
          <p:spPr>
            <a:xfrm>
              <a:off x="3966" y="2060"/>
              <a:ext cx="34" cy="119"/>
            </a:xfrm>
            <a:custGeom>
              <a:rect b="b" l="l" r="r" t="t"/>
              <a:pathLst>
                <a:path extrusionOk="0" h="119" w="34">
                  <a:moveTo>
                    <a:pt x="0" y="0"/>
                  </a:moveTo>
                  <a:lnTo>
                    <a:pt x="34" y="21"/>
                  </a:lnTo>
                  <a:lnTo>
                    <a:pt x="34" y="97"/>
                  </a:lnTo>
                  <a:lnTo>
                    <a:pt x="0" y="119"/>
                  </a:lnTo>
                  <a:lnTo>
                    <a:pt x="0" y="0"/>
                  </a:lnTo>
                  <a:close/>
                </a:path>
              </a:pathLst>
            </a:custGeom>
            <a:no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64" name="Google Shape;164;p16"/>
            <p:cNvSpPr/>
            <p:nvPr/>
          </p:nvSpPr>
          <p:spPr>
            <a:xfrm>
              <a:off x="3970" y="2068"/>
              <a:ext cx="7" cy="3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533">
                  <a:solidFill>
                    <a:schemeClr val="dk2"/>
                  </a:solidFill>
                  <a:latin typeface="Calibri"/>
                  <a:ea typeface="Calibri"/>
                  <a:cs typeface="Calibri"/>
                  <a:sym typeface="Calibri"/>
                </a:rPr>
                <a:t>1</a:t>
              </a:r>
              <a:endParaRPr sz="2400">
                <a:solidFill>
                  <a:schemeClr val="dk2"/>
                </a:solidFill>
                <a:latin typeface="Arial"/>
                <a:ea typeface="Arial"/>
                <a:cs typeface="Arial"/>
                <a:sym typeface="Arial"/>
              </a:endParaRPr>
            </a:p>
          </p:txBody>
        </p:sp>
        <p:sp>
          <p:nvSpPr>
            <p:cNvPr id="165" name="Google Shape;165;p16"/>
            <p:cNvSpPr/>
            <p:nvPr/>
          </p:nvSpPr>
          <p:spPr>
            <a:xfrm>
              <a:off x="3970" y="2124"/>
              <a:ext cx="18" cy="41"/>
            </a:xfrm>
            <a:prstGeom prst="rect">
              <a:avLst/>
            </a:prstGeom>
            <a:noFill/>
            <a:ln cap="flat" cmpd="sng" w="9525">
              <a:solidFill>
                <a:srgbClr val="E4DDD2"/>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66" name="Google Shape;166;p16"/>
            <p:cNvSpPr/>
            <p:nvPr/>
          </p:nvSpPr>
          <p:spPr>
            <a:xfrm>
              <a:off x="3970" y="2125"/>
              <a:ext cx="16" cy="3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533">
                  <a:solidFill>
                    <a:srgbClr val="E4DDD2"/>
                  </a:solidFill>
                  <a:latin typeface="Calibri"/>
                  <a:ea typeface="Calibri"/>
                  <a:cs typeface="Calibri"/>
                  <a:sym typeface="Calibri"/>
                </a:rPr>
                <a:t>0</a:t>
              </a:r>
              <a:endParaRPr sz="2400">
                <a:solidFill>
                  <a:srgbClr val="E4DDD2"/>
                </a:solidFill>
                <a:latin typeface="Arial"/>
                <a:ea typeface="Arial"/>
                <a:cs typeface="Arial"/>
                <a:sym typeface="Arial"/>
              </a:endParaRPr>
            </a:p>
          </p:txBody>
        </p:sp>
        <p:cxnSp>
          <p:nvCxnSpPr>
            <p:cNvPr id="167" name="Google Shape;167;p16"/>
            <p:cNvCxnSpPr/>
            <p:nvPr/>
          </p:nvCxnSpPr>
          <p:spPr>
            <a:xfrm>
              <a:off x="4000" y="2119"/>
              <a:ext cx="34" cy="0"/>
            </a:xfrm>
            <a:prstGeom prst="straightConnector1">
              <a:avLst/>
            </a:prstGeom>
            <a:noFill/>
            <a:ln cap="flat" cmpd="sng" w="11100">
              <a:solidFill>
                <a:srgbClr val="E4DDD2"/>
              </a:solidFill>
              <a:prstDash val="solid"/>
              <a:miter lim="800000"/>
              <a:headEnd len="sm" w="sm" type="none"/>
              <a:tailEnd len="sm" w="sm" type="none"/>
            </a:ln>
          </p:spPr>
        </p:cxnSp>
        <p:sp>
          <p:nvSpPr>
            <p:cNvPr id="168" name="Google Shape;168;p16"/>
            <p:cNvSpPr/>
            <p:nvPr/>
          </p:nvSpPr>
          <p:spPr>
            <a:xfrm>
              <a:off x="4115" y="2116"/>
              <a:ext cx="71" cy="86"/>
            </a:xfrm>
            <a:custGeom>
              <a:rect b="b" l="l" r="r" t="t"/>
              <a:pathLst>
                <a:path extrusionOk="0" h="4058" w="3364">
                  <a:moveTo>
                    <a:pt x="0" y="0"/>
                  </a:moveTo>
                  <a:lnTo>
                    <a:pt x="1834" y="0"/>
                  </a:lnTo>
                  <a:lnTo>
                    <a:pt x="1834" y="3352"/>
                  </a:lnTo>
                  <a:lnTo>
                    <a:pt x="1682" y="3200"/>
                  </a:lnTo>
                  <a:lnTo>
                    <a:pt x="3063" y="3200"/>
                  </a:lnTo>
                  <a:lnTo>
                    <a:pt x="3063" y="3504"/>
                  </a:lnTo>
                  <a:lnTo>
                    <a:pt x="1530" y="3504"/>
                  </a:lnTo>
                  <a:lnTo>
                    <a:pt x="1530" y="152"/>
                  </a:lnTo>
                  <a:lnTo>
                    <a:pt x="1682" y="304"/>
                  </a:lnTo>
                  <a:lnTo>
                    <a:pt x="0" y="304"/>
                  </a:lnTo>
                  <a:lnTo>
                    <a:pt x="0" y="0"/>
                  </a:lnTo>
                  <a:close/>
                  <a:moveTo>
                    <a:pt x="2227" y="2689"/>
                  </a:moveTo>
                  <a:lnTo>
                    <a:pt x="3364" y="3352"/>
                  </a:lnTo>
                  <a:lnTo>
                    <a:pt x="2227" y="4016"/>
                  </a:lnTo>
                  <a:cubicBezTo>
                    <a:pt x="2155" y="4058"/>
                    <a:pt x="2062" y="4034"/>
                    <a:pt x="2019" y="3961"/>
                  </a:cubicBezTo>
                  <a:cubicBezTo>
                    <a:pt x="1977" y="3889"/>
                    <a:pt x="2002" y="3795"/>
                    <a:pt x="2074" y="3753"/>
                  </a:cubicBezTo>
                  <a:lnTo>
                    <a:pt x="2986" y="3221"/>
                  </a:lnTo>
                  <a:lnTo>
                    <a:pt x="2986" y="3484"/>
                  </a:lnTo>
                  <a:lnTo>
                    <a:pt x="2074" y="2952"/>
                  </a:lnTo>
                  <a:cubicBezTo>
                    <a:pt x="2002" y="2909"/>
                    <a:pt x="1977" y="2816"/>
                    <a:pt x="2019" y="2744"/>
                  </a:cubicBezTo>
                  <a:cubicBezTo>
                    <a:pt x="2062" y="2671"/>
                    <a:pt x="2155" y="2647"/>
                    <a:pt x="2227" y="2689"/>
                  </a:cubicBezTo>
                  <a:close/>
                </a:path>
              </a:pathLst>
            </a:custGeom>
            <a:solidFill>
              <a:srgbClr val="767171"/>
            </a:solidFill>
            <a:ln cap="flat" cmpd="sng" w="9525">
              <a:solidFill>
                <a:srgbClr val="E4DDD2"/>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69" name="Google Shape;169;p16"/>
            <p:cNvSpPr/>
            <p:nvPr/>
          </p:nvSpPr>
          <p:spPr>
            <a:xfrm>
              <a:off x="4108" y="2012"/>
              <a:ext cx="89" cy="111"/>
            </a:xfrm>
            <a:custGeom>
              <a:rect b="b" l="l" r="r" t="t"/>
              <a:pathLst>
                <a:path extrusionOk="0" h="5257" w="4164">
                  <a:moveTo>
                    <a:pt x="0" y="5257"/>
                  </a:moveTo>
                  <a:lnTo>
                    <a:pt x="2234" y="5257"/>
                  </a:lnTo>
                  <a:lnTo>
                    <a:pt x="2234" y="705"/>
                  </a:lnTo>
                  <a:lnTo>
                    <a:pt x="2082" y="857"/>
                  </a:lnTo>
                  <a:lnTo>
                    <a:pt x="3863" y="857"/>
                  </a:lnTo>
                  <a:lnTo>
                    <a:pt x="3863" y="553"/>
                  </a:lnTo>
                  <a:lnTo>
                    <a:pt x="1930" y="553"/>
                  </a:lnTo>
                  <a:lnTo>
                    <a:pt x="1930" y="5105"/>
                  </a:lnTo>
                  <a:lnTo>
                    <a:pt x="2082" y="4953"/>
                  </a:lnTo>
                  <a:lnTo>
                    <a:pt x="0" y="4953"/>
                  </a:lnTo>
                  <a:lnTo>
                    <a:pt x="0" y="5257"/>
                  </a:lnTo>
                  <a:close/>
                  <a:moveTo>
                    <a:pt x="3027" y="1369"/>
                  </a:moveTo>
                  <a:lnTo>
                    <a:pt x="4164" y="705"/>
                  </a:lnTo>
                  <a:lnTo>
                    <a:pt x="3027" y="42"/>
                  </a:lnTo>
                  <a:cubicBezTo>
                    <a:pt x="2955" y="0"/>
                    <a:pt x="2862" y="24"/>
                    <a:pt x="2819" y="97"/>
                  </a:cubicBezTo>
                  <a:cubicBezTo>
                    <a:pt x="2777" y="169"/>
                    <a:pt x="2802" y="262"/>
                    <a:pt x="2874" y="305"/>
                  </a:cubicBezTo>
                  <a:lnTo>
                    <a:pt x="3786" y="837"/>
                  </a:lnTo>
                  <a:lnTo>
                    <a:pt x="3786" y="574"/>
                  </a:lnTo>
                  <a:lnTo>
                    <a:pt x="2874" y="1106"/>
                  </a:lnTo>
                  <a:cubicBezTo>
                    <a:pt x="2802" y="1148"/>
                    <a:pt x="2777" y="1242"/>
                    <a:pt x="2819" y="1314"/>
                  </a:cubicBezTo>
                  <a:cubicBezTo>
                    <a:pt x="2862" y="1387"/>
                    <a:pt x="2955" y="1411"/>
                    <a:pt x="3027" y="1369"/>
                  </a:cubicBezTo>
                  <a:close/>
                </a:path>
              </a:pathLst>
            </a:custGeom>
            <a:solidFill>
              <a:srgbClr val="767171"/>
            </a:solidFill>
            <a:ln cap="flat" cmpd="sng" w="9525">
              <a:solidFill>
                <a:srgbClr val="E4DDD2"/>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70" name="Google Shape;170;p16"/>
            <p:cNvSpPr/>
            <p:nvPr/>
          </p:nvSpPr>
          <p:spPr>
            <a:xfrm>
              <a:off x="4254" y="1924"/>
              <a:ext cx="68" cy="102"/>
            </a:xfrm>
            <a:custGeom>
              <a:rect b="b" l="l" r="r" t="t"/>
              <a:pathLst>
                <a:path extrusionOk="0" h="102" w="68">
                  <a:moveTo>
                    <a:pt x="0" y="102"/>
                  </a:moveTo>
                  <a:lnTo>
                    <a:pt x="68" y="102"/>
                  </a:lnTo>
                  <a:lnTo>
                    <a:pt x="68" y="0"/>
                  </a:lnTo>
                </a:path>
              </a:pathLst>
            </a:custGeom>
            <a:noFill/>
            <a:ln cap="flat" cmpd="sng" w="11100">
              <a:solidFill>
                <a:srgbClr val="E4DDD2"/>
              </a:solidFill>
              <a:prstDash val="solid"/>
              <a:miter lim="800000"/>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71" name="Google Shape;171;p16"/>
            <p:cNvSpPr/>
            <p:nvPr/>
          </p:nvSpPr>
          <p:spPr>
            <a:xfrm>
              <a:off x="4322" y="1921"/>
              <a:ext cx="1253" cy="171"/>
            </a:xfrm>
            <a:custGeom>
              <a:rect b="b" l="l" r="r" t="t"/>
              <a:pathLst>
                <a:path extrusionOk="0" h="2015" w="14801">
                  <a:moveTo>
                    <a:pt x="0" y="0"/>
                  </a:moveTo>
                  <a:lnTo>
                    <a:pt x="14418" y="0"/>
                  </a:lnTo>
                  <a:lnTo>
                    <a:pt x="14418" y="1838"/>
                  </a:lnTo>
                  <a:lnTo>
                    <a:pt x="14380" y="1800"/>
                  </a:lnTo>
                  <a:lnTo>
                    <a:pt x="14725" y="1800"/>
                  </a:lnTo>
                  <a:lnTo>
                    <a:pt x="14725" y="1876"/>
                  </a:lnTo>
                  <a:lnTo>
                    <a:pt x="14342" y="1876"/>
                  </a:lnTo>
                  <a:lnTo>
                    <a:pt x="14342" y="38"/>
                  </a:lnTo>
                  <a:lnTo>
                    <a:pt x="14380" y="76"/>
                  </a:lnTo>
                  <a:lnTo>
                    <a:pt x="0" y="76"/>
                  </a:lnTo>
                  <a:lnTo>
                    <a:pt x="0" y="0"/>
                  </a:lnTo>
                  <a:close/>
                  <a:moveTo>
                    <a:pt x="14516" y="1673"/>
                  </a:moveTo>
                  <a:lnTo>
                    <a:pt x="14801" y="1838"/>
                  </a:lnTo>
                  <a:lnTo>
                    <a:pt x="14516" y="2004"/>
                  </a:lnTo>
                  <a:cubicBezTo>
                    <a:pt x="14498" y="2015"/>
                    <a:pt x="14475" y="2009"/>
                    <a:pt x="14464" y="1991"/>
                  </a:cubicBezTo>
                  <a:cubicBezTo>
                    <a:pt x="14454" y="1972"/>
                    <a:pt x="14460" y="1949"/>
                    <a:pt x="14478" y="1939"/>
                  </a:cubicBezTo>
                  <a:lnTo>
                    <a:pt x="14706" y="1806"/>
                  </a:lnTo>
                  <a:lnTo>
                    <a:pt x="14706" y="1871"/>
                  </a:lnTo>
                  <a:lnTo>
                    <a:pt x="14478" y="1738"/>
                  </a:lnTo>
                  <a:cubicBezTo>
                    <a:pt x="14460" y="1728"/>
                    <a:pt x="14454" y="1704"/>
                    <a:pt x="14464" y="1686"/>
                  </a:cubicBezTo>
                  <a:cubicBezTo>
                    <a:pt x="14475" y="1668"/>
                    <a:pt x="14498" y="1662"/>
                    <a:pt x="14516" y="1673"/>
                  </a:cubicBezTo>
                  <a:close/>
                </a:path>
              </a:pathLst>
            </a:custGeom>
            <a:solidFill>
              <a:srgbClr val="767171"/>
            </a:solidFill>
            <a:ln cap="flat" cmpd="sng" w="9525">
              <a:solidFill>
                <a:srgbClr val="E4DDD2"/>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72" name="Google Shape;172;p16"/>
            <p:cNvSpPr/>
            <p:nvPr/>
          </p:nvSpPr>
          <p:spPr>
            <a:xfrm>
              <a:off x="3876" y="1921"/>
              <a:ext cx="446" cy="239"/>
            </a:xfrm>
            <a:custGeom>
              <a:rect b="b" l="l" r="r" t="t"/>
              <a:pathLst>
                <a:path extrusionOk="0" h="11258" w="21052">
                  <a:moveTo>
                    <a:pt x="21052" y="0"/>
                  </a:moveTo>
                  <a:lnTo>
                    <a:pt x="0" y="0"/>
                  </a:lnTo>
                  <a:lnTo>
                    <a:pt x="0" y="10704"/>
                  </a:lnTo>
                  <a:lnTo>
                    <a:pt x="3952" y="10704"/>
                  </a:lnTo>
                  <a:lnTo>
                    <a:pt x="3952" y="10400"/>
                  </a:lnTo>
                  <a:lnTo>
                    <a:pt x="152" y="10400"/>
                  </a:lnTo>
                  <a:lnTo>
                    <a:pt x="304" y="10552"/>
                  </a:lnTo>
                  <a:lnTo>
                    <a:pt x="304" y="152"/>
                  </a:lnTo>
                  <a:lnTo>
                    <a:pt x="152" y="304"/>
                  </a:lnTo>
                  <a:lnTo>
                    <a:pt x="21052" y="304"/>
                  </a:lnTo>
                  <a:lnTo>
                    <a:pt x="21052" y="0"/>
                  </a:lnTo>
                  <a:close/>
                  <a:moveTo>
                    <a:pt x="3116" y="11216"/>
                  </a:moveTo>
                  <a:lnTo>
                    <a:pt x="4253" y="10552"/>
                  </a:lnTo>
                  <a:lnTo>
                    <a:pt x="3116" y="9889"/>
                  </a:lnTo>
                  <a:cubicBezTo>
                    <a:pt x="3044" y="9847"/>
                    <a:pt x="2951" y="9871"/>
                    <a:pt x="2908" y="9944"/>
                  </a:cubicBezTo>
                  <a:cubicBezTo>
                    <a:pt x="2866" y="10016"/>
                    <a:pt x="2890" y="10109"/>
                    <a:pt x="2963" y="10152"/>
                  </a:cubicBezTo>
                  <a:lnTo>
                    <a:pt x="3875" y="10684"/>
                  </a:lnTo>
                  <a:lnTo>
                    <a:pt x="3875" y="10421"/>
                  </a:lnTo>
                  <a:lnTo>
                    <a:pt x="2963" y="10953"/>
                  </a:lnTo>
                  <a:cubicBezTo>
                    <a:pt x="2890" y="10995"/>
                    <a:pt x="2866" y="11089"/>
                    <a:pt x="2908" y="11161"/>
                  </a:cubicBezTo>
                  <a:cubicBezTo>
                    <a:pt x="2951" y="11234"/>
                    <a:pt x="3044" y="11258"/>
                    <a:pt x="3116" y="11216"/>
                  </a:cubicBezTo>
                  <a:close/>
                </a:path>
              </a:pathLst>
            </a:custGeom>
            <a:solidFill>
              <a:srgbClr val="767171"/>
            </a:solidFill>
            <a:ln cap="flat" cmpd="sng" w="9525">
              <a:solidFill>
                <a:srgbClr val="E4DDD2"/>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73" name="Google Shape;173;p16"/>
            <p:cNvSpPr/>
            <p:nvPr/>
          </p:nvSpPr>
          <p:spPr>
            <a:xfrm>
              <a:off x="5067" y="2071"/>
              <a:ext cx="34" cy="30"/>
            </a:xfrm>
            <a:custGeom>
              <a:rect b="b" l="l" r="r" t="t"/>
              <a:pathLst>
                <a:path extrusionOk="0" h="706" w="801">
                  <a:moveTo>
                    <a:pt x="1" y="431"/>
                  </a:moveTo>
                  <a:lnTo>
                    <a:pt x="651" y="425"/>
                  </a:lnTo>
                  <a:lnTo>
                    <a:pt x="649" y="273"/>
                  </a:lnTo>
                  <a:lnTo>
                    <a:pt x="0" y="279"/>
                  </a:lnTo>
                  <a:lnTo>
                    <a:pt x="1" y="431"/>
                  </a:lnTo>
                  <a:close/>
                  <a:moveTo>
                    <a:pt x="235" y="684"/>
                  </a:moveTo>
                  <a:lnTo>
                    <a:pt x="801" y="347"/>
                  </a:lnTo>
                  <a:lnTo>
                    <a:pt x="229" y="21"/>
                  </a:lnTo>
                  <a:lnTo>
                    <a:pt x="229" y="21"/>
                  </a:lnTo>
                  <a:cubicBezTo>
                    <a:pt x="193" y="0"/>
                    <a:pt x="146" y="13"/>
                    <a:pt x="126" y="49"/>
                  </a:cubicBezTo>
                  <a:cubicBezTo>
                    <a:pt x="105" y="86"/>
                    <a:pt x="117" y="132"/>
                    <a:pt x="154" y="153"/>
                  </a:cubicBezTo>
                  <a:lnTo>
                    <a:pt x="612" y="415"/>
                  </a:lnTo>
                  <a:lnTo>
                    <a:pt x="611" y="284"/>
                  </a:lnTo>
                  <a:lnTo>
                    <a:pt x="158" y="554"/>
                  </a:lnTo>
                  <a:cubicBezTo>
                    <a:pt x="121" y="575"/>
                    <a:pt x="110" y="622"/>
                    <a:pt x="131" y="658"/>
                  </a:cubicBezTo>
                  <a:cubicBezTo>
                    <a:pt x="153" y="694"/>
                    <a:pt x="199" y="706"/>
                    <a:pt x="235" y="684"/>
                  </a:cubicBezTo>
                  <a:close/>
                </a:path>
              </a:pathLst>
            </a:custGeom>
            <a:solidFill>
              <a:srgbClr val="767171"/>
            </a:solidFill>
            <a:ln cap="flat" cmpd="sng" w="9525">
              <a:solidFill>
                <a:srgbClr val="E4DDD2"/>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74" name="Google Shape;174;p16"/>
            <p:cNvSpPr/>
            <p:nvPr/>
          </p:nvSpPr>
          <p:spPr>
            <a:xfrm>
              <a:off x="4712" y="2095"/>
              <a:ext cx="325" cy="100"/>
            </a:xfrm>
            <a:custGeom>
              <a:rect b="b" l="l" r="r" t="t"/>
              <a:pathLst>
                <a:path extrusionOk="0" h="2359" w="7681">
                  <a:moveTo>
                    <a:pt x="0" y="2359"/>
                  </a:moveTo>
                  <a:lnTo>
                    <a:pt x="732" y="2359"/>
                  </a:lnTo>
                  <a:lnTo>
                    <a:pt x="732" y="352"/>
                  </a:lnTo>
                  <a:lnTo>
                    <a:pt x="656" y="428"/>
                  </a:lnTo>
                  <a:lnTo>
                    <a:pt x="7530" y="428"/>
                  </a:lnTo>
                  <a:lnTo>
                    <a:pt x="7530" y="276"/>
                  </a:lnTo>
                  <a:lnTo>
                    <a:pt x="580" y="276"/>
                  </a:lnTo>
                  <a:lnTo>
                    <a:pt x="580" y="2283"/>
                  </a:lnTo>
                  <a:lnTo>
                    <a:pt x="656" y="2207"/>
                  </a:lnTo>
                  <a:lnTo>
                    <a:pt x="0" y="2207"/>
                  </a:lnTo>
                  <a:lnTo>
                    <a:pt x="0" y="2359"/>
                  </a:lnTo>
                  <a:close/>
                  <a:moveTo>
                    <a:pt x="7113" y="684"/>
                  </a:moveTo>
                  <a:lnTo>
                    <a:pt x="7681" y="352"/>
                  </a:lnTo>
                  <a:lnTo>
                    <a:pt x="7113" y="21"/>
                  </a:lnTo>
                  <a:cubicBezTo>
                    <a:pt x="7076" y="0"/>
                    <a:pt x="7030" y="12"/>
                    <a:pt x="7009" y="48"/>
                  </a:cubicBezTo>
                  <a:cubicBezTo>
                    <a:pt x="6988" y="84"/>
                    <a:pt x="7000" y="131"/>
                    <a:pt x="7036" y="152"/>
                  </a:cubicBezTo>
                  <a:lnTo>
                    <a:pt x="7492" y="418"/>
                  </a:lnTo>
                  <a:lnTo>
                    <a:pt x="7492" y="287"/>
                  </a:lnTo>
                  <a:lnTo>
                    <a:pt x="7036" y="553"/>
                  </a:lnTo>
                  <a:cubicBezTo>
                    <a:pt x="7000" y="574"/>
                    <a:pt x="6988" y="621"/>
                    <a:pt x="7009" y="657"/>
                  </a:cubicBezTo>
                  <a:cubicBezTo>
                    <a:pt x="7030" y="693"/>
                    <a:pt x="7076" y="705"/>
                    <a:pt x="7113" y="684"/>
                  </a:cubicBezTo>
                  <a:close/>
                </a:path>
              </a:pathLst>
            </a:custGeom>
            <a:solidFill>
              <a:srgbClr val="767171"/>
            </a:solidFill>
            <a:ln cap="flat" cmpd="sng" w="9525">
              <a:solidFill>
                <a:srgbClr val="E4DDD2"/>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75" name="Google Shape;175;p16"/>
            <p:cNvSpPr/>
            <p:nvPr/>
          </p:nvSpPr>
          <p:spPr>
            <a:xfrm>
              <a:off x="4703" y="2243"/>
              <a:ext cx="213" cy="71"/>
            </a:xfrm>
            <a:custGeom>
              <a:rect b="b" l="l" r="r" t="t"/>
              <a:pathLst>
                <a:path extrusionOk="0" h="71" w="213">
                  <a:moveTo>
                    <a:pt x="0" y="0"/>
                  </a:moveTo>
                  <a:lnTo>
                    <a:pt x="36" y="0"/>
                  </a:lnTo>
                  <a:lnTo>
                    <a:pt x="36" y="71"/>
                  </a:lnTo>
                  <a:lnTo>
                    <a:pt x="213" y="71"/>
                  </a:lnTo>
                </a:path>
              </a:pathLst>
            </a:custGeom>
            <a:noFill/>
            <a:ln cap="flat" cmpd="sng" w="11100">
              <a:solidFill>
                <a:srgbClr val="E4DDD2"/>
              </a:solidFill>
              <a:prstDash val="solid"/>
              <a:miter lim="800000"/>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76" name="Google Shape;176;p16"/>
            <p:cNvSpPr/>
            <p:nvPr/>
          </p:nvSpPr>
          <p:spPr>
            <a:xfrm>
              <a:off x="4745" y="2177"/>
              <a:ext cx="41" cy="30"/>
            </a:xfrm>
            <a:custGeom>
              <a:rect b="b" l="l" r="r" t="t"/>
              <a:pathLst>
                <a:path extrusionOk="0" h="705" w="968">
                  <a:moveTo>
                    <a:pt x="9" y="451"/>
                  </a:moveTo>
                  <a:lnTo>
                    <a:pt x="823" y="401"/>
                  </a:lnTo>
                  <a:lnTo>
                    <a:pt x="813" y="249"/>
                  </a:lnTo>
                  <a:lnTo>
                    <a:pt x="0" y="299"/>
                  </a:lnTo>
                  <a:lnTo>
                    <a:pt x="9" y="451"/>
                  </a:lnTo>
                  <a:close/>
                  <a:moveTo>
                    <a:pt x="421" y="681"/>
                  </a:moveTo>
                  <a:lnTo>
                    <a:pt x="968" y="315"/>
                  </a:lnTo>
                  <a:lnTo>
                    <a:pt x="381" y="19"/>
                  </a:lnTo>
                  <a:cubicBezTo>
                    <a:pt x="343" y="0"/>
                    <a:pt x="297" y="15"/>
                    <a:pt x="279" y="53"/>
                  </a:cubicBezTo>
                  <a:cubicBezTo>
                    <a:pt x="260" y="90"/>
                    <a:pt x="275" y="136"/>
                    <a:pt x="312" y="155"/>
                  </a:cubicBezTo>
                  <a:lnTo>
                    <a:pt x="784" y="393"/>
                  </a:lnTo>
                  <a:lnTo>
                    <a:pt x="776" y="262"/>
                  </a:lnTo>
                  <a:lnTo>
                    <a:pt x="337" y="555"/>
                  </a:lnTo>
                  <a:cubicBezTo>
                    <a:pt x="302" y="578"/>
                    <a:pt x="293" y="626"/>
                    <a:pt x="316" y="660"/>
                  </a:cubicBezTo>
                  <a:cubicBezTo>
                    <a:pt x="339" y="695"/>
                    <a:pt x="386" y="705"/>
                    <a:pt x="421" y="681"/>
                  </a:cubicBezTo>
                  <a:close/>
                </a:path>
              </a:pathLst>
            </a:custGeom>
            <a:solidFill>
              <a:srgbClr val="767171"/>
            </a:solidFill>
            <a:ln cap="flat" cmpd="sng" w="9525">
              <a:solidFill>
                <a:srgbClr val="E4DDD2"/>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77" name="Google Shape;177;p16"/>
            <p:cNvSpPr/>
            <p:nvPr/>
          </p:nvSpPr>
          <p:spPr>
            <a:xfrm>
              <a:off x="4721" y="2227"/>
              <a:ext cx="57" cy="29"/>
            </a:xfrm>
            <a:custGeom>
              <a:rect b="b" l="l" r="r" t="t"/>
              <a:pathLst>
                <a:path extrusionOk="0" h="706" w="1365">
                  <a:moveTo>
                    <a:pt x="3" y="446"/>
                  </a:moveTo>
                  <a:lnTo>
                    <a:pt x="1216" y="419"/>
                  </a:lnTo>
                  <a:lnTo>
                    <a:pt x="1213" y="267"/>
                  </a:lnTo>
                  <a:lnTo>
                    <a:pt x="0" y="294"/>
                  </a:lnTo>
                  <a:lnTo>
                    <a:pt x="3" y="446"/>
                  </a:lnTo>
                  <a:close/>
                  <a:moveTo>
                    <a:pt x="804" y="684"/>
                  </a:moveTo>
                  <a:lnTo>
                    <a:pt x="1365" y="339"/>
                  </a:lnTo>
                  <a:lnTo>
                    <a:pt x="790" y="21"/>
                  </a:lnTo>
                  <a:lnTo>
                    <a:pt x="790" y="21"/>
                  </a:lnTo>
                  <a:cubicBezTo>
                    <a:pt x="753" y="0"/>
                    <a:pt x="707" y="13"/>
                    <a:pt x="686" y="50"/>
                  </a:cubicBezTo>
                  <a:cubicBezTo>
                    <a:pt x="666" y="87"/>
                    <a:pt x="679" y="133"/>
                    <a:pt x="716" y="153"/>
                  </a:cubicBezTo>
                  <a:lnTo>
                    <a:pt x="1178" y="409"/>
                  </a:lnTo>
                  <a:lnTo>
                    <a:pt x="1175" y="278"/>
                  </a:lnTo>
                  <a:lnTo>
                    <a:pt x="725" y="554"/>
                  </a:lnTo>
                  <a:cubicBezTo>
                    <a:pt x="689" y="576"/>
                    <a:pt x="678" y="623"/>
                    <a:pt x="700" y="659"/>
                  </a:cubicBezTo>
                  <a:cubicBezTo>
                    <a:pt x="722" y="694"/>
                    <a:pt x="769" y="706"/>
                    <a:pt x="804" y="684"/>
                  </a:cubicBezTo>
                  <a:close/>
                </a:path>
              </a:pathLst>
            </a:custGeom>
            <a:solidFill>
              <a:srgbClr val="767171"/>
            </a:solidFill>
            <a:ln cap="flat" cmpd="sng" w="9525">
              <a:solidFill>
                <a:srgbClr val="E4DDD2"/>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78" name="Google Shape;178;p16"/>
            <p:cNvSpPr/>
            <p:nvPr/>
          </p:nvSpPr>
          <p:spPr>
            <a:xfrm>
              <a:off x="4152" y="1971"/>
              <a:ext cx="714" cy="119"/>
            </a:xfrm>
            <a:custGeom>
              <a:rect b="b" l="l" r="r" t="t"/>
              <a:pathLst>
                <a:path extrusionOk="0" h="119" w="714">
                  <a:moveTo>
                    <a:pt x="0" y="119"/>
                  </a:moveTo>
                  <a:lnTo>
                    <a:pt x="195" y="119"/>
                  </a:lnTo>
                  <a:lnTo>
                    <a:pt x="195" y="0"/>
                  </a:lnTo>
                  <a:lnTo>
                    <a:pt x="714" y="0"/>
                  </a:lnTo>
                </a:path>
              </a:pathLst>
            </a:custGeom>
            <a:noFill/>
            <a:ln cap="flat" cmpd="sng" w="11100">
              <a:solidFill>
                <a:srgbClr val="E4DDD2"/>
              </a:solidFill>
              <a:prstDash val="solid"/>
              <a:miter lim="800000"/>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79" name="Google Shape;179;p16"/>
            <p:cNvSpPr/>
            <p:nvPr/>
          </p:nvSpPr>
          <p:spPr>
            <a:xfrm>
              <a:off x="4864" y="1966"/>
              <a:ext cx="169" cy="100"/>
            </a:xfrm>
            <a:custGeom>
              <a:rect b="b" l="l" r="r" t="t"/>
              <a:pathLst>
                <a:path extrusionOk="0" h="2358" w="4001">
                  <a:moveTo>
                    <a:pt x="0" y="0"/>
                  </a:moveTo>
                  <a:lnTo>
                    <a:pt x="2076" y="0"/>
                  </a:lnTo>
                  <a:lnTo>
                    <a:pt x="2076" y="2006"/>
                  </a:lnTo>
                  <a:lnTo>
                    <a:pt x="2000" y="1930"/>
                  </a:lnTo>
                  <a:lnTo>
                    <a:pt x="3850" y="1930"/>
                  </a:lnTo>
                  <a:lnTo>
                    <a:pt x="3850" y="2082"/>
                  </a:lnTo>
                  <a:lnTo>
                    <a:pt x="1924" y="2082"/>
                  </a:lnTo>
                  <a:lnTo>
                    <a:pt x="1924" y="76"/>
                  </a:lnTo>
                  <a:lnTo>
                    <a:pt x="2000" y="152"/>
                  </a:lnTo>
                  <a:lnTo>
                    <a:pt x="0" y="152"/>
                  </a:lnTo>
                  <a:lnTo>
                    <a:pt x="0" y="0"/>
                  </a:lnTo>
                  <a:close/>
                  <a:moveTo>
                    <a:pt x="3432" y="1674"/>
                  </a:moveTo>
                  <a:lnTo>
                    <a:pt x="4001" y="2006"/>
                  </a:lnTo>
                  <a:lnTo>
                    <a:pt x="3432" y="2337"/>
                  </a:lnTo>
                  <a:cubicBezTo>
                    <a:pt x="3396" y="2358"/>
                    <a:pt x="3349" y="2346"/>
                    <a:pt x="3328" y="2310"/>
                  </a:cubicBezTo>
                  <a:cubicBezTo>
                    <a:pt x="3307" y="2274"/>
                    <a:pt x="3319" y="2227"/>
                    <a:pt x="3356" y="2206"/>
                  </a:cubicBezTo>
                  <a:lnTo>
                    <a:pt x="3812" y="1940"/>
                  </a:lnTo>
                  <a:lnTo>
                    <a:pt x="3812" y="2071"/>
                  </a:lnTo>
                  <a:lnTo>
                    <a:pt x="3356" y="1805"/>
                  </a:lnTo>
                  <a:cubicBezTo>
                    <a:pt x="3319" y="1784"/>
                    <a:pt x="3307" y="1738"/>
                    <a:pt x="3328" y="1701"/>
                  </a:cubicBezTo>
                  <a:cubicBezTo>
                    <a:pt x="3349" y="1665"/>
                    <a:pt x="3396" y="1653"/>
                    <a:pt x="3432" y="1674"/>
                  </a:cubicBezTo>
                  <a:close/>
                </a:path>
              </a:pathLst>
            </a:custGeom>
            <a:solidFill>
              <a:srgbClr val="767171"/>
            </a:solidFill>
            <a:ln cap="flat" cmpd="sng" w="9525">
              <a:solidFill>
                <a:srgbClr val="E4DDD2"/>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80" name="Google Shape;180;p16"/>
            <p:cNvSpPr/>
            <p:nvPr/>
          </p:nvSpPr>
          <p:spPr>
            <a:xfrm>
              <a:off x="4034" y="2026"/>
              <a:ext cx="81" cy="186"/>
            </a:xfrm>
            <a:prstGeom prst="rect">
              <a:avLst/>
            </a:prstGeom>
            <a:solidFill>
              <a:srgbClr val="C5DBC3"/>
            </a:solidFill>
            <a:ln cap="flat" cmpd="sng" w="9525">
              <a:solidFill>
                <a:srgbClr val="000000"/>
              </a:solidFill>
              <a:prstDash val="solid"/>
              <a:miter lim="800000"/>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81" name="Google Shape;181;p16"/>
            <p:cNvSpPr/>
            <p:nvPr/>
          </p:nvSpPr>
          <p:spPr>
            <a:xfrm>
              <a:off x="4034" y="2026"/>
              <a:ext cx="81" cy="186"/>
            </a:xfrm>
            <a:prstGeom prst="rect">
              <a:avLst/>
            </a:prstGeom>
            <a:noFill/>
            <a:ln cap="flat" cmpd="sng" w="11100">
              <a:solidFill>
                <a:srgbClr val="E4DDD2"/>
              </a:solidFill>
              <a:prstDash val="solid"/>
              <a:miter lim="800000"/>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82" name="Google Shape;182;p16"/>
            <p:cNvSpPr/>
            <p:nvPr/>
          </p:nvSpPr>
          <p:spPr>
            <a:xfrm>
              <a:off x="4044" y="2092"/>
              <a:ext cx="25" cy="11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800">
                  <a:solidFill>
                    <a:schemeClr val="dk2"/>
                  </a:solidFill>
                  <a:latin typeface="Courier New"/>
                  <a:ea typeface="Courier New"/>
                  <a:cs typeface="Courier New"/>
                  <a:sym typeface="Courier New"/>
                </a:rPr>
                <a:t>pc</a:t>
              </a:r>
              <a:endParaRPr sz="2400">
                <a:solidFill>
                  <a:schemeClr val="dk2"/>
                </a:solidFill>
                <a:latin typeface="Arial"/>
                <a:ea typeface="Arial"/>
                <a:cs typeface="Arial"/>
                <a:sym typeface="Arial"/>
              </a:endParaRPr>
            </a:p>
          </p:txBody>
        </p:sp>
        <p:sp>
          <p:nvSpPr>
            <p:cNvPr id="183" name="Google Shape;183;p16"/>
            <p:cNvSpPr/>
            <p:nvPr/>
          </p:nvSpPr>
          <p:spPr>
            <a:xfrm>
              <a:off x="4068" y="2179"/>
              <a:ext cx="34" cy="33"/>
            </a:xfrm>
            <a:custGeom>
              <a:rect b="b" l="l" r="r" t="t"/>
              <a:pathLst>
                <a:path extrusionOk="0" h="33" w="34">
                  <a:moveTo>
                    <a:pt x="0" y="33"/>
                  </a:moveTo>
                  <a:lnTo>
                    <a:pt x="17" y="0"/>
                  </a:lnTo>
                  <a:lnTo>
                    <a:pt x="34" y="33"/>
                  </a:lnTo>
                  <a:lnTo>
                    <a:pt x="0" y="33"/>
                  </a:lnTo>
                  <a:close/>
                </a:path>
              </a:pathLst>
            </a:custGeom>
            <a:noFill/>
            <a:ln cap="flat" cmpd="sng" w="11100">
              <a:solidFill>
                <a:srgbClr val="E4DDD2"/>
              </a:solidFill>
              <a:prstDash val="solid"/>
              <a:miter lim="800000"/>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84" name="Google Shape;184;p16"/>
            <p:cNvSpPr/>
            <p:nvPr/>
          </p:nvSpPr>
          <p:spPr>
            <a:xfrm>
              <a:off x="4999" y="2153"/>
              <a:ext cx="34" cy="119"/>
            </a:xfrm>
            <a:custGeom>
              <a:rect b="b" l="l" r="r" t="t"/>
              <a:pathLst>
                <a:path extrusionOk="0" h="119" w="34">
                  <a:moveTo>
                    <a:pt x="0" y="0"/>
                  </a:moveTo>
                  <a:lnTo>
                    <a:pt x="34" y="21"/>
                  </a:lnTo>
                  <a:lnTo>
                    <a:pt x="34" y="98"/>
                  </a:lnTo>
                  <a:lnTo>
                    <a:pt x="0" y="119"/>
                  </a:lnTo>
                  <a:lnTo>
                    <a:pt x="0" y="0"/>
                  </a:lnTo>
                  <a:close/>
                </a:path>
              </a:pathLst>
            </a:custGeom>
            <a:solidFill>
              <a:srgbClr val="C5DBC3"/>
            </a:solid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85" name="Google Shape;185;p16"/>
            <p:cNvSpPr/>
            <p:nvPr/>
          </p:nvSpPr>
          <p:spPr>
            <a:xfrm>
              <a:off x="4999" y="2153"/>
              <a:ext cx="34" cy="119"/>
            </a:xfrm>
            <a:custGeom>
              <a:rect b="b" l="l" r="r" t="t"/>
              <a:pathLst>
                <a:path extrusionOk="0" h="119" w="34">
                  <a:moveTo>
                    <a:pt x="0" y="0"/>
                  </a:moveTo>
                  <a:lnTo>
                    <a:pt x="34" y="21"/>
                  </a:lnTo>
                  <a:lnTo>
                    <a:pt x="34" y="98"/>
                  </a:lnTo>
                  <a:lnTo>
                    <a:pt x="0" y="119"/>
                  </a:lnTo>
                  <a:lnTo>
                    <a:pt x="0" y="0"/>
                  </a:lnTo>
                  <a:close/>
                </a:path>
              </a:pathLst>
            </a:custGeom>
            <a:noFill/>
            <a:ln>
              <a:noFill/>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86" name="Google Shape;186;p16"/>
            <p:cNvSpPr/>
            <p:nvPr/>
          </p:nvSpPr>
          <p:spPr>
            <a:xfrm>
              <a:off x="5003" y="2161"/>
              <a:ext cx="16" cy="3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533">
                  <a:solidFill>
                    <a:srgbClr val="E4DDD2"/>
                  </a:solidFill>
                  <a:latin typeface="Calibri"/>
                  <a:ea typeface="Calibri"/>
                  <a:cs typeface="Calibri"/>
                  <a:sym typeface="Calibri"/>
                </a:rPr>
                <a:t>0</a:t>
              </a:r>
              <a:endParaRPr sz="2400">
                <a:solidFill>
                  <a:srgbClr val="E4DDD2"/>
                </a:solidFill>
                <a:latin typeface="Arial"/>
                <a:ea typeface="Arial"/>
                <a:cs typeface="Arial"/>
                <a:sym typeface="Arial"/>
              </a:endParaRPr>
            </a:p>
          </p:txBody>
        </p:sp>
        <p:sp>
          <p:nvSpPr>
            <p:cNvPr id="187" name="Google Shape;187;p16"/>
            <p:cNvSpPr/>
            <p:nvPr/>
          </p:nvSpPr>
          <p:spPr>
            <a:xfrm>
              <a:off x="5004" y="2216"/>
              <a:ext cx="16" cy="3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533">
                  <a:solidFill>
                    <a:srgbClr val="E4DDD2"/>
                  </a:solidFill>
                  <a:latin typeface="Calibri"/>
                  <a:ea typeface="Calibri"/>
                  <a:cs typeface="Calibri"/>
                  <a:sym typeface="Calibri"/>
                </a:rPr>
                <a:t>1</a:t>
              </a:r>
              <a:endParaRPr sz="2400">
                <a:solidFill>
                  <a:srgbClr val="E4DDD2"/>
                </a:solidFill>
                <a:latin typeface="Arial"/>
                <a:ea typeface="Arial"/>
                <a:cs typeface="Arial"/>
                <a:sym typeface="Arial"/>
              </a:endParaRPr>
            </a:p>
          </p:txBody>
        </p:sp>
        <p:sp>
          <p:nvSpPr>
            <p:cNvPr id="188" name="Google Shape;188;p16"/>
            <p:cNvSpPr/>
            <p:nvPr/>
          </p:nvSpPr>
          <p:spPr>
            <a:xfrm>
              <a:off x="4322" y="2138"/>
              <a:ext cx="203" cy="52"/>
            </a:xfrm>
            <a:custGeom>
              <a:rect b="b" l="l" r="r" t="t"/>
              <a:pathLst>
                <a:path extrusionOk="0" h="1228" w="4801">
                  <a:moveTo>
                    <a:pt x="0" y="1228"/>
                  </a:moveTo>
                  <a:lnTo>
                    <a:pt x="931" y="1228"/>
                  </a:lnTo>
                  <a:lnTo>
                    <a:pt x="931" y="352"/>
                  </a:lnTo>
                  <a:lnTo>
                    <a:pt x="855" y="428"/>
                  </a:lnTo>
                  <a:lnTo>
                    <a:pt x="4650" y="428"/>
                  </a:lnTo>
                  <a:lnTo>
                    <a:pt x="4650" y="276"/>
                  </a:lnTo>
                  <a:lnTo>
                    <a:pt x="779" y="276"/>
                  </a:lnTo>
                  <a:lnTo>
                    <a:pt x="779" y="1152"/>
                  </a:lnTo>
                  <a:lnTo>
                    <a:pt x="855" y="1076"/>
                  </a:lnTo>
                  <a:lnTo>
                    <a:pt x="0" y="1076"/>
                  </a:lnTo>
                  <a:lnTo>
                    <a:pt x="0" y="1228"/>
                  </a:lnTo>
                  <a:close/>
                  <a:moveTo>
                    <a:pt x="4232" y="684"/>
                  </a:moveTo>
                  <a:lnTo>
                    <a:pt x="4801" y="352"/>
                  </a:lnTo>
                  <a:lnTo>
                    <a:pt x="4232" y="21"/>
                  </a:lnTo>
                  <a:cubicBezTo>
                    <a:pt x="4196" y="0"/>
                    <a:pt x="4149" y="12"/>
                    <a:pt x="4128" y="48"/>
                  </a:cubicBezTo>
                  <a:cubicBezTo>
                    <a:pt x="4107" y="84"/>
                    <a:pt x="4119" y="131"/>
                    <a:pt x="4156" y="152"/>
                  </a:cubicBezTo>
                  <a:lnTo>
                    <a:pt x="4612" y="418"/>
                  </a:lnTo>
                  <a:lnTo>
                    <a:pt x="4612" y="287"/>
                  </a:lnTo>
                  <a:lnTo>
                    <a:pt x="4156" y="553"/>
                  </a:lnTo>
                  <a:cubicBezTo>
                    <a:pt x="4119" y="574"/>
                    <a:pt x="4107" y="621"/>
                    <a:pt x="4128" y="657"/>
                  </a:cubicBezTo>
                  <a:cubicBezTo>
                    <a:pt x="4149" y="693"/>
                    <a:pt x="4196" y="705"/>
                    <a:pt x="4232" y="684"/>
                  </a:cubicBezTo>
                  <a:close/>
                </a:path>
              </a:pathLst>
            </a:custGeom>
            <a:solidFill>
              <a:srgbClr val="767171"/>
            </a:solidFill>
            <a:ln cap="flat" cmpd="sng" w="9525">
              <a:solidFill>
                <a:srgbClr val="E4DDD2"/>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89" name="Google Shape;189;p16"/>
            <p:cNvSpPr/>
            <p:nvPr/>
          </p:nvSpPr>
          <p:spPr>
            <a:xfrm>
              <a:off x="4354" y="2198"/>
              <a:ext cx="171" cy="29"/>
            </a:xfrm>
            <a:custGeom>
              <a:rect b="b" l="l" r="r" t="t"/>
              <a:pathLst>
                <a:path extrusionOk="0" h="706" w="4049">
                  <a:moveTo>
                    <a:pt x="0" y="430"/>
                  </a:moveTo>
                  <a:lnTo>
                    <a:pt x="3899" y="429"/>
                  </a:lnTo>
                  <a:lnTo>
                    <a:pt x="3898" y="277"/>
                  </a:lnTo>
                  <a:lnTo>
                    <a:pt x="0" y="278"/>
                  </a:lnTo>
                  <a:lnTo>
                    <a:pt x="0" y="430"/>
                  </a:lnTo>
                  <a:close/>
                  <a:moveTo>
                    <a:pt x="3481" y="684"/>
                  </a:moveTo>
                  <a:lnTo>
                    <a:pt x="4049" y="352"/>
                  </a:lnTo>
                  <a:lnTo>
                    <a:pt x="3481" y="21"/>
                  </a:lnTo>
                  <a:cubicBezTo>
                    <a:pt x="3444" y="0"/>
                    <a:pt x="3398" y="12"/>
                    <a:pt x="3377" y="48"/>
                  </a:cubicBezTo>
                  <a:cubicBezTo>
                    <a:pt x="3356" y="85"/>
                    <a:pt x="3368" y="131"/>
                    <a:pt x="3404" y="152"/>
                  </a:cubicBezTo>
                  <a:lnTo>
                    <a:pt x="3860" y="418"/>
                  </a:lnTo>
                  <a:lnTo>
                    <a:pt x="3860" y="287"/>
                  </a:lnTo>
                  <a:lnTo>
                    <a:pt x="3404" y="553"/>
                  </a:lnTo>
                  <a:cubicBezTo>
                    <a:pt x="3368" y="574"/>
                    <a:pt x="3356" y="621"/>
                    <a:pt x="3377" y="657"/>
                  </a:cubicBezTo>
                  <a:cubicBezTo>
                    <a:pt x="3398" y="693"/>
                    <a:pt x="3445" y="706"/>
                    <a:pt x="3481" y="684"/>
                  </a:cubicBezTo>
                  <a:close/>
                </a:path>
              </a:pathLst>
            </a:custGeom>
            <a:solidFill>
              <a:srgbClr val="767171"/>
            </a:solidFill>
            <a:ln cap="flat" cmpd="sng" w="9525">
              <a:solidFill>
                <a:srgbClr val="E4DDD2"/>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90" name="Google Shape;190;p16"/>
            <p:cNvSpPr/>
            <p:nvPr/>
          </p:nvSpPr>
          <p:spPr>
            <a:xfrm>
              <a:off x="4356" y="2248"/>
              <a:ext cx="169" cy="30"/>
            </a:xfrm>
            <a:custGeom>
              <a:rect b="b" l="l" r="r" t="t"/>
              <a:pathLst>
                <a:path extrusionOk="0" h="705" w="3989">
                  <a:moveTo>
                    <a:pt x="1" y="440"/>
                  </a:moveTo>
                  <a:lnTo>
                    <a:pt x="3838" y="427"/>
                  </a:lnTo>
                  <a:lnTo>
                    <a:pt x="3838" y="275"/>
                  </a:lnTo>
                  <a:lnTo>
                    <a:pt x="0" y="288"/>
                  </a:lnTo>
                  <a:lnTo>
                    <a:pt x="1" y="440"/>
                  </a:lnTo>
                  <a:close/>
                  <a:moveTo>
                    <a:pt x="3421" y="684"/>
                  </a:moveTo>
                  <a:lnTo>
                    <a:pt x="3989" y="350"/>
                  </a:lnTo>
                  <a:lnTo>
                    <a:pt x="3419" y="21"/>
                  </a:lnTo>
                  <a:cubicBezTo>
                    <a:pt x="3383" y="0"/>
                    <a:pt x="3336" y="12"/>
                    <a:pt x="3315" y="49"/>
                  </a:cubicBezTo>
                  <a:cubicBezTo>
                    <a:pt x="3294" y="85"/>
                    <a:pt x="3307" y="131"/>
                    <a:pt x="3343" y="152"/>
                  </a:cubicBezTo>
                  <a:lnTo>
                    <a:pt x="3800" y="417"/>
                  </a:lnTo>
                  <a:lnTo>
                    <a:pt x="3799" y="285"/>
                  </a:lnTo>
                  <a:lnTo>
                    <a:pt x="3344" y="553"/>
                  </a:lnTo>
                  <a:cubicBezTo>
                    <a:pt x="3308" y="574"/>
                    <a:pt x="3296" y="621"/>
                    <a:pt x="3317" y="657"/>
                  </a:cubicBezTo>
                  <a:cubicBezTo>
                    <a:pt x="3339" y="693"/>
                    <a:pt x="3385" y="705"/>
                    <a:pt x="3421" y="684"/>
                  </a:cubicBezTo>
                  <a:close/>
                </a:path>
              </a:pathLst>
            </a:custGeom>
            <a:solidFill>
              <a:srgbClr val="767171"/>
            </a:solidFill>
            <a:ln cap="flat" cmpd="sng" w="9525">
              <a:solidFill>
                <a:srgbClr val="E4DDD2"/>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91" name="Google Shape;191;p16"/>
            <p:cNvSpPr/>
            <p:nvPr/>
          </p:nvSpPr>
          <p:spPr>
            <a:xfrm>
              <a:off x="4354" y="2401"/>
              <a:ext cx="137" cy="30"/>
            </a:xfrm>
            <a:custGeom>
              <a:rect b="b" l="l" r="r" t="t"/>
              <a:pathLst>
                <a:path extrusionOk="0" h="1411" w="6500">
                  <a:moveTo>
                    <a:pt x="5" y="939"/>
                  </a:moveTo>
                  <a:lnTo>
                    <a:pt x="6201" y="843"/>
                  </a:lnTo>
                  <a:lnTo>
                    <a:pt x="6196" y="539"/>
                  </a:lnTo>
                  <a:lnTo>
                    <a:pt x="0" y="635"/>
                  </a:lnTo>
                  <a:lnTo>
                    <a:pt x="5" y="939"/>
                  </a:lnTo>
                  <a:close/>
                  <a:moveTo>
                    <a:pt x="5373" y="1367"/>
                  </a:moveTo>
                  <a:lnTo>
                    <a:pt x="6500" y="686"/>
                  </a:lnTo>
                  <a:lnTo>
                    <a:pt x="5353" y="41"/>
                  </a:lnTo>
                  <a:cubicBezTo>
                    <a:pt x="5280" y="0"/>
                    <a:pt x="5187" y="26"/>
                    <a:pt x="5146" y="99"/>
                  </a:cubicBezTo>
                  <a:cubicBezTo>
                    <a:pt x="5105" y="172"/>
                    <a:pt x="5131" y="265"/>
                    <a:pt x="5204" y="306"/>
                  </a:cubicBezTo>
                  <a:lnTo>
                    <a:pt x="6124" y="824"/>
                  </a:lnTo>
                  <a:lnTo>
                    <a:pt x="6120" y="561"/>
                  </a:lnTo>
                  <a:lnTo>
                    <a:pt x="5216" y="1107"/>
                  </a:lnTo>
                  <a:cubicBezTo>
                    <a:pt x="5144" y="1151"/>
                    <a:pt x="5121" y="1244"/>
                    <a:pt x="5165" y="1316"/>
                  </a:cubicBezTo>
                  <a:cubicBezTo>
                    <a:pt x="5208" y="1388"/>
                    <a:pt x="5302" y="1411"/>
                    <a:pt x="5373" y="1367"/>
                  </a:cubicBezTo>
                  <a:close/>
                </a:path>
              </a:pathLst>
            </a:custGeom>
            <a:solidFill>
              <a:srgbClr val="767171"/>
            </a:solidFill>
            <a:ln cap="flat" cmpd="sng" w="9525">
              <a:solidFill>
                <a:srgbClr val="E4DDD2"/>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92" name="Google Shape;192;p16"/>
            <p:cNvSpPr/>
            <p:nvPr/>
          </p:nvSpPr>
          <p:spPr>
            <a:xfrm>
              <a:off x="4453" y="1898"/>
              <a:ext cx="1184" cy="230"/>
            </a:xfrm>
            <a:custGeom>
              <a:rect b="b" l="l" r="r" t="t"/>
              <a:pathLst>
                <a:path extrusionOk="0" h="230" w="1184">
                  <a:moveTo>
                    <a:pt x="1156" y="230"/>
                  </a:moveTo>
                  <a:lnTo>
                    <a:pt x="1184" y="230"/>
                  </a:lnTo>
                  <a:lnTo>
                    <a:pt x="1184" y="0"/>
                  </a:lnTo>
                  <a:lnTo>
                    <a:pt x="0" y="0"/>
                  </a:lnTo>
                </a:path>
              </a:pathLst>
            </a:custGeom>
            <a:noFill/>
            <a:ln cap="flat" cmpd="sng" w="11100">
              <a:solidFill>
                <a:srgbClr val="E4DDD2"/>
              </a:solidFill>
              <a:prstDash val="solid"/>
              <a:miter lim="800000"/>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93" name="Google Shape;193;p16"/>
            <p:cNvSpPr/>
            <p:nvPr/>
          </p:nvSpPr>
          <p:spPr>
            <a:xfrm>
              <a:off x="4454" y="1899"/>
              <a:ext cx="71" cy="203"/>
            </a:xfrm>
            <a:custGeom>
              <a:rect b="b" l="l" r="r" t="t"/>
              <a:pathLst>
                <a:path extrusionOk="0" h="4801" w="1677">
                  <a:moveTo>
                    <a:pt x="0" y="0"/>
                  </a:moveTo>
                  <a:lnTo>
                    <a:pt x="0" y="4489"/>
                  </a:lnTo>
                  <a:lnTo>
                    <a:pt x="1526" y="4489"/>
                  </a:lnTo>
                  <a:lnTo>
                    <a:pt x="1526" y="4337"/>
                  </a:lnTo>
                  <a:lnTo>
                    <a:pt x="76" y="4337"/>
                  </a:lnTo>
                  <a:lnTo>
                    <a:pt x="152" y="4413"/>
                  </a:lnTo>
                  <a:lnTo>
                    <a:pt x="152" y="0"/>
                  </a:lnTo>
                  <a:lnTo>
                    <a:pt x="0" y="0"/>
                  </a:lnTo>
                  <a:close/>
                  <a:moveTo>
                    <a:pt x="1137" y="4777"/>
                  </a:moveTo>
                  <a:lnTo>
                    <a:pt x="1677" y="4400"/>
                  </a:lnTo>
                  <a:lnTo>
                    <a:pt x="1083" y="4116"/>
                  </a:lnTo>
                  <a:cubicBezTo>
                    <a:pt x="1046" y="4097"/>
                    <a:pt x="1000" y="4113"/>
                    <a:pt x="982" y="4151"/>
                  </a:cubicBezTo>
                  <a:cubicBezTo>
                    <a:pt x="964" y="4189"/>
                    <a:pt x="980" y="4234"/>
                    <a:pt x="1018" y="4253"/>
                  </a:cubicBezTo>
                  <a:lnTo>
                    <a:pt x="1494" y="4481"/>
                  </a:lnTo>
                  <a:lnTo>
                    <a:pt x="1483" y="4350"/>
                  </a:lnTo>
                  <a:lnTo>
                    <a:pt x="1050" y="4652"/>
                  </a:lnTo>
                  <a:cubicBezTo>
                    <a:pt x="1015" y="4676"/>
                    <a:pt x="1007" y="4723"/>
                    <a:pt x="1031" y="4758"/>
                  </a:cubicBezTo>
                  <a:cubicBezTo>
                    <a:pt x="1055" y="4792"/>
                    <a:pt x="1102" y="4801"/>
                    <a:pt x="1137" y="4777"/>
                  </a:cubicBezTo>
                  <a:close/>
                </a:path>
              </a:pathLst>
            </a:custGeom>
            <a:solidFill>
              <a:srgbClr val="767171"/>
            </a:solidFill>
            <a:ln cap="flat" cmpd="sng" w="9525">
              <a:solidFill>
                <a:srgbClr val="E4DDD2"/>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94" name="Google Shape;194;p16"/>
            <p:cNvSpPr/>
            <p:nvPr/>
          </p:nvSpPr>
          <p:spPr>
            <a:xfrm>
              <a:off x="5033" y="2206"/>
              <a:ext cx="83" cy="30"/>
            </a:xfrm>
            <a:custGeom>
              <a:rect b="b" l="l" r="r" t="t"/>
              <a:pathLst>
                <a:path extrusionOk="0" h="706" w="1946">
                  <a:moveTo>
                    <a:pt x="1" y="438"/>
                  </a:moveTo>
                  <a:lnTo>
                    <a:pt x="1796" y="426"/>
                  </a:lnTo>
                  <a:lnTo>
                    <a:pt x="1795" y="274"/>
                  </a:lnTo>
                  <a:lnTo>
                    <a:pt x="0" y="286"/>
                  </a:lnTo>
                  <a:lnTo>
                    <a:pt x="1" y="438"/>
                  </a:lnTo>
                  <a:close/>
                  <a:moveTo>
                    <a:pt x="1380" y="685"/>
                  </a:moveTo>
                  <a:lnTo>
                    <a:pt x="1946" y="349"/>
                  </a:lnTo>
                  <a:lnTo>
                    <a:pt x="1376" y="21"/>
                  </a:lnTo>
                  <a:cubicBezTo>
                    <a:pt x="1339" y="0"/>
                    <a:pt x="1293" y="13"/>
                    <a:pt x="1272" y="49"/>
                  </a:cubicBezTo>
                  <a:cubicBezTo>
                    <a:pt x="1251" y="86"/>
                    <a:pt x="1264" y="132"/>
                    <a:pt x="1300" y="153"/>
                  </a:cubicBezTo>
                  <a:lnTo>
                    <a:pt x="1758" y="416"/>
                  </a:lnTo>
                  <a:lnTo>
                    <a:pt x="1757" y="285"/>
                  </a:lnTo>
                  <a:lnTo>
                    <a:pt x="1302" y="554"/>
                  </a:lnTo>
                  <a:cubicBezTo>
                    <a:pt x="1266" y="575"/>
                    <a:pt x="1254" y="622"/>
                    <a:pt x="1276" y="658"/>
                  </a:cubicBezTo>
                  <a:cubicBezTo>
                    <a:pt x="1297" y="694"/>
                    <a:pt x="1344" y="706"/>
                    <a:pt x="1380" y="685"/>
                  </a:cubicBezTo>
                  <a:close/>
                </a:path>
              </a:pathLst>
            </a:custGeom>
            <a:solidFill>
              <a:srgbClr val="767171"/>
            </a:solidFill>
            <a:ln cap="flat" cmpd="sng" w="9525">
              <a:solidFill>
                <a:srgbClr val="E4DDD2"/>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95" name="Google Shape;195;p16"/>
            <p:cNvSpPr/>
            <p:nvPr/>
          </p:nvSpPr>
          <p:spPr>
            <a:xfrm>
              <a:off x="4915" y="2214"/>
              <a:ext cx="355" cy="102"/>
            </a:xfrm>
            <a:custGeom>
              <a:rect b="b" l="l" r="r" t="t"/>
              <a:pathLst>
                <a:path extrusionOk="0" h="1214" w="4201">
                  <a:moveTo>
                    <a:pt x="0" y="1214"/>
                  </a:moveTo>
                  <a:lnTo>
                    <a:pt x="3654" y="1214"/>
                  </a:lnTo>
                  <a:lnTo>
                    <a:pt x="3654" y="176"/>
                  </a:lnTo>
                  <a:lnTo>
                    <a:pt x="3616" y="214"/>
                  </a:lnTo>
                  <a:lnTo>
                    <a:pt x="4125" y="214"/>
                  </a:lnTo>
                  <a:lnTo>
                    <a:pt x="4125" y="138"/>
                  </a:lnTo>
                  <a:lnTo>
                    <a:pt x="3578" y="138"/>
                  </a:lnTo>
                  <a:lnTo>
                    <a:pt x="3578" y="1176"/>
                  </a:lnTo>
                  <a:lnTo>
                    <a:pt x="3616" y="1138"/>
                  </a:lnTo>
                  <a:lnTo>
                    <a:pt x="0" y="1138"/>
                  </a:lnTo>
                  <a:lnTo>
                    <a:pt x="0" y="1214"/>
                  </a:lnTo>
                  <a:close/>
                  <a:moveTo>
                    <a:pt x="3916" y="342"/>
                  </a:moveTo>
                  <a:lnTo>
                    <a:pt x="4201" y="176"/>
                  </a:lnTo>
                  <a:lnTo>
                    <a:pt x="3916" y="11"/>
                  </a:lnTo>
                  <a:cubicBezTo>
                    <a:pt x="3898" y="0"/>
                    <a:pt x="3875" y="6"/>
                    <a:pt x="3864" y="24"/>
                  </a:cubicBezTo>
                  <a:cubicBezTo>
                    <a:pt x="3854" y="42"/>
                    <a:pt x="3860" y="66"/>
                    <a:pt x="3878" y="76"/>
                  </a:cubicBezTo>
                  <a:lnTo>
                    <a:pt x="4106" y="209"/>
                  </a:lnTo>
                  <a:lnTo>
                    <a:pt x="4106" y="144"/>
                  </a:lnTo>
                  <a:lnTo>
                    <a:pt x="3878" y="277"/>
                  </a:lnTo>
                  <a:cubicBezTo>
                    <a:pt x="3860" y="287"/>
                    <a:pt x="3854" y="310"/>
                    <a:pt x="3864" y="329"/>
                  </a:cubicBezTo>
                  <a:cubicBezTo>
                    <a:pt x="3875" y="347"/>
                    <a:pt x="3898" y="353"/>
                    <a:pt x="3916" y="342"/>
                  </a:cubicBezTo>
                  <a:close/>
                </a:path>
              </a:pathLst>
            </a:custGeom>
            <a:solidFill>
              <a:srgbClr val="767171"/>
            </a:solidFill>
            <a:ln cap="flat" cmpd="sng" w="9525">
              <a:solidFill>
                <a:srgbClr val="E4DDD2"/>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196" name="Google Shape;196;p16"/>
            <p:cNvSpPr/>
            <p:nvPr/>
          </p:nvSpPr>
          <p:spPr>
            <a:xfrm>
              <a:off x="4376" y="2105"/>
              <a:ext cx="47" cy="3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533">
                  <a:solidFill>
                    <a:srgbClr val="E4DDD2"/>
                  </a:solidFill>
                  <a:latin typeface="Calibri"/>
                  <a:ea typeface="Calibri"/>
                  <a:cs typeface="Calibri"/>
                  <a:sym typeface="Calibri"/>
                </a:rPr>
                <a:t>inst</a:t>
              </a:r>
              <a:endParaRPr sz="2400">
                <a:solidFill>
                  <a:srgbClr val="E4DDD2"/>
                </a:solidFill>
                <a:latin typeface="Arial"/>
                <a:ea typeface="Arial"/>
                <a:cs typeface="Arial"/>
                <a:sym typeface="Arial"/>
              </a:endParaRPr>
            </a:p>
          </p:txBody>
        </p:sp>
        <p:sp>
          <p:nvSpPr>
            <p:cNvPr id="197" name="Google Shape;197;p16"/>
            <p:cNvSpPr/>
            <p:nvPr/>
          </p:nvSpPr>
          <p:spPr>
            <a:xfrm>
              <a:off x="4423" y="2105"/>
              <a:ext cx="75" cy="3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533">
                  <a:solidFill>
                    <a:srgbClr val="E4DDD2"/>
                  </a:solidFill>
                  <a:latin typeface="Calibri"/>
                  <a:ea typeface="Calibri"/>
                  <a:cs typeface="Calibri"/>
                  <a:sym typeface="Calibri"/>
                </a:rPr>
                <a:t>[11:7]</a:t>
              </a:r>
              <a:endParaRPr sz="2400">
                <a:solidFill>
                  <a:srgbClr val="E4DDD2"/>
                </a:solidFill>
                <a:latin typeface="Arial"/>
                <a:ea typeface="Arial"/>
                <a:cs typeface="Arial"/>
                <a:sym typeface="Arial"/>
              </a:endParaRPr>
            </a:p>
          </p:txBody>
        </p:sp>
        <p:sp>
          <p:nvSpPr>
            <p:cNvPr id="198" name="Google Shape;198;p16"/>
            <p:cNvSpPr/>
            <p:nvPr/>
          </p:nvSpPr>
          <p:spPr>
            <a:xfrm>
              <a:off x="4373" y="2169"/>
              <a:ext cx="47" cy="3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533">
                  <a:solidFill>
                    <a:srgbClr val="E4DDD2"/>
                  </a:solidFill>
                  <a:latin typeface="Calibri"/>
                  <a:ea typeface="Calibri"/>
                  <a:cs typeface="Calibri"/>
                  <a:sym typeface="Calibri"/>
                </a:rPr>
                <a:t>inst</a:t>
              </a:r>
              <a:endParaRPr sz="2400">
                <a:solidFill>
                  <a:srgbClr val="E4DDD2"/>
                </a:solidFill>
                <a:latin typeface="Arial"/>
                <a:ea typeface="Arial"/>
                <a:cs typeface="Arial"/>
                <a:sym typeface="Arial"/>
              </a:endParaRPr>
            </a:p>
          </p:txBody>
        </p:sp>
        <p:sp>
          <p:nvSpPr>
            <p:cNvPr id="199" name="Google Shape;199;p16"/>
            <p:cNvSpPr/>
            <p:nvPr/>
          </p:nvSpPr>
          <p:spPr>
            <a:xfrm>
              <a:off x="4419" y="2169"/>
              <a:ext cx="91" cy="3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533">
                  <a:solidFill>
                    <a:srgbClr val="E4DDD2"/>
                  </a:solidFill>
                  <a:latin typeface="Calibri"/>
                  <a:ea typeface="Calibri"/>
                  <a:cs typeface="Calibri"/>
                  <a:sym typeface="Calibri"/>
                </a:rPr>
                <a:t>[19:15]</a:t>
              </a:r>
              <a:endParaRPr sz="2400">
                <a:solidFill>
                  <a:srgbClr val="E4DDD2"/>
                </a:solidFill>
                <a:latin typeface="Arial"/>
                <a:ea typeface="Arial"/>
                <a:cs typeface="Arial"/>
                <a:sym typeface="Arial"/>
              </a:endParaRPr>
            </a:p>
          </p:txBody>
        </p:sp>
        <p:sp>
          <p:nvSpPr>
            <p:cNvPr id="200" name="Google Shape;200;p16"/>
            <p:cNvSpPr/>
            <p:nvPr/>
          </p:nvSpPr>
          <p:spPr>
            <a:xfrm>
              <a:off x="4373" y="2220"/>
              <a:ext cx="47" cy="3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533">
                  <a:solidFill>
                    <a:srgbClr val="E4DDD2"/>
                  </a:solidFill>
                  <a:latin typeface="Calibri"/>
                  <a:ea typeface="Calibri"/>
                  <a:cs typeface="Calibri"/>
                  <a:sym typeface="Calibri"/>
                </a:rPr>
                <a:t>inst</a:t>
              </a:r>
              <a:endParaRPr sz="2400">
                <a:solidFill>
                  <a:srgbClr val="E4DDD2"/>
                </a:solidFill>
                <a:latin typeface="Arial"/>
                <a:ea typeface="Arial"/>
                <a:cs typeface="Arial"/>
                <a:sym typeface="Arial"/>
              </a:endParaRPr>
            </a:p>
          </p:txBody>
        </p:sp>
        <p:sp>
          <p:nvSpPr>
            <p:cNvPr id="201" name="Google Shape;201;p16"/>
            <p:cNvSpPr/>
            <p:nvPr/>
          </p:nvSpPr>
          <p:spPr>
            <a:xfrm>
              <a:off x="4419" y="2220"/>
              <a:ext cx="91" cy="3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533">
                  <a:solidFill>
                    <a:srgbClr val="E4DDD2"/>
                  </a:solidFill>
                  <a:latin typeface="Calibri"/>
                  <a:ea typeface="Calibri"/>
                  <a:cs typeface="Calibri"/>
                  <a:sym typeface="Calibri"/>
                </a:rPr>
                <a:t>[24:20]</a:t>
              </a:r>
              <a:endParaRPr sz="2400">
                <a:solidFill>
                  <a:srgbClr val="E4DDD2"/>
                </a:solidFill>
                <a:latin typeface="Arial"/>
                <a:ea typeface="Arial"/>
                <a:cs typeface="Arial"/>
                <a:sym typeface="Arial"/>
              </a:endParaRPr>
            </a:p>
          </p:txBody>
        </p:sp>
        <p:sp>
          <p:nvSpPr>
            <p:cNvPr id="202" name="Google Shape;202;p16"/>
            <p:cNvSpPr/>
            <p:nvPr/>
          </p:nvSpPr>
          <p:spPr>
            <a:xfrm>
              <a:off x="4361" y="2362"/>
              <a:ext cx="47" cy="37"/>
            </a:xfrm>
            <a:prstGeom prst="rect">
              <a:avLst/>
            </a:prstGeom>
            <a:noFill/>
            <a:ln cap="flat" cmpd="sng" w="9525">
              <a:solidFill>
                <a:srgbClr val="000000"/>
              </a:solidFill>
              <a:prstDash val="solid"/>
              <a:miter lim="800000"/>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US" sz="533">
                  <a:solidFill>
                    <a:srgbClr val="E4DDD2"/>
                  </a:solidFill>
                  <a:latin typeface="Calibri"/>
                  <a:ea typeface="Calibri"/>
                  <a:cs typeface="Calibri"/>
                  <a:sym typeface="Calibri"/>
                </a:rPr>
                <a:t>inst</a:t>
              </a:r>
              <a:endParaRPr sz="2400">
                <a:solidFill>
                  <a:srgbClr val="E4DDD2"/>
                </a:solidFill>
                <a:latin typeface="Arial"/>
                <a:ea typeface="Arial"/>
                <a:cs typeface="Arial"/>
                <a:sym typeface="Arial"/>
              </a:endParaRPr>
            </a:p>
          </p:txBody>
        </p:sp>
        <p:sp>
          <p:nvSpPr>
            <p:cNvPr id="203" name="Google Shape;203;p16"/>
            <p:cNvSpPr/>
            <p:nvPr/>
          </p:nvSpPr>
          <p:spPr>
            <a:xfrm>
              <a:off x="4407" y="2362"/>
              <a:ext cx="75" cy="3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533">
                  <a:solidFill>
                    <a:srgbClr val="E4DDD2"/>
                  </a:solidFill>
                  <a:latin typeface="Calibri"/>
                  <a:ea typeface="Calibri"/>
                  <a:cs typeface="Calibri"/>
                  <a:sym typeface="Calibri"/>
                </a:rPr>
                <a:t>[31:7]</a:t>
              </a:r>
              <a:endParaRPr sz="2400">
                <a:solidFill>
                  <a:srgbClr val="E4DDD2"/>
                </a:solidFill>
                <a:latin typeface="Arial"/>
                <a:ea typeface="Arial"/>
                <a:cs typeface="Arial"/>
                <a:sym typeface="Arial"/>
              </a:endParaRPr>
            </a:p>
          </p:txBody>
        </p:sp>
        <p:sp>
          <p:nvSpPr>
            <p:cNvPr id="204" name="Google Shape;204;p16"/>
            <p:cNvSpPr/>
            <p:nvPr/>
          </p:nvSpPr>
          <p:spPr>
            <a:xfrm>
              <a:off x="4912" y="2170"/>
              <a:ext cx="87" cy="147"/>
            </a:xfrm>
            <a:custGeom>
              <a:rect b="b" l="l" r="r" t="t"/>
              <a:pathLst>
                <a:path extrusionOk="0" h="3475" w="2060">
                  <a:moveTo>
                    <a:pt x="0" y="3475"/>
                  </a:moveTo>
                  <a:lnTo>
                    <a:pt x="0" y="318"/>
                  </a:lnTo>
                  <a:lnTo>
                    <a:pt x="1910" y="318"/>
                  </a:lnTo>
                  <a:lnTo>
                    <a:pt x="1910" y="470"/>
                  </a:lnTo>
                  <a:lnTo>
                    <a:pt x="76" y="470"/>
                  </a:lnTo>
                  <a:lnTo>
                    <a:pt x="152" y="394"/>
                  </a:lnTo>
                  <a:lnTo>
                    <a:pt x="152" y="3475"/>
                  </a:lnTo>
                  <a:lnTo>
                    <a:pt x="0" y="3475"/>
                  </a:lnTo>
                  <a:close/>
                  <a:moveTo>
                    <a:pt x="1525" y="25"/>
                  </a:moveTo>
                  <a:lnTo>
                    <a:pt x="2060" y="409"/>
                  </a:lnTo>
                  <a:lnTo>
                    <a:pt x="1463" y="685"/>
                  </a:lnTo>
                  <a:cubicBezTo>
                    <a:pt x="1425" y="703"/>
                    <a:pt x="1380" y="686"/>
                    <a:pt x="1362" y="648"/>
                  </a:cubicBezTo>
                  <a:cubicBezTo>
                    <a:pt x="1344" y="610"/>
                    <a:pt x="1361" y="565"/>
                    <a:pt x="1399" y="547"/>
                  </a:cubicBezTo>
                  <a:lnTo>
                    <a:pt x="1878" y="325"/>
                  </a:lnTo>
                  <a:lnTo>
                    <a:pt x="1866" y="456"/>
                  </a:lnTo>
                  <a:lnTo>
                    <a:pt x="1437" y="148"/>
                  </a:lnTo>
                  <a:cubicBezTo>
                    <a:pt x="1403" y="124"/>
                    <a:pt x="1395" y="76"/>
                    <a:pt x="1419" y="42"/>
                  </a:cubicBezTo>
                  <a:cubicBezTo>
                    <a:pt x="1444" y="8"/>
                    <a:pt x="1491" y="0"/>
                    <a:pt x="1525" y="25"/>
                  </a:cubicBezTo>
                  <a:close/>
                </a:path>
              </a:pathLst>
            </a:custGeom>
            <a:solidFill>
              <a:srgbClr val="767171"/>
            </a:solidFill>
            <a:ln cap="flat" cmpd="sng" w="9525">
              <a:solidFill>
                <a:srgbClr val="E4DDD2"/>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205" name="Google Shape;205;p16"/>
            <p:cNvSpPr/>
            <p:nvPr/>
          </p:nvSpPr>
          <p:spPr>
            <a:xfrm>
              <a:off x="5546" y="1980"/>
              <a:ext cx="62" cy="37"/>
            </a:xfrm>
            <a:prstGeom prst="rect">
              <a:avLst/>
            </a:prstGeom>
            <a:noFill/>
            <a:ln cap="flat" cmpd="sng" w="9525">
              <a:solidFill>
                <a:srgbClr val="000000"/>
              </a:solidFill>
              <a:prstDash val="solid"/>
              <a:miter lim="800000"/>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US" sz="533">
                  <a:solidFill>
                    <a:srgbClr val="E4DDD2"/>
                  </a:solidFill>
                  <a:latin typeface="Calibri"/>
                  <a:ea typeface="Calibri"/>
                  <a:cs typeface="Calibri"/>
                  <a:sym typeface="Calibri"/>
                </a:rPr>
                <a:t>pc+4</a:t>
              </a:r>
              <a:endParaRPr sz="2400">
                <a:solidFill>
                  <a:srgbClr val="E4DDD2"/>
                </a:solidFill>
                <a:latin typeface="Arial"/>
                <a:ea typeface="Arial"/>
                <a:cs typeface="Arial"/>
                <a:sym typeface="Arial"/>
              </a:endParaRPr>
            </a:p>
          </p:txBody>
        </p:sp>
        <p:sp>
          <p:nvSpPr>
            <p:cNvPr id="206" name="Google Shape;206;p16"/>
            <p:cNvSpPr/>
            <p:nvPr/>
          </p:nvSpPr>
          <p:spPr>
            <a:xfrm>
              <a:off x="5473" y="2011"/>
              <a:ext cx="38" cy="37"/>
            </a:xfrm>
            <a:prstGeom prst="rect">
              <a:avLst/>
            </a:prstGeom>
            <a:noFill/>
            <a:ln cap="flat" cmpd="sng" w="9525">
              <a:solidFill>
                <a:srgbClr val="000000"/>
              </a:solidFill>
              <a:prstDash val="solid"/>
              <a:miter lim="800000"/>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US" sz="533">
                  <a:solidFill>
                    <a:srgbClr val="E4DDD2"/>
                  </a:solidFill>
                  <a:latin typeface="Calibri"/>
                  <a:ea typeface="Calibri"/>
                  <a:cs typeface="Calibri"/>
                  <a:sym typeface="Calibri"/>
                </a:rPr>
                <a:t>alu</a:t>
              </a:r>
              <a:endParaRPr sz="2400">
                <a:solidFill>
                  <a:srgbClr val="E4DDD2"/>
                </a:solidFill>
                <a:latin typeface="Arial"/>
                <a:ea typeface="Arial"/>
                <a:cs typeface="Arial"/>
                <a:sym typeface="Arial"/>
              </a:endParaRPr>
            </a:p>
          </p:txBody>
        </p:sp>
        <p:sp>
          <p:nvSpPr>
            <p:cNvPr id="207" name="Google Shape;207;p16"/>
            <p:cNvSpPr/>
            <p:nvPr/>
          </p:nvSpPr>
          <p:spPr>
            <a:xfrm>
              <a:off x="5497" y="2189"/>
              <a:ext cx="67" cy="37"/>
            </a:xfrm>
            <a:prstGeom prst="rect">
              <a:avLst/>
            </a:prstGeom>
            <a:noFill/>
            <a:ln cap="flat" cmpd="sng" w="9525">
              <a:solidFill>
                <a:srgbClr val="000000"/>
              </a:solidFill>
              <a:prstDash val="solid"/>
              <a:miter lim="800000"/>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US" sz="533">
                  <a:solidFill>
                    <a:srgbClr val="E4DDD2"/>
                  </a:solidFill>
                  <a:latin typeface="Calibri"/>
                  <a:ea typeface="Calibri"/>
                  <a:cs typeface="Calibri"/>
                  <a:sym typeface="Calibri"/>
                </a:rPr>
                <a:t>mem</a:t>
              </a:r>
              <a:endParaRPr sz="2400">
                <a:solidFill>
                  <a:srgbClr val="E4DDD2"/>
                </a:solidFill>
                <a:latin typeface="Arial"/>
                <a:ea typeface="Arial"/>
                <a:cs typeface="Arial"/>
                <a:sym typeface="Arial"/>
              </a:endParaRPr>
            </a:p>
          </p:txBody>
        </p:sp>
        <p:sp>
          <p:nvSpPr>
            <p:cNvPr id="208" name="Google Shape;208;p16"/>
            <p:cNvSpPr/>
            <p:nvPr/>
          </p:nvSpPr>
          <p:spPr>
            <a:xfrm>
              <a:off x="5620" y="2129"/>
              <a:ext cx="39" cy="37"/>
            </a:xfrm>
            <a:prstGeom prst="rect">
              <a:avLst/>
            </a:prstGeom>
            <a:noFill/>
            <a:ln cap="flat" cmpd="sng" w="9525">
              <a:solidFill>
                <a:srgbClr val="000000"/>
              </a:solidFill>
              <a:prstDash val="solid"/>
              <a:miter lim="800000"/>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US" sz="533">
                  <a:solidFill>
                    <a:srgbClr val="E4DDD2"/>
                  </a:solidFill>
                  <a:latin typeface="Calibri"/>
                  <a:ea typeface="Calibri"/>
                  <a:cs typeface="Calibri"/>
                  <a:sym typeface="Calibri"/>
                </a:rPr>
                <a:t>wb</a:t>
              </a:r>
              <a:endParaRPr sz="2400">
                <a:solidFill>
                  <a:srgbClr val="E4DDD2"/>
                </a:solidFill>
                <a:latin typeface="Arial"/>
                <a:ea typeface="Arial"/>
                <a:cs typeface="Arial"/>
                <a:sym typeface="Arial"/>
              </a:endParaRPr>
            </a:p>
          </p:txBody>
        </p:sp>
        <p:sp>
          <p:nvSpPr>
            <p:cNvPr id="209" name="Google Shape;209;p16"/>
            <p:cNvSpPr/>
            <p:nvPr/>
          </p:nvSpPr>
          <p:spPr>
            <a:xfrm>
              <a:off x="3893" y="2077"/>
              <a:ext cx="38" cy="3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533">
                  <a:solidFill>
                    <a:srgbClr val="E4DDD2"/>
                  </a:solidFill>
                  <a:latin typeface="Calibri"/>
                  <a:ea typeface="Calibri"/>
                  <a:cs typeface="Calibri"/>
                  <a:sym typeface="Calibri"/>
                </a:rPr>
                <a:t>alu</a:t>
              </a:r>
              <a:endParaRPr sz="2400">
                <a:solidFill>
                  <a:srgbClr val="E4DDD2"/>
                </a:solidFill>
                <a:latin typeface="Arial"/>
                <a:ea typeface="Arial"/>
                <a:cs typeface="Arial"/>
                <a:sym typeface="Arial"/>
              </a:endParaRPr>
            </a:p>
          </p:txBody>
        </p:sp>
        <p:sp>
          <p:nvSpPr>
            <p:cNvPr id="210" name="Google Shape;210;p16"/>
            <p:cNvSpPr/>
            <p:nvPr/>
          </p:nvSpPr>
          <p:spPr>
            <a:xfrm>
              <a:off x="3868" y="2142"/>
              <a:ext cx="62" cy="3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533">
                  <a:solidFill>
                    <a:srgbClr val="E4DDD2"/>
                  </a:solidFill>
                  <a:latin typeface="Calibri"/>
                  <a:ea typeface="Calibri"/>
                  <a:cs typeface="Calibri"/>
                  <a:sym typeface="Calibri"/>
                </a:rPr>
                <a:t>pc+4</a:t>
              </a:r>
              <a:endParaRPr sz="2400">
                <a:solidFill>
                  <a:srgbClr val="E4DDD2"/>
                </a:solidFill>
                <a:latin typeface="Arial"/>
                <a:ea typeface="Arial"/>
                <a:cs typeface="Arial"/>
                <a:sym typeface="Arial"/>
              </a:endParaRPr>
            </a:p>
          </p:txBody>
        </p:sp>
        <p:sp>
          <p:nvSpPr>
            <p:cNvPr id="211" name="Google Shape;211;p16"/>
            <p:cNvSpPr/>
            <p:nvPr/>
          </p:nvSpPr>
          <p:spPr>
            <a:xfrm>
              <a:off x="4893" y="2066"/>
              <a:ext cx="47" cy="37"/>
            </a:xfrm>
            <a:prstGeom prst="rect">
              <a:avLst/>
            </a:prstGeom>
            <a:noFill/>
            <a:ln cap="flat" cmpd="sng" w="9525">
              <a:solidFill>
                <a:srgbClr val="000000"/>
              </a:solidFill>
              <a:prstDash val="solid"/>
              <a:miter lim="800000"/>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US" sz="533">
                  <a:solidFill>
                    <a:srgbClr val="E4DDD2"/>
                  </a:solidFill>
                  <a:latin typeface="Calibri"/>
                  <a:ea typeface="Calibri"/>
                  <a:cs typeface="Calibri"/>
                  <a:sym typeface="Calibri"/>
                </a:rPr>
                <a:t>Reg</a:t>
              </a:r>
              <a:endParaRPr sz="2400">
                <a:solidFill>
                  <a:srgbClr val="E4DDD2"/>
                </a:solidFill>
                <a:latin typeface="Arial"/>
                <a:ea typeface="Arial"/>
                <a:cs typeface="Arial"/>
                <a:sym typeface="Arial"/>
              </a:endParaRPr>
            </a:p>
          </p:txBody>
        </p:sp>
        <p:sp>
          <p:nvSpPr>
            <p:cNvPr id="212" name="Google Shape;212;p16"/>
            <p:cNvSpPr/>
            <p:nvPr/>
          </p:nvSpPr>
          <p:spPr>
            <a:xfrm>
              <a:off x="4940" y="2066"/>
              <a:ext cx="59" cy="37"/>
            </a:xfrm>
            <a:prstGeom prst="rect">
              <a:avLst/>
            </a:prstGeom>
            <a:noFill/>
            <a:ln cap="flat" cmpd="sng" w="9525">
              <a:solidFill>
                <a:srgbClr val="000000"/>
              </a:solidFill>
              <a:prstDash val="solid"/>
              <a:miter lim="800000"/>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US" sz="533">
                  <a:solidFill>
                    <a:srgbClr val="E4DDD2"/>
                  </a:solidFill>
                  <a:latin typeface="Calibri"/>
                  <a:ea typeface="Calibri"/>
                  <a:cs typeface="Calibri"/>
                  <a:sym typeface="Calibri"/>
                </a:rPr>
                <a:t>[rs1]</a:t>
              </a:r>
              <a:endParaRPr sz="2400">
                <a:solidFill>
                  <a:srgbClr val="E4DDD2"/>
                </a:solidFill>
                <a:latin typeface="Arial"/>
                <a:ea typeface="Arial"/>
                <a:cs typeface="Arial"/>
                <a:sym typeface="Arial"/>
              </a:endParaRPr>
            </a:p>
          </p:txBody>
        </p:sp>
        <p:sp>
          <p:nvSpPr>
            <p:cNvPr id="213" name="Google Shape;213;p16"/>
            <p:cNvSpPr/>
            <p:nvPr/>
          </p:nvSpPr>
          <p:spPr>
            <a:xfrm>
              <a:off x="4911" y="1997"/>
              <a:ext cx="30" cy="37"/>
            </a:xfrm>
            <a:prstGeom prst="rect">
              <a:avLst/>
            </a:prstGeom>
            <a:noFill/>
            <a:ln cap="flat" cmpd="sng" w="9525">
              <a:solidFill>
                <a:srgbClr val="000000"/>
              </a:solidFill>
              <a:prstDash val="solid"/>
              <a:miter lim="800000"/>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US" sz="533">
                  <a:solidFill>
                    <a:srgbClr val="E4DDD2"/>
                  </a:solidFill>
                  <a:latin typeface="Calibri"/>
                  <a:ea typeface="Calibri"/>
                  <a:cs typeface="Calibri"/>
                  <a:sym typeface="Calibri"/>
                </a:rPr>
                <a:t>pc</a:t>
              </a:r>
              <a:endParaRPr sz="2400">
                <a:solidFill>
                  <a:srgbClr val="E4DDD2"/>
                </a:solidFill>
                <a:latin typeface="Arial"/>
                <a:ea typeface="Arial"/>
                <a:cs typeface="Arial"/>
                <a:sym typeface="Arial"/>
              </a:endParaRPr>
            </a:p>
          </p:txBody>
        </p:sp>
        <p:sp>
          <p:nvSpPr>
            <p:cNvPr id="214" name="Google Shape;214;p16"/>
            <p:cNvSpPr/>
            <p:nvPr/>
          </p:nvSpPr>
          <p:spPr>
            <a:xfrm>
              <a:off x="4656" y="2379"/>
              <a:ext cx="58" cy="3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533">
                  <a:solidFill>
                    <a:srgbClr val="E4DDD2"/>
                  </a:solidFill>
                  <a:latin typeface="Calibri"/>
                  <a:ea typeface="Calibri"/>
                  <a:cs typeface="Calibri"/>
                  <a:sym typeface="Calibri"/>
                </a:rPr>
                <a:t>imm</a:t>
              </a:r>
              <a:endParaRPr sz="2400">
                <a:solidFill>
                  <a:srgbClr val="E4DDD2"/>
                </a:solidFill>
                <a:latin typeface="Arial"/>
                <a:ea typeface="Arial"/>
                <a:cs typeface="Arial"/>
                <a:sym typeface="Arial"/>
              </a:endParaRPr>
            </a:p>
          </p:txBody>
        </p:sp>
        <p:sp>
          <p:nvSpPr>
            <p:cNvPr id="215" name="Google Shape;215;p16"/>
            <p:cNvSpPr/>
            <p:nvPr/>
          </p:nvSpPr>
          <p:spPr>
            <a:xfrm>
              <a:off x="4714" y="2379"/>
              <a:ext cx="75" cy="3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533">
                  <a:solidFill>
                    <a:srgbClr val="E4DDD2"/>
                  </a:solidFill>
                  <a:latin typeface="Calibri"/>
                  <a:ea typeface="Calibri"/>
                  <a:cs typeface="Calibri"/>
                  <a:sym typeface="Calibri"/>
                </a:rPr>
                <a:t>[31:0]</a:t>
              </a:r>
              <a:endParaRPr sz="2400">
                <a:solidFill>
                  <a:srgbClr val="E4DDD2"/>
                </a:solidFill>
                <a:latin typeface="Arial"/>
                <a:ea typeface="Arial"/>
                <a:cs typeface="Arial"/>
                <a:sym typeface="Arial"/>
              </a:endParaRPr>
            </a:p>
          </p:txBody>
        </p:sp>
        <p:sp>
          <p:nvSpPr>
            <p:cNvPr id="216" name="Google Shape;216;p16"/>
            <p:cNvSpPr/>
            <p:nvPr/>
          </p:nvSpPr>
          <p:spPr>
            <a:xfrm>
              <a:off x="4890" y="2134"/>
              <a:ext cx="47" cy="37"/>
            </a:xfrm>
            <a:prstGeom prst="rect">
              <a:avLst/>
            </a:prstGeom>
            <a:noFill/>
            <a:ln cap="flat" cmpd="sng" w="9525">
              <a:solidFill>
                <a:srgbClr val="000000"/>
              </a:solidFill>
              <a:prstDash val="solid"/>
              <a:miter lim="800000"/>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US" sz="533">
                  <a:solidFill>
                    <a:srgbClr val="E4DDD2"/>
                  </a:solidFill>
                  <a:latin typeface="Calibri"/>
                  <a:ea typeface="Calibri"/>
                  <a:cs typeface="Calibri"/>
                  <a:sym typeface="Calibri"/>
                </a:rPr>
                <a:t>Reg</a:t>
              </a:r>
              <a:endParaRPr sz="2400">
                <a:solidFill>
                  <a:srgbClr val="E4DDD2"/>
                </a:solidFill>
                <a:latin typeface="Arial"/>
                <a:ea typeface="Arial"/>
                <a:cs typeface="Arial"/>
                <a:sym typeface="Arial"/>
              </a:endParaRPr>
            </a:p>
          </p:txBody>
        </p:sp>
        <p:sp>
          <p:nvSpPr>
            <p:cNvPr id="217" name="Google Shape;217;p16"/>
            <p:cNvSpPr/>
            <p:nvPr/>
          </p:nvSpPr>
          <p:spPr>
            <a:xfrm>
              <a:off x="4937" y="2134"/>
              <a:ext cx="59" cy="37"/>
            </a:xfrm>
            <a:prstGeom prst="rect">
              <a:avLst/>
            </a:prstGeom>
            <a:noFill/>
            <a:ln cap="flat" cmpd="sng" w="9525">
              <a:solidFill>
                <a:srgbClr val="000000"/>
              </a:solidFill>
              <a:prstDash val="solid"/>
              <a:miter lim="800000"/>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rPr lang="en-US" sz="533">
                  <a:solidFill>
                    <a:srgbClr val="E4DDD2"/>
                  </a:solidFill>
                  <a:latin typeface="Calibri"/>
                  <a:ea typeface="Calibri"/>
                  <a:cs typeface="Calibri"/>
                  <a:sym typeface="Calibri"/>
                </a:rPr>
                <a:t>[rs2]</a:t>
              </a:r>
              <a:endParaRPr sz="2400">
                <a:solidFill>
                  <a:srgbClr val="E4DDD2"/>
                </a:solidFill>
                <a:latin typeface="Arial"/>
                <a:ea typeface="Arial"/>
                <a:cs typeface="Arial"/>
                <a:sym typeface="Arial"/>
              </a:endParaRPr>
            </a:p>
          </p:txBody>
        </p:sp>
        <p:sp>
          <p:nvSpPr>
            <p:cNvPr id="218" name="Google Shape;218;p16"/>
            <p:cNvSpPr/>
            <p:nvPr/>
          </p:nvSpPr>
          <p:spPr>
            <a:xfrm>
              <a:off x="4611" y="2223"/>
              <a:ext cx="388" cy="202"/>
            </a:xfrm>
            <a:custGeom>
              <a:rect b="b" l="l" r="r" t="t"/>
              <a:pathLst>
                <a:path extrusionOk="0" h="4763" w="9167">
                  <a:moveTo>
                    <a:pt x="0" y="4763"/>
                  </a:moveTo>
                  <a:lnTo>
                    <a:pt x="7725" y="4763"/>
                  </a:lnTo>
                  <a:lnTo>
                    <a:pt x="7725" y="352"/>
                  </a:lnTo>
                  <a:lnTo>
                    <a:pt x="7649" y="428"/>
                  </a:lnTo>
                  <a:lnTo>
                    <a:pt x="9017" y="428"/>
                  </a:lnTo>
                  <a:lnTo>
                    <a:pt x="9017" y="276"/>
                  </a:lnTo>
                  <a:lnTo>
                    <a:pt x="7573" y="276"/>
                  </a:lnTo>
                  <a:lnTo>
                    <a:pt x="7573" y="4687"/>
                  </a:lnTo>
                  <a:lnTo>
                    <a:pt x="7649" y="4611"/>
                  </a:lnTo>
                  <a:lnTo>
                    <a:pt x="0" y="4611"/>
                  </a:lnTo>
                  <a:lnTo>
                    <a:pt x="0" y="4763"/>
                  </a:lnTo>
                  <a:close/>
                  <a:moveTo>
                    <a:pt x="8599" y="684"/>
                  </a:moveTo>
                  <a:lnTo>
                    <a:pt x="9167" y="352"/>
                  </a:lnTo>
                  <a:lnTo>
                    <a:pt x="8599" y="21"/>
                  </a:lnTo>
                  <a:cubicBezTo>
                    <a:pt x="8563" y="0"/>
                    <a:pt x="8516" y="12"/>
                    <a:pt x="8495" y="48"/>
                  </a:cubicBezTo>
                  <a:cubicBezTo>
                    <a:pt x="8474" y="84"/>
                    <a:pt x="8486" y="131"/>
                    <a:pt x="8522" y="152"/>
                  </a:cubicBezTo>
                  <a:lnTo>
                    <a:pt x="8978" y="418"/>
                  </a:lnTo>
                  <a:lnTo>
                    <a:pt x="8978" y="287"/>
                  </a:lnTo>
                  <a:lnTo>
                    <a:pt x="8522" y="553"/>
                  </a:lnTo>
                  <a:cubicBezTo>
                    <a:pt x="8486" y="574"/>
                    <a:pt x="8474" y="621"/>
                    <a:pt x="8495" y="657"/>
                  </a:cubicBezTo>
                  <a:cubicBezTo>
                    <a:pt x="8516" y="693"/>
                    <a:pt x="8563" y="705"/>
                    <a:pt x="8599" y="684"/>
                  </a:cubicBezTo>
                  <a:close/>
                </a:path>
              </a:pathLst>
            </a:custGeom>
            <a:solidFill>
              <a:srgbClr val="767171"/>
            </a:solidFill>
            <a:ln cap="flat" cmpd="sng" w="9525">
              <a:solidFill>
                <a:srgbClr val="E4DDD2"/>
              </a:solidFill>
              <a:prstDash val="solid"/>
              <a:round/>
              <a:headEnd len="sm" w="sm" type="none"/>
              <a:tailEnd len="sm" w="sm" type="none"/>
            </a:ln>
          </p:spPr>
          <p:txBody>
            <a:bodyPr anchorCtr="0" anchor="t" bIns="60925" lIns="121900" spcFirstLastPara="1" rIns="121900" wrap="square" tIns="60925">
              <a:noAutofit/>
            </a:bodyPr>
            <a:lstStyle/>
            <a:p>
              <a:pPr indent="0" lvl="0" marL="0" marR="0" rtl="0" algn="l">
                <a:spcBef>
                  <a:spcPts val="0"/>
                </a:spcBef>
                <a:spcAft>
                  <a:spcPts val="0"/>
                </a:spcAft>
                <a:buNone/>
              </a:pPr>
              <a:r>
                <a:t/>
              </a:r>
              <a:endParaRPr sz="30499">
                <a:solidFill>
                  <a:srgbClr val="E4DDD2"/>
                </a:solidFill>
                <a:latin typeface="Helvetica Neue"/>
                <a:ea typeface="Helvetica Neue"/>
                <a:cs typeface="Helvetica Neue"/>
                <a:sym typeface="Helvetica Neue"/>
              </a:endParaRPr>
            </a:p>
          </p:txBody>
        </p:sp>
        <p:sp>
          <p:nvSpPr>
            <p:cNvPr id="219" name="Google Shape;219;p16"/>
            <p:cNvSpPr/>
            <p:nvPr/>
          </p:nvSpPr>
          <p:spPr>
            <a:xfrm>
              <a:off x="4469" y="2034"/>
              <a:ext cx="39" cy="3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533">
                  <a:solidFill>
                    <a:srgbClr val="E4DDD2"/>
                  </a:solidFill>
                  <a:latin typeface="Calibri"/>
                  <a:ea typeface="Calibri"/>
                  <a:cs typeface="Calibri"/>
                  <a:sym typeface="Calibri"/>
                </a:rPr>
                <a:t>wb</a:t>
              </a:r>
              <a:endParaRPr sz="2400">
                <a:solidFill>
                  <a:srgbClr val="E4DDD2"/>
                </a:solidFill>
                <a:latin typeface="Arial"/>
                <a:ea typeface="Arial"/>
                <a:cs typeface="Arial"/>
                <a:sym typeface="Arial"/>
              </a:endParaRPr>
            </a:p>
          </p:txBody>
        </p:sp>
      </p:grpSp>
      <p:sp>
        <p:nvSpPr>
          <p:cNvPr id="220" name="Google Shape;220;p16"/>
          <p:cNvSpPr/>
          <p:nvPr/>
        </p:nvSpPr>
        <p:spPr>
          <a:xfrm>
            <a:off x="3067026" y="1803401"/>
            <a:ext cx="60959" cy="60959"/>
          </a:xfrm>
          <a:prstGeom prst="rect">
            <a:avLst/>
          </a:prstGeom>
          <a:gradFill>
            <a:gsLst>
              <a:gs pos="0">
                <a:srgbClr val="D6F0BB"/>
              </a:gs>
              <a:gs pos="25000">
                <a:srgbClr val="AED57D"/>
              </a:gs>
              <a:gs pos="40000">
                <a:srgbClr val="A5D26A"/>
              </a:gs>
              <a:gs pos="50000">
                <a:srgbClr val="A4D167"/>
              </a:gs>
              <a:gs pos="60000">
                <a:srgbClr val="A5D26A"/>
              </a:gs>
              <a:gs pos="75000">
                <a:srgbClr val="B0D97E"/>
              </a:gs>
              <a:gs pos="100000">
                <a:srgbClr val="D5F2B9"/>
              </a:gs>
            </a:gsLst>
            <a:lin ang="5400000" scaled="0"/>
          </a:gradFill>
          <a:ln cap="flat" cmpd="sng" w="12000">
            <a:solidFill>
              <a:schemeClr val="accent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sz="30499">
              <a:solidFill>
                <a:schemeClr val="lt1"/>
              </a:solidFill>
              <a:latin typeface="Helvetica Neue"/>
              <a:ea typeface="Helvetica Neue"/>
              <a:cs typeface="Helvetica Neue"/>
              <a:sym typeface="Helvetica Neue"/>
            </a:endParaRPr>
          </a:p>
        </p:txBody>
      </p:sp>
      <p:sp>
        <p:nvSpPr>
          <p:cNvPr id="221" name="Google Shape;221;p16"/>
          <p:cNvSpPr/>
          <p:nvPr/>
        </p:nvSpPr>
        <p:spPr>
          <a:xfrm>
            <a:off x="3127984" y="1812085"/>
            <a:ext cx="9014813" cy="951441"/>
          </a:xfrm>
          <a:prstGeom prst="rect">
            <a:avLst/>
          </a:prstGeom>
          <a:solidFill>
            <a:srgbClr val="0070C0">
              <a:alpha val="32156"/>
            </a:srgbClr>
          </a:solidFill>
          <a:ln cap="flat" cmpd="sng" w="28575">
            <a:solidFill>
              <a:srgbClr val="FFFF00"/>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i="1" sz="17156">
              <a:solidFill>
                <a:schemeClr val="lt1"/>
              </a:solidFill>
              <a:latin typeface="Helvetica Neue"/>
              <a:ea typeface="Helvetica Neue"/>
              <a:cs typeface="Helvetica Neue"/>
              <a:sym typeface="Helvetica Neue"/>
            </a:endParaRPr>
          </a:p>
        </p:txBody>
      </p:sp>
      <p:sp>
        <p:nvSpPr>
          <p:cNvPr id="222" name="Google Shape;222;p16"/>
          <p:cNvSpPr/>
          <p:nvPr/>
        </p:nvSpPr>
        <p:spPr>
          <a:xfrm>
            <a:off x="9209720" y="1856026"/>
            <a:ext cx="2933077" cy="861720"/>
          </a:xfrm>
          <a:prstGeom prst="rect">
            <a:avLst/>
          </a:prstGeom>
          <a:solidFill>
            <a:srgbClr val="FEB515"/>
          </a:solidFill>
          <a:ln>
            <a:noFill/>
          </a:ln>
        </p:spPr>
        <p:txBody>
          <a:bodyPr anchorCtr="0" anchor="t" bIns="60925" lIns="121900" spcFirstLastPara="1" rIns="121900" wrap="square" tIns="60925">
            <a:noAutofit/>
          </a:bodyPr>
          <a:lstStyle/>
          <a:p>
            <a:pPr indent="0" lvl="0" marL="0" marR="0" rtl="0" algn="r">
              <a:spcBef>
                <a:spcPts val="0"/>
              </a:spcBef>
              <a:spcAft>
                <a:spcPts val="0"/>
              </a:spcAft>
              <a:buNone/>
            </a:pPr>
            <a:r>
              <a:rPr lang="en-US" sz="1600">
                <a:solidFill>
                  <a:schemeClr val="dk1"/>
                </a:solidFill>
                <a:latin typeface="Arial"/>
                <a:ea typeface="Arial"/>
                <a:cs typeface="Arial"/>
                <a:sym typeface="Arial"/>
              </a:rPr>
              <a:t>Anything can be represented</a:t>
            </a:r>
            <a:br>
              <a:rPr lang="en-US" sz="1600">
                <a:solidFill>
                  <a:schemeClr val="dk1"/>
                </a:solidFill>
                <a:latin typeface="Arial"/>
                <a:ea typeface="Arial"/>
                <a:cs typeface="Arial"/>
                <a:sym typeface="Arial"/>
              </a:rPr>
            </a:br>
            <a:r>
              <a:rPr lang="en-US" sz="1600">
                <a:solidFill>
                  <a:schemeClr val="dk1"/>
                </a:solidFill>
                <a:latin typeface="Arial"/>
                <a:ea typeface="Arial"/>
                <a:cs typeface="Arial"/>
                <a:sym typeface="Arial"/>
              </a:rPr>
              <a:t>as a number, </a:t>
            </a:r>
            <a:br>
              <a:rPr lang="en-US" sz="1600">
                <a:solidFill>
                  <a:schemeClr val="dk1"/>
                </a:solidFill>
                <a:latin typeface="Arial"/>
                <a:ea typeface="Arial"/>
                <a:cs typeface="Arial"/>
                <a:sym typeface="Arial"/>
              </a:rPr>
            </a:br>
            <a:r>
              <a:rPr lang="en-US" sz="1600">
                <a:solidFill>
                  <a:schemeClr val="dk1"/>
                </a:solidFill>
                <a:latin typeface="Arial"/>
                <a:ea typeface="Arial"/>
                <a:cs typeface="Arial"/>
                <a:sym typeface="Arial"/>
              </a:rPr>
              <a:t>i.e., data or instructions</a:t>
            </a:r>
            <a:endParaRPr sz="1800">
              <a:solidFill>
                <a:schemeClr val="dk1"/>
              </a:solidFill>
              <a:latin typeface="Arial"/>
              <a:ea typeface="Arial"/>
              <a:cs typeface="Arial"/>
              <a:sym typeface="Arial"/>
            </a:endParaRPr>
          </a:p>
        </p:txBody>
      </p:sp>
      <p:pic>
        <p:nvPicPr>
          <p:cNvPr id="223" name="Google Shape;223;p16"/>
          <p:cNvPicPr preferRelativeResize="0"/>
          <p:nvPr/>
        </p:nvPicPr>
        <p:blipFill rotWithShape="1">
          <a:blip r:embed="rId4">
            <a:alphaModFix/>
          </a:blip>
          <a:srcRect b="0" l="0" r="0" t="0"/>
          <a:stretch/>
        </p:blipFill>
        <p:spPr>
          <a:xfrm>
            <a:off x="771083" y="2611751"/>
            <a:ext cx="1346200" cy="3149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7"/>
          <p:cNvSpPr txBox="1"/>
          <p:nvPr>
            <p:ph type="title"/>
          </p:nvPr>
        </p:nvSpPr>
        <p:spPr>
          <a:xfrm>
            <a:off x="1104901" y="76199"/>
            <a:ext cx="10509504" cy="76809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2"/>
              </a:buClr>
              <a:buSzPts val="4200"/>
              <a:buFont typeface="Arial"/>
              <a:buNone/>
            </a:pPr>
            <a:r>
              <a:rPr lang="en-US"/>
              <a:t>Assembly Language</a:t>
            </a:r>
            <a:endParaRPr/>
          </a:p>
        </p:txBody>
      </p:sp>
      <p:sp>
        <p:nvSpPr>
          <p:cNvPr id="230" name="Google Shape;230;p17"/>
          <p:cNvSpPr txBox="1"/>
          <p:nvPr>
            <p:ph idx="1" type="body"/>
          </p:nvPr>
        </p:nvSpPr>
        <p:spPr>
          <a:xfrm>
            <a:off x="288413" y="916710"/>
            <a:ext cx="11332079" cy="5287965"/>
          </a:xfrm>
          <a:prstGeom prst="rect">
            <a:avLst/>
          </a:prstGeom>
          <a:noFill/>
          <a:ln>
            <a:noFill/>
          </a:ln>
        </p:spPr>
        <p:txBody>
          <a:bodyPr anchorCtr="0" anchor="t" bIns="45700" lIns="91425" spcFirstLastPara="1" rIns="91425" wrap="square" tIns="45700">
            <a:normAutofit/>
          </a:bodyPr>
          <a:lstStyle/>
          <a:p>
            <a:pPr indent="-382588" lvl="0" marL="468313" rtl="0" algn="l">
              <a:lnSpc>
                <a:spcPct val="100000"/>
              </a:lnSpc>
              <a:spcBef>
                <a:spcPts val="0"/>
              </a:spcBef>
              <a:spcAft>
                <a:spcPts val="0"/>
              </a:spcAft>
              <a:buClr>
                <a:schemeClr val="lt1"/>
              </a:buClr>
              <a:buSzPts val="3040"/>
              <a:buChar char="▪"/>
            </a:pPr>
            <a:r>
              <a:rPr lang="en-US" sz="3200"/>
              <a:t>Basic job of a CPU: execute lots of </a:t>
            </a:r>
            <a:r>
              <a:rPr b="0" lang="en-US" sz="3200">
                <a:solidFill>
                  <a:srgbClr val="D8E156"/>
                </a:solidFill>
                <a:latin typeface="Arial"/>
                <a:ea typeface="Arial"/>
                <a:cs typeface="Arial"/>
                <a:sym typeface="Arial"/>
              </a:rPr>
              <a:t>instructions</a:t>
            </a:r>
            <a:endParaRPr sz="3200"/>
          </a:p>
          <a:p>
            <a:pPr indent="-382588" lvl="0" marL="468313" rtl="0" algn="l">
              <a:lnSpc>
                <a:spcPct val="100000"/>
              </a:lnSpc>
              <a:spcBef>
                <a:spcPts val="1000"/>
              </a:spcBef>
              <a:spcAft>
                <a:spcPts val="0"/>
              </a:spcAft>
              <a:buClr>
                <a:schemeClr val="lt1"/>
              </a:buClr>
              <a:buSzPts val="3040"/>
              <a:buChar char="▪"/>
            </a:pPr>
            <a:r>
              <a:rPr lang="en-US" sz="3200"/>
              <a:t>Instructions are the primitive operations that the CPU may execute</a:t>
            </a:r>
            <a:endParaRPr/>
          </a:p>
          <a:p>
            <a:pPr indent="-311143" lvl="1" marL="768331" rtl="0" algn="l">
              <a:lnSpc>
                <a:spcPct val="100000"/>
              </a:lnSpc>
              <a:spcBef>
                <a:spcPts val="500"/>
              </a:spcBef>
              <a:spcAft>
                <a:spcPts val="0"/>
              </a:spcAft>
              <a:buClr>
                <a:schemeClr val="accent2"/>
              </a:buClr>
              <a:buSzPts val="2400"/>
              <a:buChar char="▫"/>
            </a:pPr>
            <a:r>
              <a:rPr lang="en-US" sz="2667"/>
              <a:t>Like a sentence: </a:t>
            </a:r>
            <a:r>
              <a:rPr i="1" lang="en-US" sz="2667">
                <a:solidFill>
                  <a:schemeClr val="accent4"/>
                </a:solidFill>
                <a:latin typeface="Arial"/>
                <a:ea typeface="Arial"/>
                <a:cs typeface="Arial"/>
                <a:sym typeface="Arial"/>
              </a:rPr>
              <a:t>operations</a:t>
            </a:r>
            <a:r>
              <a:rPr lang="en-US" sz="2667"/>
              <a:t> (verbs) applied to </a:t>
            </a:r>
            <a:r>
              <a:rPr i="1" lang="en-US" sz="2667">
                <a:solidFill>
                  <a:schemeClr val="accent4"/>
                </a:solidFill>
                <a:latin typeface="Arial"/>
                <a:ea typeface="Arial"/>
                <a:cs typeface="Arial"/>
                <a:sym typeface="Arial"/>
              </a:rPr>
              <a:t>operands</a:t>
            </a:r>
            <a:r>
              <a:rPr lang="en-US" sz="2667"/>
              <a:t> (objects), processed in sequence …</a:t>
            </a:r>
            <a:endParaRPr/>
          </a:p>
          <a:p>
            <a:pPr indent="-382588" lvl="0" marL="468313" rtl="0" algn="l">
              <a:lnSpc>
                <a:spcPct val="100000"/>
              </a:lnSpc>
              <a:spcBef>
                <a:spcPts val="1000"/>
              </a:spcBef>
              <a:spcAft>
                <a:spcPts val="0"/>
              </a:spcAft>
              <a:buClr>
                <a:schemeClr val="lt1"/>
              </a:buClr>
              <a:buSzPts val="3040"/>
              <a:buChar char="▪"/>
            </a:pPr>
            <a:r>
              <a:rPr lang="en-US" sz="3200"/>
              <a:t>Different CPUs implement different sets of instructions.  The set of instructions a particular CPU implements is an </a:t>
            </a:r>
            <a:br>
              <a:rPr lang="en-US" sz="3200"/>
            </a:br>
            <a:r>
              <a:rPr b="0" lang="en-US" sz="3200">
                <a:solidFill>
                  <a:srgbClr val="D8E156"/>
                </a:solidFill>
                <a:latin typeface="Arial"/>
                <a:ea typeface="Arial"/>
                <a:cs typeface="Arial"/>
                <a:sym typeface="Arial"/>
              </a:rPr>
              <a:t>Instruction Set Architecture </a:t>
            </a:r>
            <a:r>
              <a:rPr lang="en-US" sz="3200"/>
              <a:t>(</a:t>
            </a:r>
            <a:r>
              <a:rPr b="0" lang="en-US" sz="3200">
                <a:solidFill>
                  <a:srgbClr val="D8E156"/>
                </a:solidFill>
                <a:latin typeface="Arial"/>
                <a:ea typeface="Arial"/>
                <a:cs typeface="Arial"/>
                <a:sym typeface="Arial"/>
              </a:rPr>
              <a:t>ISA</a:t>
            </a:r>
            <a:r>
              <a:rPr lang="en-US" sz="3200"/>
              <a:t>)</a:t>
            </a:r>
            <a:endParaRPr/>
          </a:p>
          <a:p>
            <a:pPr indent="-311143" lvl="1" marL="768331" rtl="0" algn="l">
              <a:lnSpc>
                <a:spcPct val="100000"/>
              </a:lnSpc>
              <a:spcBef>
                <a:spcPts val="500"/>
              </a:spcBef>
              <a:spcAft>
                <a:spcPts val="0"/>
              </a:spcAft>
              <a:buClr>
                <a:schemeClr val="accent2"/>
              </a:buClr>
              <a:buSzPts val="2400"/>
              <a:buChar char="▫"/>
            </a:pPr>
            <a:r>
              <a:rPr lang="en-US" sz="2667"/>
              <a:t>Examples: ARM (cell phones), Intel x86 (i9, i7, i5, i3), IBM/Motorola PowerPC (old Macs), MIPS, </a:t>
            </a:r>
            <a:r>
              <a:rPr i="1" lang="en-US" sz="2667">
                <a:solidFill>
                  <a:schemeClr val="accent4"/>
                </a:solidFill>
                <a:latin typeface="Arial"/>
                <a:ea typeface="Arial"/>
                <a:cs typeface="Arial"/>
                <a:sym typeface="Arial"/>
              </a:rPr>
              <a:t>RISC-V</a:t>
            </a:r>
            <a:r>
              <a:rPr lang="en-US" sz="2667"/>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8"/>
          <p:cNvSpPr txBox="1"/>
          <p:nvPr>
            <p:ph type="title"/>
          </p:nvPr>
        </p:nvSpPr>
        <p:spPr>
          <a:xfrm>
            <a:off x="1104901" y="76199"/>
            <a:ext cx="10509504" cy="768096"/>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2"/>
              </a:buClr>
              <a:buSzPts val="4200"/>
              <a:buFont typeface="Arial"/>
              <a:buNone/>
            </a:pPr>
            <a:r>
              <a:rPr lang="en-US" sz="4066"/>
              <a:t>Book: Programming From the Ground Up</a:t>
            </a:r>
            <a:endParaRPr sz="4066"/>
          </a:p>
        </p:txBody>
      </p:sp>
      <p:sp>
        <p:nvSpPr>
          <p:cNvPr id="237" name="Google Shape;237;p18"/>
          <p:cNvSpPr txBox="1"/>
          <p:nvPr>
            <p:ph idx="1" type="body"/>
          </p:nvPr>
        </p:nvSpPr>
        <p:spPr>
          <a:xfrm>
            <a:off x="288413" y="916710"/>
            <a:ext cx="9842873" cy="528796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1"/>
              </a:buClr>
              <a:buSzPts val="2461"/>
              <a:buNone/>
            </a:pPr>
            <a:r>
              <a:rPr b="0" lang="en-US" sz="2490">
                <a:latin typeface="Arial"/>
                <a:ea typeface="Arial"/>
                <a:cs typeface="Arial"/>
                <a:sym typeface="Arial"/>
              </a:rPr>
              <a:t>“A new book was just released which is based on a new concept – teaching computer science through assembly language (Linux x86 assembly language, to be exact). This book teaches how the machine itself operates, rather than just the language. I've found that the key difference between mediocre and excellent programmers is whether or not they know assembly language. </a:t>
            </a:r>
            <a:r>
              <a:rPr b="0" lang="en-US" sz="2490">
                <a:solidFill>
                  <a:srgbClr val="D8E156"/>
                </a:solidFill>
                <a:latin typeface="Arial"/>
                <a:ea typeface="Arial"/>
                <a:cs typeface="Arial"/>
                <a:sym typeface="Arial"/>
              </a:rPr>
              <a:t>Those that do tend to understand computers themselves at a much deeper level.  </a:t>
            </a:r>
            <a:r>
              <a:rPr b="0" lang="en-US" sz="2490">
                <a:latin typeface="Arial"/>
                <a:ea typeface="Arial"/>
                <a:cs typeface="Arial"/>
                <a:sym typeface="Arial"/>
              </a:rPr>
              <a:t>Although [almost!] unheard of today, this concept isn't really all that new -- there used to not be much choice in years past. Apple computers came with only BASIC and assembly language, and there were books available on assembly language for kids.  This is why the old-timers are often viewed as 'wizards': they had to know assembly language programming.”</a:t>
            </a:r>
            <a:br>
              <a:rPr b="0" lang="en-US" sz="2490">
                <a:latin typeface="Arial"/>
                <a:ea typeface="Arial"/>
                <a:cs typeface="Arial"/>
                <a:sym typeface="Arial"/>
              </a:rPr>
            </a:br>
            <a:r>
              <a:rPr b="0" lang="en-US" sz="2490">
                <a:latin typeface="Arial"/>
                <a:ea typeface="Arial"/>
                <a:cs typeface="Arial"/>
                <a:sym typeface="Arial"/>
              </a:rPr>
              <a:t>	</a:t>
            </a:r>
            <a:r>
              <a:rPr b="0" i="1" lang="en-US" sz="2490">
                <a:latin typeface="Arial"/>
                <a:ea typeface="Arial"/>
                <a:cs typeface="Arial"/>
                <a:sym typeface="Arial"/>
              </a:rPr>
              <a:t>-- slashdot.org comment, 2004-02-05 </a:t>
            </a:r>
            <a:endParaRPr b="0" i="1" sz="2490">
              <a:latin typeface="Arial"/>
              <a:ea typeface="Arial"/>
              <a:cs typeface="Arial"/>
              <a:sym typeface="Arial"/>
            </a:endParaRPr>
          </a:p>
        </p:txBody>
      </p:sp>
      <p:pic>
        <p:nvPicPr>
          <p:cNvPr id="238" name="Google Shape;238;p18"/>
          <p:cNvPicPr preferRelativeResize="0"/>
          <p:nvPr/>
        </p:nvPicPr>
        <p:blipFill rotWithShape="1">
          <a:blip r:embed="rId3">
            <a:alphaModFix/>
          </a:blip>
          <a:srcRect b="0" l="0" r="0" t="0"/>
          <a:stretch/>
        </p:blipFill>
        <p:spPr>
          <a:xfrm>
            <a:off x="10307984" y="983974"/>
            <a:ext cx="1785937" cy="2209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9"/>
          <p:cNvSpPr txBox="1"/>
          <p:nvPr>
            <p:ph type="title"/>
          </p:nvPr>
        </p:nvSpPr>
        <p:spPr>
          <a:xfrm>
            <a:off x="1104901" y="76199"/>
            <a:ext cx="10509504" cy="76809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2"/>
              </a:buClr>
              <a:buSzPts val="4200"/>
              <a:buFont typeface="Arial"/>
              <a:buNone/>
            </a:pPr>
            <a:r>
              <a:rPr lang="en-US"/>
              <a:t>Instruction Set Architectures</a:t>
            </a:r>
            <a:endParaRPr/>
          </a:p>
        </p:txBody>
      </p:sp>
      <p:sp>
        <p:nvSpPr>
          <p:cNvPr id="245" name="Google Shape;245;p19"/>
          <p:cNvSpPr txBox="1"/>
          <p:nvPr>
            <p:ph idx="1" type="body"/>
          </p:nvPr>
        </p:nvSpPr>
        <p:spPr>
          <a:xfrm>
            <a:off x="288413" y="916710"/>
            <a:ext cx="11332079" cy="5287965"/>
          </a:xfrm>
          <a:prstGeom prst="rect">
            <a:avLst/>
          </a:prstGeom>
          <a:noFill/>
          <a:ln>
            <a:noFill/>
          </a:ln>
        </p:spPr>
        <p:txBody>
          <a:bodyPr anchorCtr="0" anchor="t" bIns="45700" lIns="91425" spcFirstLastPara="1" rIns="91425" wrap="square" tIns="45700">
            <a:normAutofit/>
          </a:bodyPr>
          <a:lstStyle/>
          <a:p>
            <a:pPr indent="-382588" lvl="0" marL="468313" rtl="0" algn="l">
              <a:lnSpc>
                <a:spcPct val="100000"/>
              </a:lnSpc>
              <a:spcBef>
                <a:spcPts val="0"/>
              </a:spcBef>
              <a:spcAft>
                <a:spcPts val="0"/>
              </a:spcAft>
              <a:buClr>
                <a:schemeClr val="lt1"/>
              </a:buClr>
              <a:buSzPts val="2660"/>
              <a:buChar char="▪"/>
            </a:pPr>
            <a:r>
              <a:rPr lang="en-US" sz="2800"/>
              <a:t>Early trend was to add more and more instructions to new CPUs to do elaborate operations</a:t>
            </a:r>
            <a:endParaRPr/>
          </a:p>
          <a:p>
            <a:pPr indent="-311143" lvl="1" marL="768331" rtl="0" algn="l">
              <a:lnSpc>
                <a:spcPct val="100000"/>
              </a:lnSpc>
              <a:spcBef>
                <a:spcPts val="500"/>
              </a:spcBef>
              <a:spcAft>
                <a:spcPts val="0"/>
              </a:spcAft>
              <a:buClr>
                <a:schemeClr val="accent2"/>
              </a:buClr>
              <a:buSzPts val="2520"/>
              <a:buChar char="▫"/>
            </a:pPr>
            <a:r>
              <a:rPr lang="en-US" sz="2800"/>
              <a:t>VAX architecture had an instruction to multiply polynomials!</a:t>
            </a:r>
            <a:endParaRPr/>
          </a:p>
          <a:p>
            <a:pPr indent="-382588" lvl="0" marL="468313" rtl="0" algn="l">
              <a:lnSpc>
                <a:spcPct val="100000"/>
              </a:lnSpc>
              <a:spcBef>
                <a:spcPts val="1000"/>
              </a:spcBef>
              <a:spcAft>
                <a:spcPts val="0"/>
              </a:spcAft>
              <a:buClr>
                <a:schemeClr val="accent4"/>
              </a:buClr>
              <a:buSzPts val="2660"/>
              <a:buChar char="▪"/>
            </a:pPr>
            <a:r>
              <a:rPr b="0" lang="en-US" sz="2800">
                <a:solidFill>
                  <a:schemeClr val="accent4"/>
                </a:solidFill>
                <a:latin typeface="Arial"/>
                <a:ea typeface="Arial"/>
                <a:cs typeface="Arial"/>
                <a:sym typeface="Arial"/>
              </a:rPr>
              <a:t>Reduced Instruction Set Computer (RISC) </a:t>
            </a:r>
            <a:r>
              <a:rPr lang="en-US" sz="2800"/>
              <a:t>philosophy:</a:t>
            </a:r>
            <a:endParaRPr/>
          </a:p>
          <a:p>
            <a:pPr indent="-311143" lvl="1" marL="768331" rtl="0" algn="l">
              <a:lnSpc>
                <a:spcPct val="100000"/>
              </a:lnSpc>
              <a:spcBef>
                <a:spcPts val="500"/>
              </a:spcBef>
              <a:spcAft>
                <a:spcPts val="0"/>
              </a:spcAft>
              <a:buClr>
                <a:schemeClr val="accent2"/>
              </a:buClr>
              <a:buSzPts val="2520"/>
              <a:buChar char="▫"/>
            </a:pPr>
            <a:r>
              <a:rPr lang="en-US" sz="2800"/>
              <a:t>Cocke IBM, </a:t>
            </a:r>
            <a:r>
              <a:rPr lang="en-US" sz="2800">
                <a:solidFill>
                  <a:schemeClr val="accent3"/>
                </a:solidFill>
              </a:rPr>
              <a:t>Patterson</a:t>
            </a:r>
            <a:r>
              <a:rPr lang="en-US" sz="2800"/>
              <a:t>, </a:t>
            </a:r>
            <a:r>
              <a:rPr lang="en-US" sz="2800">
                <a:solidFill>
                  <a:srgbClr val="FF0000"/>
                </a:solidFill>
              </a:rPr>
              <a:t>Hennessy</a:t>
            </a:r>
            <a:r>
              <a:rPr lang="en-US" sz="2800"/>
              <a:t>, 1980s.</a:t>
            </a:r>
            <a:endParaRPr/>
          </a:p>
          <a:p>
            <a:pPr indent="-311143" lvl="1" marL="768331" rtl="0" algn="l">
              <a:lnSpc>
                <a:spcPct val="100000"/>
              </a:lnSpc>
              <a:spcBef>
                <a:spcPts val="500"/>
              </a:spcBef>
              <a:spcAft>
                <a:spcPts val="0"/>
              </a:spcAft>
              <a:buClr>
                <a:schemeClr val="accent2"/>
              </a:buClr>
              <a:buSzPts val="2520"/>
              <a:buChar char="▫"/>
            </a:pPr>
            <a:r>
              <a:rPr lang="en-US" sz="2800"/>
              <a:t>Keep the instruction set small and simple, makes it easier to build </a:t>
            </a:r>
            <a:r>
              <a:rPr i="1" lang="en-US" sz="2800">
                <a:solidFill>
                  <a:srgbClr val="D8E156"/>
                </a:solidFill>
                <a:latin typeface="Arial"/>
                <a:ea typeface="Arial"/>
                <a:cs typeface="Arial"/>
                <a:sym typeface="Arial"/>
              </a:rPr>
              <a:t>fast</a:t>
            </a:r>
            <a:r>
              <a:rPr lang="en-US" sz="2800"/>
              <a:t> hardware</a:t>
            </a:r>
            <a:endParaRPr/>
          </a:p>
          <a:p>
            <a:pPr indent="-311143" lvl="1" marL="768331" rtl="0" algn="l">
              <a:lnSpc>
                <a:spcPct val="100000"/>
              </a:lnSpc>
              <a:spcBef>
                <a:spcPts val="500"/>
              </a:spcBef>
              <a:spcAft>
                <a:spcPts val="0"/>
              </a:spcAft>
              <a:buClr>
                <a:schemeClr val="accent2"/>
              </a:buClr>
              <a:buSzPts val="2520"/>
              <a:buChar char="▫"/>
            </a:pPr>
            <a:r>
              <a:rPr lang="en-US" sz="2800"/>
              <a:t>Let software do complicated operations by composing simpler ones</a:t>
            </a:r>
            <a:endParaRPr/>
          </a:p>
          <a:p>
            <a:pPr indent="-311143" lvl="1" marL="768331" rtl="0" algn="l">
              <a:lnSpc>
                <a:spcPct val="100000"/>
              </a:lnSpc>
              <a:spcBef>
                <a:spcPts val="500"/>
              </a:spcBef>
              <a:spcAft>
                <a:spcPts val="0"/>
              </a:spcAft>
              <a:buClr>
                <a:schemeClr val="accent2"/>
              </a:buClr>
              <a:buSzPts val="2520"/>
              <a:buChar char="▫"/>
            </a:pPr>
            <a:r>
              <a:rPr lang="en-US" sz="2800"/>
              <a:t>This went against the conventional wisdom of the time</a:t>
            </a:r>
            <a:br>
              <a:rPr lang="en-US" sz="2800"/>
            </a:br>
            <a:r>
              <a:rPr lang="en-US" sz="2800"/>
              <a:t>(he who laughs last, laughs best)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0"/>
          <p:cNvSpPr txBox="1"/>
          <p:nvPr>
            <p:ph type="title"/>
          </p:nvPr>
        </p:nvSpPr>
        <p:spPr>
          <a:xfrm>
            <a:off x="1104901" y="76199"/>
            <a:ext cx="10509504" cy="76809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2"/>
              </a:buClr>
              <a:buSzPts val="4200"/>
              <a:buFont typeface="Arial"/>
              <a:buNone/>
            </a:pPr>
            <a:r>
              <a:rPr lang="en-US"/>
              <a:t>Patterson and Hennessy win Turing!</a:t>
            </a:r>
            <a:endParaRPr/>
          </a:p>
        </p:txBody>
      </p:sp>
      <p:pic>
        <p:nvPicPr>
          <p:cNvPr id="251" name="Google Shape;251;p20"/>
          <p:cNvPicPr preferRelativeResize="0"/>
          <p:nvPr>
            <p:ph idx="1" type="body"/>
          </p:nvPr>
        </p:nvPicPr>
        <p:blipFill rotWithShape="1">
          <a:blip r:embed="rId3">
            <a:alphaModFix/>
          </a:blip>
          <a:srcRect b="0" l="0" r="0" t="0"/>
          <a:stretch/>
        </p:blipFill>
        <p:spPr>
          <a:xfrm>
            <a:off x="1254302" y="915988"/>
            <a:ext cx="9400821" cy="5287962"/>
          </a:xfrm>
          <a:prstGeom prst="rect">
            <a:avLst/>
          </a:prstGeom>
          <a:noFill/>
          <a:ln>
            <a:noFill/>
          </a:ln>
        </p:spPr>
      </p:pic>
      <p:sp>
        <p:nvSpPr>
          <p:cNvPr id="252" name="Google Shape;252;p20"/>
          <p:cNvSpPr txBox="1"/>
          <p:nvPr/>
        </p:nvSpPr>
        <p:spPr>
          <a:xfrm>
            <a:off x="768438" y="6158819"/>
            <a:ext cx="10655124"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u="sng">
                <a:solidFill>
                  <a:schemeClr val="dk1"/>
                </a:solidFill>
                <a:latin typeface="Courier New"/>
                <a:ea typeface="Courier New"/>
                <a:cs typeface="Courier New"/>
                <a:sym typeface="Courier New"/>
                <a:hlinkClick r:id="rId4">
                  <a:extLst>
                    <a:ext uri="{A12FA001-AC4F-418D-AE19-62706E023703}">
                      <ahyp:hlinkClr val="tx"/>
                    </a:ext>
                  </a:extLst>
                </a:hlinkClick>
              </a:rPr>
              <a:t>https://engineering.berkeley.edu/news/2018/06/patterson-wins-turing-award/</a:t>
            </a:r>
            <a:r>
              <a:rPr b="1" lang="en-US" sz="1800">
                <a:solidFill>
                  <a:schemeClr val="dk1"/>
                </a:solidFill>
                <a:latin typeface="Courier New"/>
                <a:ea typeface="Courier New"/>
                <a:cs typeface="Courier New"/>
                <a:sym typeface="Courier New"/>
              </a:rPr>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1"/>
          <p:cNvSpPr txBox="1"/>
          <p:nvPr>
            <p:ph type="title"/>
          </p:nvPr>
        </p:nvSpPr>
        <p:spPr>
          <a:xfrm>
            <a:off x="1104901" y="76199"/>
            <a:ext cx="10509504" cy="76809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2"/>
              </a:buClr>
              <a:buSzPts val="4200"/>
              <a:buFont typeface="Arial"/>
              <a:buNone/>
            </a:pPr>
            <a:r>
              <a:rPr lang="en-US"/>
              <a:t>RISC-V Architecture</a:t>
            </a:r>
            <a:endParaRPr/>
          </a:p>
        </p:txBody>
      </p:sp>
      <p:sp>
        <p:nvSpPr>
          <p:cNvPr id="259" name="Google Shape;259;p21"/>
          <p:cNvSpPr txBox="1"/>
          <p:nvPr>
            <p:ph idx="1" type="body"/>
          </p:nvPr>
        </p:nvSpPr>
        <p:spPr>
          <a:xfrm>
            <a:off x="288413" y="916710"/>
            <a:ext cx="11332079" cy="5287965"/>
          </a:xfrm>
          <a:prstGeom prst="rect">
            <a:avLst/>
          </a:prstGeom>
          <a:noFill/>
          <a:ln>
            <a:noFill/>
          </a:ln>
        </p:spPr>
        <p:txBody>
          <a:bodyPr anchorCtr="0" anchor="t" bIns="45700" lIns="91425" spcFirstLastPara="1" rIns="91425" wrap="square" tIns="45700">
            <a:normAutofit/>
          </a:bodyPr>
          <a:lstStyle/>
          <a:p>
            <a:pPr indent="-384047" lvl="0" marL="468313" rtl="0" algn="l">
              <a:lnSpc>
                <a:spcPct val="100000"/>
              </a:lnSpc>
              <a:spcBef>
                <a:spcPts val="0"/>
              </a:spcBef>
              <a:spcAft>
                <a:spcPts val="0"/>
              </a:spcAft>
              <a:buClr>
                <a:schemeClr val="lt1"/>
              </a:buClr>
              <a:buSzPts val="2534"/>
              <a:buChar char="▪"/>
            </a:pPr>
            <a:r>
              <a:rPr lang="en-US" sz="2667"/>
              <a:t>New open-source, license-free ISA spec</a:t>
            </a:r>
            <a:endParaRPr/>
          </a:p>
          <a:p>
            <a:pPr indent="-311143" lvl="1" marL="768331" rtl="0" algn="l">
              <a:lnSpc>
                <a:spcPct val="100000"/>
              </a:lnSpc>
              <a:spcBef>
                <a:spcPts val="500"/>
              </a:spcBef>
              <a:spcAft>
                <a:spcPts val="0"/>
              </a:spcAft>
              <a:buClr>
                <a:schemeClr val="accent2"/>
              </a:buClr>
              <a:buSzPts val="2160"/>
              <a:buChar char="▫"/>
            </a:pPr>
            <a:r>
              <a:rPr lang="en-US" sz="2400"/>
              <a:t>Supported by growing shared software ecosystem</a:t>
            </a:r>
            <a:endParaRPr/>
          </a:p>
          <a:p>
            <a:pPr indent="-311143" lvl="1" marL="768331" rtl="0" algn="l">
              <a:lnSpc>
                <a:spcPct val="100000"/>
              </a:lnSpc>
              <a:spcBef>
                <a:spcPts val="500"/>
              </a:spcBef>
              <a:spcAft>
                <a:spcPts val="0"/>
              </a:spcAft>
              <a:buClr>
                <a:schemeClr val="accent2"/>
              </a:buClr>
              <a:buSzPts val="2160"/>
              <a:buChar char="▫"/>
            </a:pPr>
            <a:r>
              <a:rPr lang="en-US" sz="2400"/>
              <a:t>Appropriate for all levels of computing system,</a:t>
            </a:r>
            <a:br>
              <a:rPr lang="en-US" sz="2400"/>
            </a:br>
            <a:r>
              <a:rPr lang="en-US" sz="2400"/>
              <a:t>from microcontrollers to supercomputers</a:t>
            </a:r>
            <a:endParaRPr sz="1867"/>
          </a:p>
          <a:p>
            <a:pPr indent="-311143" lvl="1" marL="768331" rtl="0" algn="l">
              <a:lnSpc>
                <a:spcPct val="100000"/>
              </a:lnSpc>
              <a:spcBef>
                <a:spcPts val="500"/>
              </a:spcBef>
              <a:spcAft>
                <a:spcPts val="0"/>
              </a:spcAft>
              <a:buClr>
                <a:schemeClr val="accent2"/>
              </a:buClr>
              <a:buSzPts val="2160"/>
              <a:buChar char="▫"/>
            </a:pPr>
            <a:r>
              <a:rPr lang="en-US" sz="2400"/>
              <a:t>32-bit, 64-bit, and 128-bit variants </a:t>
            </a:r>
            <a:br>
              <a:rPr lang="en-US" sz="2400"/>
            </a:br>
            <a:r>
              <a:rPr lang="en-US" sz="2400"/>
              <a:t>(class/textbook uses 32-bit)</a:t>
            </a:r>
            <a:endParaRPr/>
          </a:p>
          <a:p>
            <a:pPr indent="-384047" lvl="0" marL="468313" rtl="0" algn="l">
              <a:lnSpc>
                <a:spcPct val="100000"/>
              </a:lnSpc>
              <a:spcBef>
                <a:spcPts val="1000"/>
              </a:spcBef>
              <a:spcAft>
                <a:spcPts val="0"/>
              </a:spcAft>
              <a:buClr>
                <a:schemeClr val="lt1"/>
              </a:buClr>
              <a:buSzPts val="2534"/>
              <a:buChar char="▪"/>
            </a:pPr>
            <a:r>
              <a:rPr lang="en-US" sz="2667"/>
              <a:t>Why RISC-V instead of Intel x86-64?</a:t>
            </a:r>
            <a:endParaRPr/>
          </a:p>
          <a:p>
            <a:pPr indent="-311143" lvl="1" marL="768331" rtl="0" algn="l">
              <a:lnSpc>
                <a:spcPct val="100000"/>
              </a:lnSpc>
              <a:spcBef>
                <a:spcPts val="500"/>
              </a:spcBef>
              <a:spcAft>
                <a:spcPts val="0"/>
              </a:spcAft>
              <a:buClr>
                <a:schemeClr val="accent2"/>
              </a:buClr>
              <a:buSzPts val="2160"/>
              <a:buChar char="▫"/>
            </a:pPr>
            <a:r>
              <a:rPr lang="en-US" sz="2400"/>
              <a:t>RISC-V is simple and elegant.  </a:t>
            </a:r>
            <a:br>
              <a:rPr lang="en-US" sz="2400"/>
            </a:br>
            <a:r>
              <a:rPr lang="en-US" sz="2400"/>
              <a:t>We don</a:t>
            </a:r>
            <a:r>
              <a:rPr lang="en-US" sz="2400">
                <a:latin typeface="Arial"/>
                <a:ea typeface="Arial"/>
                <a:cs typeface="Arial"/>
                <a:sym typeface="Arial"/>
              </a:rPr>
              <a:t>’</a:t>
            </a:r>
            <a:r>
              <a:rPr lang="en-US" sz="2400"/>
              <a:t>t need to get bogged down in gritty details</a:t>
            </a:r>
            <a:endParaRPr/>
          </a:p>
          <a:p>
            <a:pPr indent="-311143" lvl="1" marL="768331" rtl="0" algn="l">
              <a:lnSpc>
                <a:spcPct val="100000"/>
              </a:lnSpc>
              <a:spcBef>
                <a:spcPts val="1275"/>
              </a:spcBef>
              <a:spcAft>
                <a:spcPts val="0"/>
              </a:spcAft>
              <a:buClr>
                <a:schemeClr val="accent2"/>
              </a:buClr>
              <a:buSzPts val="2160"/>
              <a:buChar char="▫"/>
            </a:pPr>
            <a:r>
              <a:rPr lang="en-US" sz="2400"/>
              <a:t>RISC-V has exponential adoption,</a:t>
            </a:r>
            <a:br>
              <a:rPr lang="en-US" sz="2400"/>
            </a:br>
            <a:r>
              <a:rPr lang="en-US" sz="2400"/>
              <a:t>from microcontrollers to CPUs to</a:t>
            </a:r>
            <a:br>
              <a:rPr lang="en-US" sz="2400"/>
            </a:br>
            <a:r>
              <a:rPr lang="en-US" sz="2400"/>
              <a:t>warehouse-scale computers</a:t>
            </a:r>
            <a:endParaRPr/>
          </a:p>
        </p:txBody>
      </p:sp>
      <p:pic>
        <p:nvPicPr>
          <p:cNvPr id="260" name="Google Shape;260;p21"/>
          <p:cNvPicPr preferRelativeResize="0"/>
          <p:nvPr/>
        </p:nvPicPr>
        <p:blipFill rotWithShape="1">
          <a:blip r:embed="rId3">
            <a:alphaModFix/>
          </a:blip>
          <a:srcRect b="0" l="0" r="0" t="0"/>
          <a:stretch/>
        </p:blipFill>
        <p:spPr>
          <a:xfrm>
            <a:off x="11125201" y="69653"/>
            <a:ext cx="1033759" cy="1822000"/>
          </a:xfrm>
          <a:prstGeom prst="rect">
            <a:avLst/>
          </a:prstGeom>
          <a:noFill/>
          <a:ln>
            <a:noFill/>
          </a:ln>
        </p:spPr>
      </p:pic>
      <p:sp>
        <p:nvSpPr>
          <p:cNvPr id="261" name="Google Shape;261;p21"/>
          <p:cNvSpPr txBox="1"/>
          <p:nvPr/>
        </p:nvSpPr>
        <p:spPr>
          <a:xfrm>
            <a:off x="8940801" y="6073745"/>
            <a:ext cx="197842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accent1"/>
                </a:solidFill>
                <a:latin typeface="Arial"/>
                <a:ea typeface="Arial"/>
                <a:cs typeface="Arial"/>
                <a:sym typeface="Arial"/>
              </a:rPr>
              <a:t>RISC-V Green Card</a:t>
            </a:r>
            <a:endParaRPr/>
          </a:p>
        </p:txBody>
      </p:sp>
      <p:sp>
        <p:nvSpPr>
          <p:cNvPr id="262" name="Google Shape;262;p21"/>
          <p:cNvSpPr txBox="1"/>
          <p:nvPr/>
        </p:nvSpPr>
        <p:spPr>
          <a:xfrm>
            <a:off x="8782052" y="161895"/>
            <a:ext cx="214513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accent1"/>
                </a:solidFill>
                <a:latin typeface="Arial"/>
                <a:ea typeface="Arial"/>
                <a:cs typeface="Arial"/>
                <a:sym typeface="Arial"/>
              </a:rPr>
              <a:t>IBM 360 Green Card</a:t>
            </a:r>
            <a:endParaRPr/>
          </a:p>
        </p:txBody>
      </p:sp>
      <p:sp>
        <p:nvSpPr>
          <p:cNvPr id="263" name="Google Shape;263;p21"/>
          <p:cNvSpPr/>
          <p:nvPr/>
        </p:nvSpPr>
        <p:spPr>
          <a:xfrm>
            <a:off x="4253179" y="6103832"/>
            <a:ext cx="4625902"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u="sng">
                <a:solidFill>
                  <a:srgbClr val="D8E156"/>
                </a:solidFill>
                <a:latin typeface="Courier New"/>
                <a:ea typeface="Courier New"/>
                <a:cs typeface="Courier New"/>
                <a:sym typeface="Courier New"/>
                <a:hlinkClick r:id="rId4">
                  <a:extLst>
                    <a:ext uri="{A12FA001-AC4F-418D-AE19-62706E023703}">
                      <ahyp:hlinkClr val="tx"/>
                    </a:ext>
                  </a:extLst>
                </a:hlinkClick>
              </a:rPr>
              <a:t>https://cs61c.org/</a:t>
            </a:r>
            <a:r>
              <a:rPr b="1" lang="en-US" sz="1800">
                <a:solidFill>
                  <a:srgbClr val="D8E156"/>
                </a:solidFill>
                <a:latin typeface="Courier New"/>
                <a:ea typeface="Courier New"/>
                <a:cs typeface="Courier New"/>
                <a:sym typeface="Courier New"/>
              </a:rPr>
              <a:t> 🡪 Resources</a:t>
            </a:r>
            <a:endParaRPr b="1" sz="1800">
              <a:solidFill>
                <a:srgbClr val="D8E156"/>
              </a:solidFill>
              <a:latin typeface="Courier New"/>
              <a:ea typeface="Courier New"/>
              <a:cs typeface="Courier New"/>
              <a:sym typeface="Courier New"/>
            </a:endParaRPr>
          </a:p>
        </p:txBody>
      </p:sp>
      <p:pic>
        <p:nvPicPr>
          <p:cNvPr descr="FullSizeRender.jpg" id="264" name="Google Shape;264;p21"/>
          <p:cNvPicPr preferRelativeResize="0"/>
          <p:nvPr/>
        </p:nvPicPr>
        <p:blipFill rotWithShape="1">
          <a:blip r:embed="rId5">
            <a:alphaModFix/>
          </a:blip>
          <a:srcRect b="9266" l="0" r="5822" t="4061"/>
          <a:stretch/>
        </p:blipFill>
        <p:spPr>
          <a:xfrm>
            <a:off x="9042400" y="2495521"/>
            <a:ext cx="2970184" cy="360831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2"/>
          <p:cNvSpPr txBox="1"/>
          <p:nvPr>
            <p:ph type="title"/>
          </p:nvPr>
        </p:nvSpPr>
        <p:spPr>
          <a:xfrm>
            <a:off x="1104901" y="76199"/>
            <a:ext cx="10509504" cy="76809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2"/>
              </a:buClr>
              <a:buSzPts val="4200"/>
              <a:buFont typeface="Arial"/>
              <a:buNone/>
            </a:pPr>
            <a:r>
              <a:rPr lang="en-US"/>
              <a:t>RISC-V Origins</a:t>
            </a:r>
            <a:endParaRPr/>
          </a:p>
        </p:txBody>
      </p:sp>
      <p:sp>
        <p:nvSpPr>
          <p:cNvPr id="271" name="Google Shape;271;p22"/>
          <p:cNvSpPr txBox="1"/>
          <p:nvPr>
            <p:ph idx="1" type="body"/>
          </p:nvPr>
        </p:nvSpPr>
        <p:spPr>
          <a:xfrm>
            <a:off x="288414" y="916710"/>
            <a:ext cx="9424244" cy="5287965"/>
          </a:xfrm>
          <a:prstGeom prst="rect">
            <a:avLst/>
          </a:prstGeom>
          <a:noFill/>
          <a:ln>
            <a:noFill/>
          </a:ln>
        </p:spPr>
        <p:txBody>
          <a:bodyPr anchorCtr="0" anchor="t" bIns="45700" lIns="91425" spcFirstLastPara="1" rIns="91425" wrap="square" tIns="45700">
            <a:noAutofit/>
          </a:bodyPr>
          <a:lstStyle/>
          <a:p>
            <a:pPr indent="-382587" lvl="0" marL="468313" rtl="0" algn="l">
              <a:lnSpc>
                <a:spcPct val="100000"/>
              </a:lnSpc>
              <a:spcBef>
                <a:spcPts val="0"/>
              </a:spcBef>
              <a:spcAft>
                <a:spcPts val="0"/>
              </a:spcAft>
              <a:buClr>
                <a:schemeClr val="lt1"/>
              </a:buClr>
              <a:buSzPts val="2534"/>
              <a:buChar char="▪"/>
            </a:pPr>
            <a:r>
              <a:rPr lang="en-US" sz="2667"/>
              <a:t>Started in Summer 2010 to support </a:t>
            </a:r>
            <a:br>
              <a:rPr lang="en-US" sz="2667"/>
            </a:br>
            <a:r>
              <a:rPr lang="en-US" sz="2667"/>
              <a:t>open research and teaching at </a:t>
            </a:r>
            <a:br>
              <a:rPr lang="en-US" sz="2667"/>
            </a:br>
            <a:r>
              <a:rPr lang="en-US" sz="2667"/>
              <a:t>UC Berkeley</a:t>
            </a:r>
            <a:endParaRPr/>
          </a:p>
          <a:p>
            <a:pPr indent="-311143" lvl="1" marL="768331" rtl="0" algn="l">
              <a:lnSpc>
                <a:spcPct val="100000"/>
              </a:lnSpc>
              <a:spcBef>
                <a:spcPts val="500"/>
              </a:spcBef>
              <a:spcAft>
                <a:spcPts val="0"/>
              </a:spcAft>
              <a:buClr>
                <a:schemeClr val="accent2"/>
              </a:buClr>
              <a:buSzPts val="1950"/>
              <a:buChar char="▫"/>
            </a:pPr>
            <a:r>
              <a:rPr lang="en-US" sz="2167"/>
              <a:t>Lineage can be traced to RISC-I/II projects (1980s) </a:t>
            </a:r>
            <a:endParaRPr/>
          </a:p>
          <a:p>
            <a:pPr indent="-383107" lvl="0" marL="467771" rtl="0" algn="l">
              <a:lnSpc>
                <a:spcPct val="100000"/>
              </a:lnSpc>
              <a:spcBef>
                <a:spcPts val="1000"/>
              </a:spcBef>
              <a:spcAft>
                <a:spcPts val="0"/>
              </a:spcAft>
              <a:buClr>
                <a:schemeClr val="lt1"/>
              </a:buClr>
              <a:buSzPts val="2534"/>
              <a:buChar char="▪"/>
            </a:pPr>
            <a:r>
              <a:rPr lang="en-US" sz="2667"/>
              <a:t>As the project matured, it migrated</a:t>
            </a:r>
            <a:br>
              <a:rPr lang="en-US" sz="2667"/>
            </a:br>
            <a:r>
              <a:rPr lang="en-US" sz="2667"/>
              <a:t>to RISC-V foundation (</a:t>
            </a:r>
            <a:r>
              <a:rPr lang="en-US" sz="2667" u="sng">
                <a:solidFill>
                  <a:schemeClr val="lt1"/>
                </a:solidFill>
                <a:latin typeface="Courier New"/>
                <a:ea typeface="Courier New"/>
                <a:cs typeface="Courier New"/>
                <a:sym typeface="Courier New"/>
                <a:hlinkClick r:id="rId3">
                  <a:extLst>
                    <a:ext uri="{A12FA001-AC4F-418D-AE19-62706E023703}">
                      <ahyp:hlinkClr val="tx"/>
                    </a:ext>
                  </a:extLst>
                </a:hlinkClick>
              </a:rPr>
              <a:t>www.risc-v.org</a:t>
            </a:r>
            <a:r>
              <a:rPr lang="en-US" sz="2667"/>
              <a:t>)</a:t>
            </a:r>
            <a:endParaRPr/>
          </a:p>
          <a:p>
            <a:pPr indent="-383107" lvl="0" marL="467771" rtl="0" algn="l">
              <a:lnSpc>
                <a:spcPct val="100000"/>
              </a:lnSpc>
              <a:spcBef>
                <a:spcPts val="1000"/>
              </a:spcBef>
              <a:spcAft>
                <a:spcPts val="0"/>
              </a:spcAft>
              <a:buClr>
                <a:schemeClr val="lt1"/>
              </a:buClr>
              <a:buSzPts val="2534"/>
              <a:buChar char="▪"/>
            </a:pPr>
            <a:r>
              <a:rPr lang="en-US" sz="2667"/>
              <a:t>Many commercial and research projects based on RISC-V</a:t>
            </a:r>
            <a:endParaRPr/>
          </a:p>
          <a:p>
            <a:pPr indent="-311143" lvl="1" marL="768331" rtl="0" algn="l">
              <a:lnSpc>
                <a:spcPct val="100000"/>
              </a:lnSpc>
              <a:spcBef>
                <a:spcPts val="500"/>
              </a:spcBef>
              <a:spcAft>
                <a:spcPts val="0"/>
              </a:spcAft>
              <a:buClr>
                <a:schemeClr val="accent2"/>
              </a:buClr>
              <a:buSzPts val="2040"/>
              <a:buChar char="▫"/>
            </a:pPr>
            <a:r>
              <a:rPr lang="en-US" sz="2267"/>
              <a:t>Open-source and proprietary</a:t>
            </a:r>
            <a:endParaRPr/>
          </a:p>
          <a:p>
            <a:pPr indent="-311143" lvl="1" marL="768331" rtl="0" algn="l">
              <a:lnSpc>
                <a:spcPct val="100000"/>
              </a:lnSpc>
              <a:spcBef>
                <a:spcPts val="500"/>
              </a:spcBef>
              <a:spcAft>
                <a:spcPts val="0"/>
              </a:spcAft>
              <a:buClr>
                <a:schemeClr val="accent2"/>
              </a:buClr>
              <a:buSzPts val="1950"/>
              <a:buChar char="▫"/>
            </a:pPr>
            <a:r>
              <a:rPr lang="en-US" sz="2167"/>
              <a:t>Widely used in education </a:t>
            </a:r>
            <a:endParaRPr/>
          </a:p>
          <a:p>
            <a:pPr indent="-383107" lvl="0" marL="467771" rtl="0" algn="l">
              <a:lnSpc>
                <a:spcPct val="100000"/>
              </a:lnSpc>
              <a:spcBef>
                <a:spcPts val="1000"/>
              </a:spcBef>
              <a:spcAft>
                <a:spcPts val="0"/>
              </a:spcAft>
              <a:buClr>
                <a:schemeClr val="lt1"/>
              </a:buClr>
              <a:buSzPts val="2534"/>
              <a:buChar char="▪"/>
            </a:pPr>
            <a:r>
              <a:rPr lang="en-US" sz="2667"/>
              <a:t>Read more: </a:t>
            </a:r>
            <a:endParaRPr/>
          </a:p>
          <a:p>
            <a:pPr indent="-292093" lvl="1" marL="768331" rtl="0" algn="l">
              <a:lnSpc>
                <a:spcPct val="100000"/>
              </a:lnSpc>
              <a:spcBef>
                <a:spcPts val="500"/>
              </a:spcBef>
              <a:spcAft>
                <a:spcPts val="0"/>
              </a:spcAft>
              <a:buClr>
                <a:schemeClr val="accent2"/>
              </a:buClr>
              <a:buSzPts val="1650"/>
              <a:buChar char="▫"/>
            </a:pPr>
            <a:r>
              <a:rPr lang="en-US" sz="1867">
                <a:solidFill>
                  <a:schemeClr val="hlink"/>
                </a:solidFill>
                <a:uFill>
                  <a:noFill/>
                </a:uFill>
                <a:latin typeface="Courier New"/>
                <a:ea typeface="Courier New"/>
                <a:cs typeface="Courier New"/>
                <a:sym typeface="Courier New"/>
                <a:hlinkClick r:id="rId4"/>
              </a:rPr>
              <a:t>https://riscv.org/risc-v-history/</a:t>
            </a:r>
            <a:endParaRPr sz="1867">
              <a:latin typeface="Courier New"/>
              <a:ea typeface="Courier New"/>
              <a:cs typeface="Courier New"/>
              <a:sym typeface="Courier New"/>
            </a:endParaRPr>
          </a:p>
          <a:p>
            <a:pPr indent="-292093" lvl="1" marL="768331" rtl="0" algn="l">
              <a:lnSpc>
                <a:spcPct val="100000"/>
              </a:lnSpc>
              <a:spcBef>
                <a:spcPts val="500"/>
              </a:spcBef>
              <a:spcAft>
                <a:spcPts val="0"/>
              </a:spcAft>
              <a:buClr>
                <a:schemeClr val="accent2"/>
              </a:buClr>
              <a:buSzPts val="1650"/>
              <a:buChar char="▫"/>
            </a:pPr>
            <a:r>
              <a:rPr lang="en-US" sz="1867">
                <a:solidFill>
                  <a:schemeClr val="hlink"/>
                </a:solidFill>
                <a:uFill>
                  <a:noFill/>
                </a:uFill>
                <a:latin typeface="Courier New"/>
                <a:ea typeface="Courier New"/>
                <a:cs typeface="Courier New"/>
                <a:sym typeface="Courier New"/>
                <a:hlinkClick r:id="rId5"/>
              </a:rPr>
              <a:t>https://riscv.org/risc-v-genealogy/</a:t>
            </a:r>
            <a:endParaRPr sz="1867">
              <a:latin typeface="Courier New"/>
              <a:ea typeface="Courier New"/>
              <a:cs typeface="Courier New"/>
              <a:sym typeface="Courier New"/>
            </a:endParaRPr>
          </a:p>
        </p:txBody>
      </p:sp>
      <p:pic>
        <p:nvPicPr>
          <p:cNvPr descr="U.C. Berkeley RISC I, 1980-81" id="272" name="Google Shape;272;p22"/>
          <p:cNvPicPr preferRelativeResize="0"/>
          <p:nvPr/>
        </p:nvPicPr>
        <p:blipFill rotWithShape="1">
          <a:blip r:embed="rId6">
            <a:alphaModFix/>
          </a:blip>
          <a:srcRect b="0" l="0" r="0" t="0"/>
          <a:stretch/>
        </p:blipFill>
        <p:spPr>
          <a:xfrm>
            <a:off x="9712658" y="990601"/>
            <a:ext cx="1666543" cy="1253388"/>
          </a:xfrm>
          <a:prstGeom prst="rect">
            <a:avLst/>
          </a:prstGeom>
          <a:noFill/>
          <a:ln>
            <a:noFill/>
          </a:ln>
        </p:spPr>
      </p:pic>
      <p:sp>
        <p:nvSpPr>
          <p:cNvPr id="273" name="Google Shape;273;p22"/>
          <p:cNvSpPr txBox="1"/>
          <p:nvPr/>
        </p:nvSpPr>
        <p:spPr>
          <a:xfrm>
            <a:off x="10991143" y="2243988"/>
            <a:ext cx="8259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E4DDD2"/>
                </a:solidFill>
                <a:latin typeface="Arial"/>
                <a:ea typeface="Arial"/>
                <a:cs typeface="Arial"/>
                <a:sym typeface="Arial"/>
              </a:rPr>
              <a:t>RISC-I</a:t>
            </a:r>
            <a:endParaRPr sz="1600"/>
          </a:p>
        </p:txBody>
      </p:sp>
      <p:pic>
        <p:nvPicPr>
          <p:cNvPr descr="U.C. Berkeley RISC II, 1981-82" id="274" name="Google Shape;274;p22"/>
          <p:cNvPicPr preferRelativeResize="0"/>
          <p:nvPr/>
        </p:nvPicPr>
        <p:blipFill rotWithShape="1">
          <a:blip r:embed="rId7">
            <a:alphaModFix/>
          </a:blip>
          <a:srcRect b="0" l="0" r="0" t="0"/>
          <a:stretch/>
        </p:blipFill>
        <p:spPr>
          <a:xfrm>
            <a:off x="9712657" y="2644807"/>
            <a:ext cx="1704736" cy="1310420"/>
          </a:xfrm>
          <a:prstGeom prst="rect">
            <a:avLst/>
          </a:prstGeom>
          <a:noFill/>
          <a:ln>
            <a:noFill/>
          </a:ln>
        </p:spPr>
      </p:pic>
      <p:sp>
        <p:nvSpPr>
          <p:cNvPr id="275" name="Google Shape;275;p22"/>
          <p:cNvSpPr txBox="1"/>
          <p:nvPr/>
        </p:nvSpPr>
        <p:spPr>
          <a:xfrm>
            <a:off x="10924886" y="3904640"/>
            <a:ext cx="894900" cy="343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33">
                <a:solidFill>
                  <a:srgbClr val="E4DDD2"/>
                </a:solidFill>
                <a:latin typeface="Arial"/>
                <a:ea typeface="Arial"/>
                <a:cs typeface="Arial"/>
                <a:sym typeface="Arial"/>
              </a:rPr>
              <a:t>RISC-II</a:t>
            </a:r>
            <a:endParaRPr sz="900"/>
          </a:p>
        </p:txBody>
      </p:sp>
      <p:pic>
        <p:nvPicPr>
          <p:cNvPr id="276" name="Google Shape;276;p22"/>
          <p:cNvPicPr preferRelativeResize="0"/>
          <p:nvPr/>
        </p:nvPicPr>
        <p:blipFill rotWithShape="1">
          <a:blip r:embed="rId8">
            <a:alphaModFix/>
          </a:blip>
          <a:srcRect b="0" l="0" r="0" t="0"/>
          <a:stretch/>
        </p:blipFill>
        <p:spPr>
          <a:xfrm>
            <a:off x="9347200" y="5054600"/>
            <a:ext cx="1121344" cy="133493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3"/>
          <p:cNvSpPr txBox="1"/>
          <p:nvPr>
            <p:ph idx="1" type="body"/>
          </p:nvPr>
        </p:nvSpPr>
        <p:spPr>
          <a:xfrm>
            <a:off x="5842475" y="909321"/>
            <a:ext cx="5998909" cy="5364480"/>
          </a:xfrm>
          <a:prstGeom prst="rect">
            <a:avLst/>
          </a:prstGeom>
          <a:noFill/>
          <a:ln>
            <a:noFill/>
          </a:ln>
        </p:spPr>
        <p:txBody>
          <a:bodyPr anchorCtr="0" anchor="ctr" bIns="45700" lIns="91425" spcFirstLastPara="1" rIns="91425" wrap="square" tIns="45700">
            <a:normAutofit/>
          </a:bodyPr>
          <a:lstStyle/>
          <a:p>
            <a:pPr indent="-531270" lvl="0" marL="609585" rtl="0" algn="l">
              <a:lnSpc>
                <a:spcPct val="100000"/>
              </a:lnSpc>
              <a:spcBef>
                <a:spcPts val="0"/>
              </a:spcBef>
              <a:spcAft>
                <a:spcPts val="0"/>
              </a:spcAft>
              <a:buClr>
                <a:srgbClr val="7F7F7F"/>
              </a:buClr>
              <a:buSzPts val="3420"/>
              <a:buFont typeface="Arial"/>
              <a:buChar char="•"/>
            </a:pPr>
            <a:r>
              <a:rPr lang="en-US">
                <a:solidFill>
                  <a:srgbClr val="7F7F7F"/>
                </a:solidFill>
              </a:rPr>
              <a:t>The RISC-V Instruction Set Architecture</a:t>
            </a:r>
            <a:endParaRPr/>
          </a:p>
          <a:p>
            <a:pPr indent="-531270" lvl="0" marL="609585" rtl="0" algn="l">
              <a:lnSpc>
                <a:spcPct val="100000"/>
              </a:lnSpc>
              <a:spcBef>
                <a:spcPts val="1000"/>
              </a:spcBef>
              <a:spcAft>
                <a:spcPts val="0"/>
              </a:spcAft>
              <a:buClr>
                <a:schemeClr val="lt1"/>
              </a:buClr>
              <a:buSzPts val="3420"/>
              <a:buFont typeface="Arial"/>
              <a:buChar char="•"/>
            </a:pPr>
            <a:r>
              <a:rPr lang="en-US"/>
              <a:t>Elements of Architecture: Registers</a:t>
            </a:r>
            <a:endParaRPr/>
          </a:p>
          <a:p>
            <a:pPr indent="-531270" lvl="0" marL="609585" rtl="0" algn="l">
              <a:lnSpc>
                <a:spcPct val="100000"/>
              </a:lnSpc>
              <a:spcBef>
                <a:spcPts val="1000"/>
              </a:spcBef>
              <a:spcAft>
                <a:spcPts val="0"/>
              </a:spcAft>
              <a:buClr>
                <a:srgbClr val="7F7F7F"/>
              </a:buClr>
              <a:buSzPts val="3420"/>
              <a:buFont typeface="Arial"/>
              <a:buChar char="•"/>
            </a:pPr>
            <a:r>
              <a:rPr lang="en-US">
                <a:solidFill>
                  <a:srgbClr val="7F7F7F"/>
                </a:solidFill>
              </a:rPr>
              <a:t>Add/Sub Instructions</a:t>
            </a:r>
            <a:endParaRPr/>
          </a:p>
          <a:p>
            <a:pPr indent="-531270" lvl="0" marL="609585" rtl="0" algn="l">
              <a:lnSpc>
                <a:spcPct val="100000"/>
              </a:lnSpc>
              <a:spcBef>
                <a:spcPts val="1000"/>
              </a:spcBef>
              <a:spcAft>
                <a:spcPts val="0"/>
              </a:spcAft>
              <a:buClr>
                <a:srgbClr val="7F7F7F"/>
              </a:buClr>
              <a:buSzPts val="3420"/>
              <a:buFont typeface="Arial"/>
              <a:buChar char="•"/>
            </a:pPr>
            <a:r>
              <a:rPr lang="en-US">
                <a:solidFill>
                  <a:srgbClr val="7F7F7F"/>
                </a:solidFill>
              </a:rPr>
              <a:t>Immediates</a:t>
            </a:r>
            <a:endParaRPr>
              <a:solidFill>
                <a:srgbClr val="7F7F7F"/>
              </a:solidFill>
            </a:endParaRPr>
          </a:p>
        </p:txBody>
      </p:sp>
      <p:sp>
        <p:nvSpPr>
          <p:cNvPr id="283" name="Google Shape;283;p23"/>
          <p:cNvSpPr txBox="1"/>
          <p:nvPr>
            <p:ph type="title"/>
          </p:nvPr>
        </p:nvSpPr>
        <p:spPr>
          <a:xfrm>
            <a:off x="330437" y="886850"/>
            <a:ext cx="5181600" cy="5365751"/>
          </a:xfrm>
          <a:prstGeom prst="rect">
            <a:avLst/>
          </a:prstGeom>
          <a:noFill/>
          <a:ln>
            <a:noFill/>
          </a:ln>
        </p:spPr>
        <p:txBody>
          <a:bodyPr anchorCtr="0" anchor="ctr" bIns="45700" lIns="91425" spcFirstLastPara="1" rIns="91425" wrap="square" tIns="45700">
            <a:normAutofit/>
          </a:bodyPr>
          <a:lstStyle/>
          <a:p>
            <a:pPr indent="0" lvl="0" marL="78315" rtl="0" algn="l">
              <a:lnSpc>
                <a:spcPct val="90000"/>
              </a:lnSpc>
              <a:spcBef>
                <a:spcPts val="0"/>
              </a:spcBef>
              <a:spcAft>
                <a:spcPts val="0"/>
              </a:spcAft>
              <a:buClr>
                <a:schemeClr val="accent3"/>
              </a:buClr>
              <a:buSzPts val="5800"/>
              <a:buFont typeface="Arial"/>
              <a:buNone/>
            </a:pPr>
            <a:r>
              <a:rPr lang="en-US"/>
              <a:t>Elements of Architecture: Registers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4"/>
          <p:cNvSpPr txBox="1"/>
          <p:nvPr>
            <p:ph type="title"/>
          </p:nvPr>
        </p:nvSpPr>
        <p:spPr>
          <a:xfrm>
            <a:off x="1104901" y="76199"/>
            <a:ext cx="10509504" cy="76809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2"/>
              </a:buClr>
              <a:buSzPts val="4200"/>
              <a:buFont typeface="Arial"/>
              <a:buNone/>
            </a:pPr>
            <a:r>
              <a:rPr lang="en-US"/>
              <a:t>Instruction Set</a:t>
            </a:r>
            <a:endParaRPr/>
          </a:p>
        </p:txBody>
      </p:sp>
      <p:sp>
        <p:nvSpPr>
          <p:cNvPr id="290" name="Google Shape;290;p24"/>
          <p:cNvSpPr txBox="1"/>
          <p:nvPr>
            <p:ph idx="1" type="body"/>
          </p:nvPr>
        </p:nvSpPr>
        <p:spPr>
          <a:xfrm>
            <a:off x="288413" y="3987494"/>
            <a:ext cx="6721987" cy="2217181"/>
          </a:xfrm>
          <a:prstGeom prst="rect">
            <a:avLst/>
          </a:prstGeom>
          <a:noFill/>
          <a:ln>
            <a:noFill/>
          </a:ln>
        </p:spPr>
        <p:txBody>
          <a:bodyPr anchorCtr="0" anchor="t" bIns="45700" lIns="91425" spcFirstLastPara="1" rIns="91425" wrap="square" tIns="45700">
            <a:normAutofit lnSpcReduction="10000"/>
          </a:bodyPr>
          <a:lstStyle/>
          <a:p>
            <a:pPr indent="-382587" lvl="0" marL="468313" rtl="0" algn="l">
              <a:lnSpc>
                <a:spcPct val="100000"/>
              </a:lnSpc>
              <a:spcBef>
                <a:spcPts val="0"/>
              </a:spcBef>
              <a:spcAft>
                <a:spcPts val="0"/>
              </a:spcAft>
              <a:buClr>
                <a:schemeClr val="accent4"/>
              </a:buClr>
              <a:buSzPts val="2534"/>
              <a:buChar char="▪"/>
            </a:pPr>
            <a:r>
              <a:rPr b="0" lang="en-US" sz="2667">
                <a:solidFill>
                  <a:schemeClr val="accent4"/>
                </a:solidFill>
                <a:latin typeface="Arial"/>
                <a:ea typeface="Arial"/>
                <a:cs typeface="Arial"/>
                <a:sym typeface="Arial"/>
              </a:rPr>
              <a:t>Instruction set </a:t>
            </a:r>
            <a:r>
              <a:rPr lang="en-US" sz="2667"/>
              <a:t>for a particular architecture (e.g. RISC-V) is represented by the </a:t>
            </a:r>
            <a:r>
              <a:rPr b="0" lang="en-US" sz="2667">
                <a:solidFill>
                  <a:schemeClr val="accent4"/>
                </a:solidFill>
                <a:latin typeface="Arial"/>
                <a:ea typeface="Arial"/>
                <a:cs typeface="Arial"/>
                <a:sym typeface="Arial"/>
              </a:rPr>
              <a:t>assembly language</a:t>
            </a:r>
            <a:endParaRPr sz="2667"/>
          </a:p>
          <a:p>
            <a:pPr indent="-383107" lvl="0" marL="467771" rtl="0" algn="l">
              <a:lnSpc>
                <a:spcPct val="100000"/>
              </a:lnSpc>
              <a:spcBef>
                <a:spcPts val="1000"/>
              </a:spcBef>
              <a:spcAft>
                <a:spcPts val="0"/>
              </a:spcAft>
              <a:buClr>
                <a:schemeClr val="lt1"/>
              </a:buClr>
              <a:buSzPts val="2534"/>
              <a:buChar char="▪"/>
            </a:pPr>
            <a:r>
              <a:rPr lang="en-US" sz="2667"/>
              <a:t>Each line of assembly code represents one instruction for the computer</a:t>
            </a:r>
            <a:endParaRPr/>
          </a:p>
        </p:txBody>
      </p:sp>
      <p:pic>
        <p:nvPicPr>
          <p:cNvPr id="291" name="Google Shape;291;p24"/>
          <p:cNvPicPr preferRelativeResize="0"/>
          <p:nvPr/>
        </p:nvPicPr>
        <p:blipFill rotWithShape="1">
          <a:blip r:embed="rId3">
            <a:alphaModFix/>
          </a:blip>
          <a:srcRect b="0" l="0" r="0" t="0"/>
          <a:stretch/>
        </p:blipFill>
        <p:spPr>
          <a:xfrm>
            <a:off x="1973245" y="1558166"/>
            <a:ext cx="3048000" cy="1200457"/>
          </a:xfrm>
          <a:prstGeom prst="rect">
            <a:avLst/>
          </a:prstGeom>
          <a:noFill/>
          <a:ln>
            <a:noFill/>
          </a:ln>
        </p:spPr>
      </p:pic>
      <p:pic>
        <p:nvPicPr>
          <p:cNvPr id="292" name="Google Shape;292;p24"/>
          <p:cNvPicPr preferRelativeResize="0"/>
          <p:nvPr/>
        </p:nvPicPr>
        <p:blipFill rotWithShape="1">
          <a:blip r:embed="rId4">
            <a:alphaModFix/>
          </a:blip>
          <a:srcRect b="0" l="0" r="0" t="0"/>
          <a:stretch/>
        </p:blipFill>
        <p:spPr>
          <a:xfrm>
            <a:off x="5529245" y="1006673"/>
            <a:ext cx="4857749" cy="2818443"/>
          </a:xfrm>
          <a:prstGeom prst="rect">
            <a:avLst/>
          </a:prstGeom>
          <a:noFill/>
          <a:ln cap="flat" cmpd="sng" w="9525">
            <a:solidFill>
              <a:srgbClr val="FFC000"/>
            </a:solidFill>
            <a:prstDash val="solid"/>
            <a:round/>
            <a:headEnd len="sm" w="sm" type="none"/>
            <a:tailEnd len="sm" w="sm" type="none"/>
          </a:ln>
        </p:spPr>
      </p:pic>
      <p:sp>
        <p:nvSpPr>
          <p:cNvPr id="293" name="Google Shape;293;p24"/>
          <p:cNvSpPr/>
          <p:nvPr/>
        </p:nvSpPr>
        <p:spPr>
          <a:xfrm>
            <a:off x="5529245" y="1253365"/>
            <a:ext cx="508000" cy="203200"/>
          </a:xfrm>
          <a:prstGeom prst="rect">
            <a:avLst/>
          </a:prstGeom>
          <a:noFill/>
          <a:ln cap="flat" cmpd="sng" w="381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94" name="Google Shape;294;p24"/>
          <p:cNvCxnSpPr/>
          <p:nvPr/>
        </p:nvCxnSpPr>
        <p:spPr>
          <a:xfrm flipH="1">
            <a:off x="4919645" y="1456565"/>
            <a:ext cx="609600" cy="1524000"/>
          </a:xfrm>
          <a:prstGeom prst="straightConnector1">
            <a:avLst/>
          </a:prstGeom>
          <a:noFill/>
          <a:ln cap="flat" cmpd="sng" w="12700">
            <a:solidFill>
              <a:srgbClr val="FFFF00"/>
            </a:solidFill>
            <a:prstDash val="solid"/>
            <a:miter lim="800000"/>
            <a:headEnd len="sm" w="sm" type="none"/>
            <a:tailEnd len="med" w="med" type="triangle"/>
          </a:ln>
        </p:spPr>
      </p:cxnSp>
      <p:sp>
        <p:nvSpPr>
          <p:cNvPr id="295" name="Google Shape;295;p24"/>
          <p:cNvSpPr txBox="1"/>
          <p:nvPr/>
        </p:nvSpPr>
        <p:spPr>
          <a:xfrm>
            <a:off x="2176450" y="2980575"/>
            <a:ext cx="32220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rgbClr val="FFFF00"/>
                </a:solidFill>
                <a:latin typeface="Arial"/>
                <a:ea typeface="Arial"/>
                <a:cs typeface="Arial"/>
                <a:sym typeface="Arial"/>
              </a:rPr>
              <a:t>“instruction sets”</a:t>
            </a:r>
            <a:endParaRPr/>
          </a:p>
        </p:txBody>
      </p:sp>
      <p:sp>
        <p:nvSpPr>
          <p:cNvPr id="296" name="Google Shape;296;p24"/>
          <p:cNvSpPr/>
          <p:nvPr/>
        </p:nvSpPr>
        <p:spPr>
          <a:xfrm>
            <a:off x="7958120" y="4844701"/>
            <a:ext cx="3945467" cy="502766"/>
          </a:xfrm>
          <a:prstGeom prst="rect">
            <a:avLst/>
          </a:prstGeom>
          <a:noFill/>
          <a:ln>
            <a:noFill/>
          </a:ln>
        </p:spPr>
        <p:txBody>
          <a:bodyPr anchorCtr="0" anchor="t" bIns="45700" lIns="91425" spcFirstLastPara="1" rIns="91425" wrap="square" tIns="45700">
            <a:noAutofit/>
          </a:bodyPr>
          <a:lstStyle/>
          <a:p>
            <a:pPr indent="-75007" lvl="0" marL="75007" marR="0" rtl="0" algn="l">
              <a:spcBef>
                <a:spcPts val="0"/>
              </a:spcBef>
              <a:spcAft>
                <a:spcPts val="0"/>
              </a:spcAft>
              <a:buNone/>
            </a:pPr>
            <a:r>
              <a:rPr b="1" lang="en-US" sz="2667">
                <a:solidFill>
                  <a:schemeClr val="lt1"/>
                </a:solidFill>
                <a:latin typeface="Courier New"/>
                <a:ea typeface="Courier New"/>
                <a:cs typeface="Courier New"/>
                <a:sym typeface="Courier New"/>
              </a:rPr>
              <a:t>add   x1, x2, x3</a:t>
            </a:r>
            <a:endParaRPr/>
          </a:p>
        </p:txBody>
      </p:sp>
      <p:sp>
        <p:nvSpPr>
          <p:cNvPr id="297" name="Google Shape;297;p24"/>
          <p:cNvSpPr txBox="1"/>
          <p:nvPr/>
        </p:nvSpPr>
        <p:spPr>
          <a:xfrm>
            <a:off x="7518400" y="5449227"/>
            <a:ext cx="1557868"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accent3"/>
                </a:solidFill>
                <a:latin typeface="Arial"/>
                <a:ea typeface="Arial"/>
                <a:cs typeface="Arial"/>
                <a:sym typeface="Arial"/>
              </a:rPr>
              <a:t>operation name</a:t>
            </a:r>
            <a:endParaRPr/>
          </a:p>
        </p:txBody>
      </p:sp>
      <p:sp>
        <p:nvSpPr>
          <p:cNvPr id="298" name="Google Shape;298;p24"/>
          <p:cNvSpPr txBox="1"/>
          <p:nvPr/>
        </p:nvSpPr>
        <p:spPr>
          <a:xfrm>
            <a:off x="9653023" y="5471600"/>
            <a:ext cx="15579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accent3"/>
                </a:solidFill>
                <a:latin typeface="Arial"/>
                <a:ea typeface="Arial"/>
                <a:cs typeface="Arial"/>
                <a:sym typeface="Arial"/>
              </a:rPr>
              <a:t>registers</a:t>
            </a:r>
            <a:endParaRPr/>
          </a:p>
        </p:txBody>
      </p:sp>
      <p:sp>
        <p:nvSpPr>
          <p:cNvPr id="299" name="Google Shape;299;p24"/>
          <p:cNvSpPr/>
          <p:nvPr/>
        </p:nvSpPr>
        <p:spPr>
          <a:xfrm rot="-5400000">
            <a:off x="8299395" y="4973849"/>
            <a:ext cx="147729" cy="830279"/>
          </a:xfrm>
          <a:prstGeom prst="leftBrace">
            <a:avLst>
              <a:gd fmla="val 8333" name="adj1"/>
              <a:gd fmla="val 50000" name="adj2"/>
            </a:avLst>
          </a:prstGeom>
          <a:noFill/>
          <a:ln cap="flat" cmpd="sng" w="28575">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Calibri"/>
              <a:ea typeface="Calibri"/>
              <a:cs typeface="Calibri"/>
              <a:sym typeface="Calibri"/>
            </a:endParaRPr>
          </a:p>
        </p:txBody>
      </p:sp>
      <p:sp>
        <p:nvSpPr>
          <p:cNvPr id="300" name="Google Shape;300;p24"/>
          <p:cNvSpPr/>
          <p:nvPr/>
        </p:nvSpPr>
        <p:spPr>
          <a:xfrm rot="-5400000">
            <a:off x="10221330" y="4321913"/>
            <a:ext cx="147728" cy="2134147"/>
          </a:xfrm>
          <a:prstGeom prst="leftBrace">
            <a:avLst>
              <a:gd fmla="val 8333" name="adj1"/>
              <a:gd fmla="val 50000" name="adj2"/>
            </a:avLst>
          </a:prstGeom>
          <a:noFill/>
          <a:ln cap="flat" cmpd="sng" w="28575">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5"/>
          <p:cNvSpPr txBox="1"/>
          <p:nvPr>
            <p:ph type="title"/>
          </p:nvPr>
        </p:nvSpPr>
        <p:spPr>
          <a:xfrm>
            <a:off x="1104900" y="76199"/>
            <a:ext cx="11087099" cy="76809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2"/>
              </a:buClr>
              <a:buSzPct val="98429"/>
              <a:buFont typeface="Arial"/>
              <a:buNone/>
            </a:pPr>
            <a:r>
              <a:rPr lang="en-US"/>
              <a:t>Higher-Level Language vs. Assembly Language </a:t>
            </a:r>
            <a:r>
              <a:rPr lang="en-US" sz="3600"/>
              <a:t>(1/2)</a:t>
            </a:r>
            <a:endParaRPr/>
          </a:p>
        </p:txBody>
      </p:sp>
      <p:sp>
        <p:nvSpPr>
          <p:cNvPr id="307" name="Google Shape;307;p25"/>
          <p:cNvSpPr txBox="1"/>
          <p:nvPr>
            <p:ph idx="1" type="body"/>
          </p:nvPr>
        </p:nvSpPr>
        <p:spPr>
          <a:xfrm>
            <a:off x="288413" y="1458304"/>
            <a:ext cx="6095454" cy="4718660"/>
          </a:xfrm>
          <a:prstGeom prst="rect">
            <a:avLst/>
          </a:prstGeom>
          <a:noFill/>
          <a:ln>
            <a:noFill/>
          </a:ln>
        </p:spPr>
        <p:txBody>
          <a:bodyPr anchorCtr="0" anchor="t" bIns="45700" lIns="91425" spcFirstLastPara="1" rIns="91425" wrap="square" tIns="45700">
            <a:noAutofit/>
          </a:bodyPr>
          <a:lstStyle/>
          <a:p>
            <a:pPr indent="-370408" lvl="0" marL="467771" rtl="0" algn="l">
              <a:lnSpc>
                <a:spcPct val="100000"/>
              </a:lnSpc>
              <a:spcBef>
                <a:spcPts val="0"/>
              </a:spcBef>
              <a:spcAft>
                <a:spcPts val="0"/>
              </a:spcAft>
              <a:buClr>
                <a:schemeClr val="lt1"/>
              </a:buClr>
              <a:buSzPts val="2080"/>
              <a:buChar char="▪"/>
            </a:pPr>
            <a:r>
              <a:rPr lang="en-US" sz="2200"/>
              <a:t>In C (and most high-level languages), variables declared first and given a type</a:t>
            </a:r>
            <a:endParaRPr sz="3400"/>
          </a:p>
          <a:p>
            <a:pPr indent="-311143" lvl="1" marL="768331" rtl="0" algn="l">
              <a:lnSpc>
                <a:spcPct val="100000"/>
              </a:lnSpc>
              <a:spcBef>
                <a:spcPts val="500"/>
              </a:spcBef>
              <a:spcAft>
                <a:spcPts val="0"/>
              </a:spcAft>
              <a:buClr>
                <a:schemeClr val="accent2"/>
              </a:buClr>
              <a:buSzPts val="1800"/>
              <a:buChar char="▫"/>
            </a:pPr>
            <a:r>
              <a:rPr b="1" lang="en-US" sz="2000">
                <a:latin typeface="Courier New"/>
                <a:ea typeface="Courier New"/>
                <a:cs typeface="Courier New"/>
                <a:sym typeface="Courier New"/>
              </a:rPr>
              <a:t>int fahr, celsius; </a:t>
            </a:r>
            <a:br>
              <a:rPr b="1" lang="en-US" sz="2000">
                <a:latin typeface="Courier New"/>
                <a:ea typeface="Courier New"/>
                <a:cs typeface="Courier New"/>
                <a:sym typeface="Courier New"/>
              </a:rPr>
            </a:br>
            <a:r>
              <a:rPr b="1" lang="en-US" sz="2000">
                <a:latin typeface="Courier New"/>
                <a:ea typeface="Courier New"/>
                <a:cs typeface="Courier New"/>
                <a:sym typeface="Courier New"/>
              </a:rPr>
              <a:t>char a, b, c, d, e;</a:t>
            </a:r>
            <a:endParaRPr/>
          </a:p>
          <a:p>
            <a:pPr indent="-376758" lvl="0" marL="467771" rtl="0" algn="l">
              <a:lnSpc>
                <a:spcPct val="100000"/>
              </a:lnSpc>
              <a:spcBef>
                <a:spcPts val="1000"/>
              </a:spcBef>
              <a:spcAft>
                <a:spcPts val="0"/>
              </a:spcAft>
              <a:buClr>
                <a:schemeClr val="lt1"/>
              </a:buClr>
              <a:buSzPts val="2180"/>
              <a:buChar char="▪"/>
            </a:pPr>
            <a:r>
              <a:rPr lang="en-US" sz="2300"/>
              <a:t>Each variable can ONLY represent a value of the type it was declared as </a:t>
            </a:r>
            <a:r>
              <a:rPr b="0" lang="en-US" sz="2300"/>
              <a:t>(cannot mix/match </a:t>
            </a:r>
            <a:r>
              <a:rPr b="0" lang="en-US" sz="2300">
                <a:latin typeface="Courier New"/>
                <a:ea typeface="Courier New"/>
                <a:cs typeface="Courier New"/>
                <a:sym typeface="Courier New"/>
              </a:rPr>
              <a:t>int</a:t>
            </a:r>
            <a:r>
              <a:rPr b="0" lang="en-US" sz="2300"/>
              <a:t>/</a:t>
            </a:r>
            <a:r>
              <a:rPr b="0" lang="en-US" sz="2300">
                <a:latin typeface="Courier New"/>
                <a:ea typeface="Courier New"/>
                <a:cs typeface="Courier New"/>
                <a:sym typeface="Courier New"/>
              </a:rPr>
              <a:t>char</a:t>
            </a:r>
            <a:r>
              <a:rPr b="0" lang="en-US" sz="2300"/>
              <a:t> variables)</a:t>
            </a:r>
            <a:endParaRPr b="0" sz="3500"/>
          </a:p>
          <a:p>
            <a:pPr indent="-383108" lvl="0" marL="467771" rtl="0" algn="l">
              <a:lnSpc>
                <a:spcPct val="100000"/>
              </a:lnSpc>
              <a:spcBef>
                <a:spcPts val="1000"/>
              </a:spcBef>
              <a:spcAft>
                <a:spcPts val="0"/>
              </a:spcAft>
              <a:buClr>
                <a:schemeClr val="lt1"/>
              </a:buClr>
              <a:buSzPts val="2280"/>
              <a:buChar char="▪"/>
            </a:pPr>
            <a:r>
              <a:rPr lang="en-US" sz="2400"/>
              <a:t>In high-level languages,</a:t>
            </a:r>
            <a:br>
              <a:rPr lang="en-US" sz="2400"/>
            </a:br>
            <a:r>
              <a:rPr b="0" lang="en-US" sz="2400">
                <a:solidFill>
                  <a:schemeClr val="accent4"/>
                </a:solidFill>
                <a:latin typeface="Arial"/>
                <a:ea typeface="Arial"/>
                <a:cs typeface="Arial"/>
                <a:sym typeface="Arial"/>
              </a:rPr>
              <a:t>variable types determine operation</a:t>
            </a:r>
            <a:endParaRPr sz="2400"/>
          </a:p>
          <a:p>
            <a:pPr indent="-311143" lvl="1" marL="768331" rtl="0" algn="l">
              <a:lnSpc>
                <a:spcPct val="100000"/>
              </a:lnSpc>
              <a:spcBef>
                <a:spcPts val="500"/>
              </a:spcBef>
              <a:spcAft>
                <a:spcPts val="0"/>
              </a:spcAft>
              <a:buClr>
                <a:schemeClr val="accent2"/>
              </a:buClr>
              <a:buSzPts val="1800"/>
              <a:buChar char="▫"/>
            </a:pPr>
            <a:r>
              <a:rPr b="1" lang="en-US" sz="2000">
                <a:latin typeface="Courier New"/>
                <a:ea typeface="Courier New"/>
                <a:cs typeface="Courier New"/>
                <a:sym typeface="Courier New"/>
              </a:rPr>
              <a:t>int *p = …; </a:t>
            </a:r>
            <a:br>
              <a:rPr b="1" lang="en-US" sz="2000">
                <a:latin typeface="Courier New"/>
                <a:ea typeface="Courier New"/>
                <a:cs typeface="Courier New"/>
                <a:sym typeface="Courier New"/>
              </a:rPr>
            </a:br>
            <a:r>
              <a:rPr b="1" lang="en-US" sz="2000">
                <a:latin typeface="Courier New"/>
                <a:ea typeface="Courier New"/>
                <a:cs typeface="Courier New"/>
                <a:sym typeface="Courier New"/>
              </a:rPr>
              <a:t>p = p + 2;</a:t>
            </a:r>
            <a:br>
              <a:rPr b="1" lang="en-US" sz="2000">
                <a:latin typeface="Courier New"/>
                <a:ea typeface="Courier New"/>
                <a:cs typeface="Courier New"/>
                <a:sym typeface="Courier New"/>
              </a:rPr>
            </a:br>
            <a:r>
              <a:rPr b="1" lang="en-US" sz="2000">
                <a:latin typeface="Courier New"/>
                <a:ea typeface="Courier New"/>
                <a:cs typeface="Courier New"/>
                <a:sym typeface="Courier New"/>
              </a:rPr>
              <a:t>int x = 42;</a:t>
            </a:r>
            <a:br>
              <a:rPr b="1" lang="en-US" sz="2000">
                <a:latin typeface="Courier New"/>
                <a:ea typeface="Courier New"/>
                <a:cs typeface="Courier New"/>
                <a:sym typeface="Courier New"/>
              </a:rPr>
            </a:br>
            <a:r>
              <a:rPr b="1" lang="en-US" sz="2000">
                <a:latin typeface="Courier New"/>
                <a:ea typeface="Courier New"/>
                <a:cs typeface="Courier New"/>
                <a:sym typeface="Courier New"/>
              </a:rPr>
              <a:t>x = 3 * x;</a:t>
            </a:r>
            <a:endParaRPr sz="2400"/>
          </a:p>
        </p:txBody>
      </p:sp>
      <p:sp>
        <p:nvSpPr>
          <p:cNvPr id="308" name="Google Shape;308;p25"/>
          <p:cNvSpPr txBox="1"/>
          <p:nvPr>
            <p:ph idx="2" type="body"/>
          </p:nvPr>
        </p:nvSpPr>
        <p:spPr>
          <a:xfrm>
            <a:off x="6383868" y="1473200"/>
            <a:ext cx="5519720" cy="4703764"/>
          </a:xfrm>
          <a:prstGeom prst="rect">
            <a:avLst/>
          </a:prstGeom>
          <a:noFill/>
          <a:ln>
            <a:noFill/>
          </a:ln>
        </p:spPr>
        <p:txBody>
          <a:bodyPr anchorCtr="0" anchor="t" bIns="45700" lIns="91425" spcFirstLastPara="1" rIns="91425" wrap="square" tIns="45700">
            <a:normAutofit/>
          </a:bodyPr>
          <a:lstStyle/>
          <a:p>
            <a:pPr indent="-383108" lvl="0" marL="467771" rtl="0" algn="l">
              <a:lnSpc>
                <a:spcPct val="100000"/>
              </a:lnSpc>
              <a:spcBef>
                <a:spcPts val="0"/>
              </a:spcBef>
              <a:spcAft>
                <a:spcPts val="0"/>
              </a:spcAft>
              <a:buClr>
                <a:schemeClr val="lt1"/>
              </a:buClr>
              <a:buSzPts val="2280"/>
              <a:buChar char="▪"/>
            </a:pPr>
            <a:r>
              <a:rPr lang="en-US" sz="2400"/>
              <a:t>Assembly operands are </a:t>
            </a:r>
            <a:r>
              <a:rPr b="0" lang="en-US" sz="2400">
                <a:solidFill>
                  <a:schemeClr val="accent4"/>
                </a:solidFill>
                <a:latin typeface="Arial"/>
                <a:ea typeface="Arial"/>
                <a:cs typeface="Arial"/>
                <a:sym typeface="Arial"/>
              </a:rPr>
              <a:t>registers</a:t>
            </a:r>
            <a:endParaRPr sz="2400">
              <a:solidFill>
                <a:schemeClr val="accent4"/>
              </a:solidFill>
            </a:endParaRPr>
          </a:p>
          <a:p>
            <a:pPr indent="-311143" lvl="1" marL="768331" rtl="0" algn="l">
              <a:lnSpc>
                <a:spcPct val="100000"/>
              </a:lnSpc>
              <a:spcBef>
                <a:spcPts val="500"/>
              </a:spcBef>
              <a:spcAft>
                <a:spcPts val="0"/>
              </a:spcAft>
              <a:buClr>
                <a:schemeClr val="accent2"/>
              </a:buClr>
              <a:buSzPts val="1800"/>
              <a:buChar char="▫"/>
            </a:pPr>
            <a:r>
              <a:rPr lang="en-US" sz="2000"/>
              <a:t>Registers are limited number of special locations, built directly into the hardware</a:t>
            </a:r>
            <a:endParaRPr/>
          </a:p>
          <a:p>
            <a:pPr indent="-311143" lvl="1" marL="768331" rtl="0" algn="l">
              <a:lnSpc>
                <a:spcPct val="100000"/>
              </a:lnSpc>
              <a:spcBef>
                <a:spcPts val="500"/>
              </a:spcBef>
              <a:spcAft>
                <a:spcPts val="0"/>
              </a:spcAft>
              <a:buClr>
                <a:schemeClr val="accent2"/>
              </a:buClr>
              <a:buSzPts val="1800"/>
              <a:buChar char="▫"/>
            </a:pPr>
            <a:r>
              <a:rPr lang="en-US" sz="2000"/>
              <a:t>RISC-V: Operations can only be performed on register operands</a:t>
            </a:r>
            <a:endParaRPr/>
          </a:p>
          <a:p>
            <a:pPr indent="-383108" lvl="0" marL="467771" rtl="0" algn="l">
              <a:lnSpc>
                <a:spcPct val="100000"/>
              </a:lnSpc>
              <a:spcBef>
                <a:spcPts val="1000"/>
              </a:spcBef>
              <a:spcAft>
                <a:spcPts val="0"/>
              </a:spcAft>
              <a:buClr>
                <a:schemeClr val="lt1"/>
              </a:buClr>
              <a:buSzPts val="2280"/>
              <a:buChar char="▪"/>
            </a:pPr>
            <a:r>
              <a:rPr lang="en-US" sz="2400"/>
              <a:t>In assembly language, the registers have no type</a:t>
            </a:r>
            <a:endParaRPr/>
          </a:p>
          <a:p>
            <a:pPr indent="-311143" lvl="1" marL="768331" rtl="0" algn="l">
              <a:lnSpc>
                <a:spcPct val="100000"/>
              </a:lnSpc>
              <a:spcBef>
                <a:spcPts val="500"/>
              </a:spcBef>
              <a:spcAft>
                <a:spcPts val="0"/>
              </a:spcAft>
              <a:buClr>
                <a:schemeClr val="accent2"/>
              </a:buClr>
              <a:buSzPts val="1800"/>
              <a:buChar char="▫"/>
            </a:pPr>
            <a:r>
              <a:rPr lang="en-US" sz="2000"/>
              <a:t>Register contents are just bits</a:t>
            </a:r>
            <a:endParaRPr/>
          </a:p>
          <a:p>
            <a:pPr indent="-383108" lvl="0" marL="467771" rtl="0" algn="l">
              <a:lnSpc>
                <a:spcPct val="100000"/>
              </a:lnSpc>
              <a:spcBef>
                <a:spcPts val="1000"/>
              </a:spcBef>
              <a:spcAft>
                <a:spcPts val="0"/>
              </a:spcAft>
              <a:buClr>
                <a:schemeClr val="accent4"/>
              </a:buClr>
              <a:buSzPts val="2280"/>
              <a:buChar char="▪"/>
            </a:pPr>
            <a:r>
              <a:rPr b="0" lang="en-US" sz="2400">
                <a:solidFill>
                  <a:schemeClr val="accent4"/>
                </a:solidFill>
                <a:latin typeface="Arial"/>
                <a:ea typeface="Arial"/>
                <a:cs typeface="Arial"/>
                <a:sym typeface="Arial"/>
              </a:rPr>
              <a:t>Operation determines “type,” </a:t>
            </a:r>
            <a:r>
              <a:rPr lang="en-US" sz="2400"/>
              <a:t>i.e., how register contents are treated</a:t>
            </a:r>
            <a:endParaRPr/>
          </a:p>
          <a:p>
            <a:pPr indent="-311143" lvl="1" marL="768331" rtl="0" algn="l">
              <a:lnSpc>
                <a:spcPct val="100000"/>
              </a:lnSpc>
              <a:spcBef>
                <a:spcPts val="500"/>
              </a:spcBef>
              <a:spcAft>
                <a:spcPts val="0"/>
              </a:spcAft>
              <a:buClr>
                <a:schemeClr val="accent2"/>
              </a:buClr>
              <a:buSzPts val="1800"/>
              <a:buChar char="▫"/>
            </a:pPr>
            <a:r>
              <a:rPr lang="en-US" sz="2000"/>
              <a:t>E.g., as value, memory address, etc.</a:t>
            </a:r>
            <a:endParaRPr/>
          </a:p>
          <a:p>
            <a:pPr indent="-196843" lvl="1" marL="768331" rtl="0" algn="l">
              <a:lnSpc>
                <a:spcPct val="100000"/>
              </a:lnSpc>
              <a:spcBef>
                <a:spcPts val="500"/>
              </a:spcBef>
              <a:spcAft>
                <a:spcPts val="0"/>
              </a:spcAft>
              <a:buClr>
                <a:schemeClr val="accent2"/>
              </a:buClr>
              <a:buSzPts val="1800"/>
              <a:buNone/>
            </a:pPr>
            <a:r>
              <a:t/>
            </a:r>
            <a:endParaRPr sz="2000"/>
          </a:p>
        </p:txBody>
      </p:sp>
      <p:sp>
        <p:nvSpPr>
          <p:cNvPr id="309" name="Google Shape;309;p25"/>
          <p:cNvSpPr txBox="1"/>
          <p:nvPr/>
        </p:nvSpPr>
        <p:spPr>
          <a:xfrm>
            <a:off x="2232287" y="945575"/>
            <a:ext cx="1415772"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lt1"/>
                </a:solidFill>
                <a:latin typeface="Arial"/>
                <a:ea typeface="Arial"/>
                <a:cs typeface="Arial"/>
                <a:sym typeface="Arial"/>
              </a:rPr>
              <a:t>C, Java</a:t>
            </a:r>
            <a:endParaRPr/>
          </a:p>
        </p:txBody>
      </p:sp>
      <p:sp>
        <p:nvSpPr>
          <p:cNvPr id="310" name="Google Shape;310;p25"/>
          <p:cNvSpPr txBox="1"/>
          <p:nvPr/>
        </p:nvSpPr>
        <p:spPr>
          <a:xfrm>
            <a:off x="8161803" y="945575"/>
            <a:ext cx="19251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lt1"/>
                </a:solidFill>
                <a:latin typeface="Arial"/>
                <a:ea typeface="Arial"/>
                <a:cs typeface="Arial"/>
                <a:sym typeface="Arial"/>
              </a:rPr>
              <a:t>RISC-V</a:t>
            </a:r>
            <a:endParaRPr/>
          </a:p>
        </p:txBody>
      </p:sp>
      <p:cxnSp>
        <p:nvCxnSpPr>
          <p:cNvPr id="311" name="Google Shape;311;p25"/>
          <p:cNvCxnSpPr/>
          <p:nvPr/>
        </p:nvCxnSpPr>
        <p:spPr>
          <a:xfrm>
            <a:off x="6417733" y="1219200"/>
            <a:ext cx="0" cy="4957764"/>
          </a:xfrm>
          <a:prstGeom prst="straightConnector1">
            <a:avLst/>
          </a:prstGeom>
          <a:noFill/>
          <a:ln cap="flat" cmpd="sng" w="28575">
            <a:solidFill>
              <a:srgbClr val="7F7F7F"/>
            </a:solidFill>
            <a:prstDash val="solid"/>
            <a:miter lim="800000"/>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6"/>
          <p:cNvSpPr txBox="1"/>
          <p:nvPr>
            <p:ph type="title"/>
          </p:nvPr>
        </p:nvSpPr>
        <p:spPr>
          <a:xfrm>
            <a:off x="1104901" y="76199"/>
            <a:ext cx="10509504" cy="76809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2"/>
              </a:buClr>
              <a:buSzPts val="4200"/>
              <a:buFont typeface="Arial"/>
              <a:buNone/>
            </a:pPr>
            <a:r>
              <a:rPr lang="en-US"/>
              <a:t>Registers are </a:t>
            </a:r>
            <a:r>
              <a:rPr lang="en-US" u="sng"/>
              <a:t>Inside</a:t>
            </a:r>
            <a:r>
              <a:rPr lang="en-US"/>
              <a:t> the Processor</a:t>
            </a:r>
            <a:endParaRPr/>
          </a:p>
        </p:txBody>
      </p:sp>
      <p:sp>
        <p:nvSpPr>
          <p:cNvPr id="318" name="Google Shape;318;p26"/>
          <p:cNvSpPr/>
          <p:nvPr/>
        </p:nvSpPr>
        <p:spPr>
          <a:xfrm rot="-5400000">
            <a:off x="3527974" y="5431711"/>
            <a:ext cx="274320" cy="969264"/>
          </a:xfrm>
          <a:prstGeom prst="leftBrace">
            <a:avLst>
              <a:gd fmla="val 8333" name="adj1"/>
              <a:gd fmla="val 50000" name="adj2"/>
            </a:avLst>
          </a:prstGeom>
          <a:noFill/>
          <a:ln cap="flat" cmpd="sng" w="25400">
            <a:solidFill>
              <a:srgbClr val="E4DD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9" name="Google Shape;319;p26"/>
          <p:cNvSpPr txBox="1"/>
          <p:nvPr/>
        </p:nvSpPr>
        <p:spPr>
          <a:xfrm>
            <a:off x="2394115" y="6130671"/>
            <a:ext cx="309892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E4DDD2"/>
                </a:solidFill>
                <a:latin typeface="Arial"/>
                <a:ea typeface="Arial"/>
                <a:cs typeface="Arial"/>
                <a:sym typeface="Arial"/>
              </a:rPr>
              <a:t>Processor-Memory Interface</a:t>
            </a:r>
            <a:endParaRPr/>
          </a:p>
        </p:txBody>
      </p:sp>
      <p:sp>
        <p:nvSpPr>
          <p:cNvPr id="320" name="Google Shape;320;p26"/>
          <p:cNvSpPr/>
          <p:nvPr/>
        </p:nvSpPr>
        <p:spPr>
          <a:xfrm rot="-5400000">
            <a:off x="7101433" y="5554802"/>
            <a:ext cx="274320" cy="723082"/>
          </a:xfrm>
          <a:prstGeom prst="leftBrace">
            <a:avLst>
              <a:gd fmla="val 8333" name="adj1"/>
              <a:gd fmla="val 50000" name="adj2"/>
            </a:avLst>
          </a:prstGeom>
          <a:noFill/>
          <a:ln cap="flat" cmpd="sng" w="25400">
            <a:solidFill>
              <a:srgbClr val="E4DD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1" name="Google Shape;321;p26"/>
          <p:cNvSpPr txBox="1"/>
          <p:nvPr/>
        </p:nvSpPr>
        <p:spPr>
          <a:xfrm>
            <a:off x="5968384" y="6130671"/>
            <a:ext cx="2547492" cy="36933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E4DDD2"/>
                </a:solidFill>
                <a:latin typeface="Arial"/>
                <a:ea typeface="Arial"/>
                <a:cs typeface="Arial"/>
                <a:sym typeface="Arial"/>
              </a:rPr>
              <a:t>I/O-Memory Interfaces</a:t>
            </a:r>
            <a:endParaRPr/>
          </a:p>
        </p:txBody>
      </p:sp>
      <p:pic>
        <p:nvPicPr>
          <p:cNvPr id="322" name="Google Shape;322;p26"/>
          <p:cNvPicPr preferRelativeResize="0"/>
          <p:nvPr/>
        </p:nvPicPr>
        <p:blipFill rotWithShape="1">
          <a:blip r:embed="rId3">
            <a:alphaModFix/>
          </a:blip>
          <a:srcRect b="0" l="0" r="0" t="0"/>
          <a:stretch/>
        </p:blipFill>
        <p:spPr>
          <a:xfrm>
            <a:off x="354981" y="1079500"/>
            <a:ext cx="8179980" cy="4464001"/>
          </a:xfrm>
          <a:prstGeom prst="rect">
            <a:avLst/>
          </a:prstGeom>
          <a:noFill/>
          <a:ln>
            <a:noFill/>
          </a:ln>
        </p:spPr>
      </p:pic>
      <p:sp>
        <p:nvSpPr>
          <p:cNvPr id="323" name="Google Shape;323;p26"/>
          <p:cNvSpPr/>
          <p:nvPr/>
        </p:nvSpPr>
        <p:spPr>
          <a:xfrm>
            <a:off x="648731" y="3305836"/>
            <a:ext cx="2170670" cy="1247114"/>
          </a:xfrm>
          <a:prstGeom prst="rect">
            <a:avLst/>
          </a:prstGeom>
          <a:noFill/>
          <a:ln cap="flat" cmpd="sng" w="5715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Calibri"/>
              <a:ea typeface="Calibri"/>
              <a:cs typeface="Calibri"/>
              <a:sym typeface="Calibri"/>
            </a:endParaRPr>
          </a:p>
        </p:txBody>
      </p:sp>
      <p:sp>
        <p:nvSpPr>
          <p:cNvPr id="324" name="Google Shape;324;p26"/>
          <p:cNvSpPr txBox="1"/>
          <p:nvPr/>
        </p:nvSpPr>
        <p:spPr>
          <a:xfrm>
            <a:off x="8575100" y="1170339"/>
            <a:ext cx="3504600" cy="4807500"/>
          </a:xfrm>
          <a:prstGeom prst="rect">
            <a:avLst/>
          </a:prstGeom>
          <a:noFill/>
          <a:ln>
            <a:noFill/>
          </a:ln>
        </p:spPr>
        <p:txBody>
          <a:bodyPr anchorCtr="0" anchor="t" bIns="45700" lIns="91425" spcFirstLastPara="1" rIns="91425" wrap="square" tIns="45700">
            <a:spAutoFit/>
          </a:bodyPr>
          <a:lstStyle/>
          <a:p>
            <a:pPr indent="0" lvl="0" marL="84664" marR="0" rtl="0" algn="l">
              <a:spcBef>
                <a:spcPts val="0"/>
              </a:spcBef>
              <a:spcAft>
                <a:spcPts val="0"/>
              </a:spcAft>
              <a:buNone/>
            </a:pPr>
            <a:r>
              <a:rPr b="1" lang="en-US" sz="2600">
                <a:solidFill>
                  <a:srgbClr val="FFFFFF"/>
                </a:solidFill>
                <a:latin typeface="Arial"/>
                <a:ea typeface="Arial"/>
                <a:cs typeface="Arial"/>
                <a:sym typeface="Arial"/>
              </a:rPr>
              <a:t>Benefit:</a:t>
            </a:r>
            <a:br>
              <a:rPr b="1" lang="en-US" sz="2600">
                <a:solidFill>
                  <a:srgbClr val="FFFFFF"/>
                </a:solidFill>
                <a:latin typeface="Arial"/>
                <a:ea typeface="Arial"/>
                <a:cs typeface="Arial"/>
                <a:sym typeface="Arial"/>
              </a:rPr>
            </a:br>
            <a:r>
              <a:rPr b="1" lang="en-US" sz="2600">
                <a:solidFill>
                  <a:srgbClr val="FFFFFF"/>
                </a:solidFill>
                <a:latin typeface="Arial"/>
                <a:ea typeface="Arial"/>
                <a:cs typeface="Arial"/>
                <a:sym typeface="Arial"/>
              </a:rPr>
              <a:t>Since registers are directly in hardware, they’re very fast</a:t>
            </a:r>
            <a:br>
              <a:rPr b="1" lang="en-US" sz="2600">
                <a:solidFill>
                  <a:srgbClr val="FFFFFF"/>
                </a:solidFill>
                <a:latin typeface="Arial"/>
                <a:ea typeface="Arial"/>
                <a:cs typeface="Arial"/>
                <a:sym typeface="Arial"/>
              </a:rPr>
            </a:br>
            <a:r>
              <a:rPr b="1" lang="en-US" sz="2600">
                <a:solidFill>
                  <a:srgbClr val="FFFFFF"/>
                </a:solidFill>
                <a:latin typeface="Arial"/>
                <a:ea typeface="Arial"/>
                <a:cs typeface="Arial"/>
                <a:sym typeface="Arial"/>
              </a:rPr>
              <a:t>(faster than 0.25ns)</a:t>
            </a:r>
            <a:endParaRPr sz="1200"/>
          </a:p>
          <a:p>
            <a:pPr indent="-303213" lvl="1" marL="473075" marR="0" rtl="0" algn="l">
              <a:spcBef>
                <a:spcPts val="500"/>
              </a:spcBef>
              <a:spcAft>
                <a:spcPts val="0"/>
              </a:spcAft>
              <a:buClr>
                <a:srgbClr val="C6DAC3"/>
              </a:buClr>
              <a:buSzPts val="2160"/>
              <a:buFont typeface="Inter"/>
              <a:buChar char="▫"/>
            </a:pPr>
            <a:r>
              <a:rPr b="0" i="0" lang="en-US" sz="2400" u="none" cap="none" strike="noStrike">
                <a:solidFill>
                  <a:srgbClr val="C6DAC3"/>
                </a:solidFill>
                <a:latin typeface="Arial"/>
                <a:ea typeface="Arial"/>
                <a:cs typeface="Arial"/>
                <a:sym typeface="Arial"/>
              </a:rPr>
              <a:t>Speed of light: 3x10</a:t>
            </a:r>
            <a:r>
              <a:rPr b="0" baseline="30000" i="0" lang="en-US" sz="2400" u="none" cap="none" strike="noStrike">
                <a:solidFill>
                  <a:srgbClr val="C6DAC3"/>
                </a:solidFill>
                <a:latin typeface="Arial"/>
                <a:ea typeface="Arial"/>
                <a:cs typeface="Arial"/>
                <a:sym typeface="Arial"/>
              </a:rPr>
              <a:t>8</a:t>
            </a:r>
            <a:r>
              <a:rPr b="0" i="0" lang="en-US" sz="2400" u="none" cap="none" strike="noStrike">
                <a:solidFill>
                  <a:srgbClr val="C6DAC3"/>
                </a:solidFill>
                <a:latin typeface="Arial"/>
                <a:ea typeface="Arial"/>
                <a:cs typeface="Arial"/>
                <a:sym typeface="Arial"/>
              </a:rPr>
              <a:t>m/s = 0.3m/ns = 30cm/ns</a:t>
            </a:r>
            <a:br>
              <a:rPr b="0" i="0" lang="en-US" sz="2400" u="none" cap="none" strike="noStrike">
                <a:solidFill>
                  <a:srgbClr val="C6DAC3"/>
                </a:solidFill>
                <a:latin typeface="Arial"/>
                <a:ea typeface="Arial"/>
                <a:cs typeface="Arial"/>
                <a:sym typeface="Arial"/>
              </a:rPr>
            </a:br>
            <a:r>
              <a:rPr b="0" i="0" lang="en-US" sz="2400" u="none" cap="none" strike="noStrike">
                <a:solidFill>
                  <a:srgbClr val="C6DAC3"/>
                </a:solidFill>
                <a:latin typeface="Arial"/>
                <a:ea typeface="Arial"/>
                <a:cs typeface="Arial"/>
                <a:sym typeface="Arial"/>
              </a:rPr>
              <a:t>= 10cm/0.3ns!!! </a:t>
            </a:r>
            <a:endParaRPr/>
          </a:p>
          <a:p>
            <a:pPr indent="-303213" lvl="1" marL="473075" marR="0" rtl="0" algn="l">
              <a:spcBef>
                <a:spcPts val="500"/>
              </a:spcBef>
              <a:spcAft>
                <a:spcPts val="0"/>
              </a:spcAft>
              <a:buClr>
                <a:srgbClr val="C6DAC3"/>
              </a:buClr>
              <a:buSzPts val="2160"/>
              <a:buFont typeface="Inter"/>
              <a:buChar char="▫"/>
            </a:pPr>
            <a:r>
              <a:rPr b="0" i="0" lang="en-US" sz="2400" u="none" cap="none" strike="noStrike">
                <a:solidFill>
                  <a:srgbClr val="C6DAC3"/>
                </a:solidFill>
                <a:latin typeface="Arial"/>
                <a:ea typeface="Arial"/>
                <a:cs typeface="Arial"/>
                <a:sym typeface="Arial"/>
              </a:rPr>
              <a:t>0.3ns is the clock period of a 3.33GHz computer</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cxnSp>
        <p:nvCxnSpPr>
          <p:cNvPr id="329" name="Google Shape;329;p27"/>
          <p:cNvCxnSpPr/>
          <p:nvPr/>
        </p:nvCxnSpPr>
        <p:spPr>
          <a:xfrm>
            <a:off x="5421170" y="1252538"/>
            <a:ext cx="4261852" cy="0"/>
          </a:xfrm>
          <a:prstGeom prst="straightConnector1">
            <a:avLst/>
          </a:prstGeom>
          <a:noFill/>
          <a:ln cap="flat" cmpd="sng" w="19050">
            <a:solidFill>
              <a:srgbClr val="E4DDD2"/>
            </a:solidFill>
            <a:prstDash val="solid"/>
            <a:round/>
            <a:headEnd len="sm" w="sm" type="none"/>
            <a:tailEnd len="sm" w="sm" type="none"/>
          </a:ln>
        </p:spPr>
      </p:cxnSp>
      <p:cxnSp>
        <p:nvCxnSpPr>
          <p:cNvPr id="330" name="Google Shape;330;p27"/>
          <p:cNvCxnSpPr/>
          <p:nvPr/>
        </p:nvCxnSpPr>
        <p:spPr>
          <a:xfrm rot="10800000">
            <a:off x="9683021" y="1252538"/>
            <a:ext cx="0" cy="1117600"/>
          </a:xfrm>
          <a:prstGeom prst="straightConnector1">
            <a:avLst/>
          </a:prstGeom>
          <a:noFill/>
          <a:ln cap="flat" cmpd="sng" w="19050">
            <a:solidFill>
              <a:srgbClr val="E4DDD2"/>
            </a:solidFill>
            <a:prstDash val="solid"/>
            <a:round/>
            <a:headEnd len="sm" w="sm" type="none"/>
            <a:tailEnd len="sm" w="sm" type="none"/>
          </a:ln>
        </p:spPr>
      </p:cxnSp>
      <p:sp>
        <p:nvSpPr>
          <p:cNvPr id="331" name="Google Shape;331;p27"/>
          <p:cNvSpPr txBox="1"/>
          <p:nvPr/>
        </p:nvSpPr>
        <p:spPr>
          <a:xfrm>
            <a:off x="6717596" y="1382508"/>
            <a:ext cx="2641600" cy="985023"/>
          </a:xfrm>
          <a:prstGeom prst="rect">
            <a:avLst/>
          </a:prstGeom>
          <a:noFill/>
          <a:ln>
            <a:noFill/>
          </a:ln>
        </p:spPr>
        <p:txBody>
          <a:bodyPr anchorCtr="0" anchor="t" bIns="60925" lIns="121900" spcFirstLastPara="1" rIns="121900" wrap="square" tIns="60925">
            <a:spAutoFit/>
          </a:bodyPr>
          <a:lstStyle/>
          <a:p>
            <a:pPr indent="0" lvl="0" marL="0" marR="0" rtl="0" algn="r">
              <a:spcBef>
                <a:spcPts val="0"/>
              </a:spcBef>
              <a:spcAft>
                <a:spcPts val="0"/>
              </a:spcAft>
              <a:buNone/>
            </a:pPr>
            <a:r>
              <a:rPr lang="en-US" sz="1867">
                <a:solidFill>
                  <a:srgbClr val="E4DDD2"/>
                </a:solidFill>
                <a:latin typeface="Arial"/>
                <a:ea typeface="Arial"/>
                <a:cs typeface="Arial"/>
                <a:sym typeface="Arial"/>
              </a:rPr>
              <a:t>Extremely fast</a:t>
            </a:r>
            <a:endParaRPr sz="1800">
              <a:solidFill>
                <a:schemeClr val="dk1"/>
              </a:solidFill>
              <a:latin typeface="Arial"/>
              <a:ea typeface="Arial"/>
              <a:cs typeface="Arial"/>
              <a:sym typeface="Arial"/>
            </a:endParaRPr>
          </a:p>
          <a:p>
            <a:pPr indent="0" lvl="0" marL="0" marR="0" rtl="0" algn="r">
              <a:spcBef>
                <a:spcPts val="0"/>
              </a:spcBef>
              <a:spcAft>
                <a:spcPts val="0"/>
              </a:spcAft>
              <a:buNone/>
            </a:pPr>
            <a:r>
              <a:rPr lang="en-US" sz="1867">
                <a:solidFill>
                  <a:srgbClr val="E4DDD2"/>
                </a:solidFill>
                <a:latin typeface="Arial"/>
                <a:ea typeface="Arial"/>
                <a:cs typeface="Arial"/>
                <a:sym typeface="Arial"/>
              </a:rPr>
              <a:t>Extremely expensive</a:t>
            </a:r>
            <a:br>
              <a:rPr lang="en-US" sz="1867">
                <a:solidFill>
                  <a:srgbClr val="E4DDD2"/>
                </a:solidFill>
                <a:latin typeface="Arial"/>
                <a:ea typeface="Arial"/>
                <a:cs typeface="Arial"/>
                <a:sym typeface="Arial"/>
              </a:rPr>
            </a:br>
            <a:r>
              <a:rPr lang="en-US" sz="1867">
                <a:solidFill>
                  <a:srgbClr val="E4DDD2"/>
                </a:solidFill>
                <a:latin typeface="Arial"/>
                <a:ea typeface="Arial"/>
                <a:cs typeface="Arial"/>
                <a:sym typeface="Arial"/>
              </a:rPr>
              <a:t>Tiny capacity</a:t>
            </a:r>
            <a:endParaRPr sz="1800">
              <a:solidFill>
                <a:schemeClr val="dk1"/>
              </a:solidFill>
              <a:latin typeface="Arial"/>
              <a:ea typeface="Arial"/>
              <a:cs typeface="Arial"/>
              <a:sym typeface="Arial"/>
            </a:endParaRPr>
          </a:p>
        </p:txBody>
      </p:sp>
      <p:cxnSp>
        <p:nvCxnSpPr>
          <p:cNvPr id="332" name="Google Shape;332;p27"/>
          <p:cNvCxnSpPr/>
          <p:nvPr/>
        </p:nvCxnSpPr>
        <p:spPr>
          <a:xfrm>
            <a:off x="407250" y="1275075"/>
            <a:ext cx="3931652" cy="0"/>
          </a:xfrm>
          <a:prstGeom prst="straightConnector1">
            <a:avLst/>
          </a:prstGeom>
          <a:noFill/>
          <a:ln cap="flat" cmpd="sng" w="19050">
            <a:solidFill>
              <a:srgbClr val="E4DDD2"/>
            </a:solidFill>
            <a:prstDash val="solid"/>
            <a:round/>
            <a:headEnd len="sm" w="sm" type="none"/>
            <a:tailEnd len="sm" w="sm" type="none"/>
          </a:ln>
        </p:spPr>
      </p:cxnSp>
      <p:cxnSp>
        <p:nvCxnSpPr>
          <p:cNvPr id="333" name="Google Shape;333;p27"/>
          <p:cNvCxnSpPr/>
          <p:nvPr/>
        </p:nvCxnSpPr>
        <p:spPr>
          <a:xfrm flipH="1" rot="10800000">
            <a:off x="397223" y="1275075"/>
            <a:ext cx="10027" cy="2325212"/>
          </a:xfrm>
          <a:prstGeom prst="straightConnector1">
            <a:avLst/>
          </a:prstGeom>
          <a:noFill/>
          <a:ln cap="flat" cmpd="sng" w="19050">
            <a:solidFill>
              <a:srgbClr val="E4DDD2"/>
            </a:solidFill>
            <a:prstDash val="solid"/>
            <a:round/>
            <a:headEnd len="sm" w="sm" type="none"/>
            <a:tailEnd len="sm" w="sm" type="none"/>
          </a:ln>
        </p:spPr>
      </p:cxnSp>
      <p:cxnSp>
        <p:nvCxnSpPr>
          <p:cNvPr id="334" name="Google Shape;334;p27"/>
          <p:cNvCxnSpPr/>
          <p:nvPr/>
        </p:nvCxnSpPr>
        <p:spPr>
          <a:xfrm>
            <a:off x="397223" y="3611875"/>
            <a:ext cx="2214479" cy="11589"/>
          </a:xfrm>
          <a:prstGeom prst="straightConnector1">
            <a:avLst/>
          </a:prstGeom>
          <a:noFill/>
          <a:ln cap="flat" cmpd="sng" w="19050">
            <a:solidFill>
              <a:srgbClr val="E4DDD2"/>
            </a:solidFill>
            <a:prstDash val="solid"/>
            <a:round/>
            <a:headEnd len="sm" w="sm" type="none"/>
            <a:tailEnd len="sm" w="sm" type="none"/>
          </a:ln>
        </p:spPr>
      </p:cxnSp>
      <p:sp>
        <p:nvSpPr>
          <p:cNvPr id="335" name="Google Shape;335;p27"/>
          <p:cNvSpPr txBox="1"/>
          <p:nvPr/>
        </p:nvSpPr>
        <p:spPr>
          <a:xfrm>
            <a:off x="407250" y="1384645"/>
            <a:ext cx="1598815" cy="697701"/>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rPr lang="en-US" sz="1867">
                <a:solidFill>
                  <a:srgbClr val="E4DDD2"/>
                </a:solidFill>
                <a:latin typeface="Arial"/>
                <a:ea typeface="Arial"/>
                <a:cs typeface="Arial"/>
                <a:sym typeface="Arial"/>
              </a:rPr>
              <a:t>Processor chip</a:t>
            </a:r>
            <a:endParaRPr sz="1800">
              <a:solidFill>
                <a:schemeClr val="dk1"/>
              </a:solidFill>
              <a:latin typeface="Arial"/>
              <a:ea typeface="Arial"/>
              <a:cs typeface="Arial"/>
              <a:sym typeface="Arial"/>
            </a:endParaRPr>
          </a:p>
        </p:txBody>
      </p:sp>
      <p:pic>
        <p:nvPicPr>
          <p:cNvPr id="336" name="Google Shape;336;p27"/>
          <p:cNvPicPr preferRelativeResize="0"/>
          <p:nvPr/>
        </p:nvPicPr>
        <p:blipFill rotWithShape="1">
          <a:blip r:embed="rId3">
            <a:alphaModFix/>
          </a:blip>
          <a:srcRect b="74079" l="0" r="0" t="0"/>
          <a:stretch/>
        </p:blipFill>
        <p:spPr>
          <a:xfrm>
            <a:off x="703199" y="1173475"/>
            <a:ext cx="7770555" cy="1316800"/>
          </a:xfrm>
          <a:prstGeom prst="rect">
            <a:avLst/>
          </a:prstGeom>
          <a:noFill/>
          <a:ln>
            <a:noFill/>
          </a:ln>
        </p:spPr>
      </p:pic>
      <p:sp>
        <p:nvSpPr>
          <p:cNvPr id="337" name="Google Shape;337;p27"/>
          <p:cNvSpPr txBox="1"/>
          <p:nvPr>
            <p:ph type="title"/>
          </p:nvPr>
        </p:nvSpPr>
        <p:spPr>
          <a:xfrm>
            <a:off x="1117599" y="76200"/>
            <a:ext cx="11049175" cy="762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2"/>
              </a:buClr>
              <a:buSzPts val="3733"/>
              <a:buFont typeface="Arial"/>
              <a:buNone/>
            </a:pPr>
            <a:r>
              <a:rPr lang="en-US" sz="3733"/>
              <a:t>Great Idea </a:t>
            </a:r>
            <a:r>
              <a:rPr lang="en-US" sz="3733">
                <a:solidFill>
                  <a:schemeClr val="accent3"/>
                </a:solidFill>
              </a:rPr>
              <a:t>#3</a:t>
            </a:r>
            <a:r>
              <a:rPr lang="en-US" sz="3733"/>
              <a:t>: Principle of Locality / Memory Hierarchy</a:t>
            </a:r>
            <a:endParaRPr/>
          </a:p>
        </p:txBody>
      </p:sp>
      <p:pic>
        <p:nvPicPr>
          <p:cNvPr descr="Diagram&#10;&#10;Description automatically generated" id="338" name="Google Shape;338;p27"/>
          <p:cNvPicPr preferRelativeResize="0"/>
          <p:nvPr/>
        </p:nvPicPr>
        <p:blipFill rotWithShape="1">
          <a:blip r:embed="rId4">
            <a:alphaModFix/>
          </a:blip>
          <a:srcRect b="0" l="0" r="0" t="0"/>
          <a:stretch/>
        </p:blipFill>
        <p:spPr>
          <a:xfrm>
            <a:off x="5421170" y="2790683"/>
            <a:ext cx="5905500" cy="3594100"/>
          </a:xfrm>
          <a:prstGeom prst="rect">
            <a:avLst/>
          </a:prstGeom>
          <a:noFill/>
          <a:ln cap="flat" cmpd="sng" w="19050">
            <a:solidFill>
              <a:schemeClr val="lt2"/>
            </a:solidFill>
            <a:prstDash val="solid"/>
            <a:round/>
            <a:headEnd len="sm" w="sm" type="none"/>
            <a:tailEnd len="sm" w="sm" type="none"/>
          </a:ln>
        </p:spPr>
      </p:pic>
      <p:sp>
        <p:nvSpPr>
          <p:cNvPr id="339" name="Google Shape;339;p27"/>
          <p:cNvSpPr/>
          <p:nvPr/>
        </p:nvSpPr>
        <p:spPr>
          <a:xfrm>
            <a:off x="5431198" y="2820560"/>
            <a:ext cx="5895471" cy="2948643"/>
          </a:xfrm>
          <a:prstGeom prst="rect">
            <a:avLst/>
          </a:prstGeom>
          <a:gradFill>
            <a:gsLst>
              <a:gs pos="0">
                <a:srgbClr val="000000">
                  <a:alpha val="99607"/>
                </a:srgbClr>
              </a:gs>
              <a:gs pos="26000">
                <a:srgbClr val="000000">
                  <a:alpha val="80000"/>
                </a:srgbClr>
              </a:gs>
              <a:gs pos="99000">
                <a:srgbClr val="032141">
                  <a:alpha val="85882"/>
                </a:srgbClr>
              </a:gs>
              <a:gs pos="100000">
                <a:srgbClr val="032141">
                  <a:alpha val="85882"/>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Calibri"/>
              <a:ea typeface="Calibri"/>
              <a:cs typeface="Calibri"/>
              <a:sym typeface="Calibri"/>
            </a:endParaRPr>
          </a:p>
        </p:txBody>
      </p:sp>
      <p:sp>
        <p:nvSpPr>
          <p:cNvPr id="340" name="Google Shape;340;p27"/>
          <p:cNvSpPr txBox="1"/>
          <p:nvPr/>
        </p:nvSpPr>
        <p:spPr>
          <a:xfrm>
            <a:off x="7455730" y="4294881"/>
            <a:ext cx="2036047"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000">
                <a:solidFill>
                  <a:schemeClr val="accent3"/>
                </a:solidFill>
                <a:latin typeface="Arial"/>
                <a:ea typeface="Arial"/>
                <a:cs typeface="Arial"/>
                <a:sym typeface="Arial"/>
              </a:rPr>
              <a:t>Storage Latency Analogy</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8"/>
          <p:cNvSpPr txBox="1"/>
          <p:nvPr>
            <p:ph type="title"/>
          </p:nvPr>
        </p:nvSpPr>
        <p:spPr>
          <a:xfrm>
            <a:off x="1104901" y="76199"/>
            <a:ext cx="10509504" cy="76809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2"/>
              </a:buClr>
              <a:buSzPts val="4200"/>
              <a:buFont typeface="Arial"/>
              <a:buNone/>
            </a:pPr>
            <a:r>
              <a:rPr lang="en-US"/>
              <a:t>32 Registers in RISC-V</a:t>
            </a:r>
            <a:endParaRPr/>
          </a:p>
        </p:txBody>
      </p:sp>
      <p:sp>
        <p:nvSpPr>
          <p:cNvPr id="347" name="Google Shape;347;p28"/>
          <p:cNvSpPr txBox="1"/>
          <p:nvPr>
            <p:ph idx="1" type="body"/>
          </p:nvPr>
        </p:nvSpPr>
        <p:spPr>
          <a:xfrm>
            <a:off x="288413" y="916710"/>
            <a:ext cx="11674987" cy="5287965"/>
          </a:xfrm>
          <a:prstGeom prst="rect">
            <a:avLst/>
          </a:prstGeom>
          <a:noFill/>
          <a:ln>
            <a:noFill/>
          </a:ln>
        </p:spPr>
        <p:txBody>
          <a:bodyPr anchorCtr="0" anchor="t" bIns="45700" lIns="91425" spcFirstLastPara="1" rIns="91425" wrap="square" tIns="45700">
            <a:noAutofit/>
          </a:bodyPr>
          <a:lstStyle/>
          <a:p>
            <a:pPr indent="-382588" lvl="0" marL="468313" rtl="0" algn="l">
              <a:lnSpc>
                <a:spcPct val="100000"/>
              </a:lnSpc>
              <a:spcBef>
                <a:spcPts val="0"/>
              </a:spcBef>
              <a:spcAft>
                <a:spcPts val="0"/>
              </a:spcAft>
              <a:buClr>
                <a:schemeClr val="lt1"/>
              </a:buClr>
              <a:buSzPts val="2660"/>
              <a:buChar char="▪"/>
            </a:pPr>
            <a:r>
              <a:rPr lang="en-US" sz="2800"/>
              <a:t>Drawback: Each ISA a predetermined number of registers</a:t>
            </a:r>
            <a:endParaRPr/>
          </a:p>
          <a:p>
            <a:pPr indent="-311143" lvl="1" marL="768331" rtl="0" algn="l">
              <a:lnSpc>
                <a:spcPct val="100000"/>
              </a:lnSpc>
              <a:spcBef>
                <a:spcPts val="500"/>
              </a:spcBef>
              <a:spcAft>
                <a:spcPts val="0"/>
              </a:spcAft>
              <a:buClr>
                <a:schemeClr val="accent2"/>
              </a:buClr>
              <a:buSzPts val="2160"/>
              <a:buChar char="▫"/>
            </a:pPr>
            <a:r>
              <a:rPr lang="en-US" sz="2400"/>
              <a:t>Why? Registers are built into hardware</a:t>
            </a:r>
            <a:endParaRPr/>
          </a:p>
          <a:p>
            <a:pPr indent="-311143" lvl="1" marL="768331" rtl="0" algn="l">
              <a:lnSpc>
                <a:spcPct val="100000"/>
              </a:lnSpc>
              <a:spcBef>
                <a:spcPts val="500"/>
              </a:spcBef>
              <a:spcAft>
                <a:spcPts val="0"/>
              </a:spcAft>
              <a:buClr>
                <a:schemeClr val="accent2"/>
              </a:buClr>
              <a:buSzPts val="2160"/>
              <a:buChar char="▫"/>
            </a:pPr>
            <a:r>
              <a:rPr lang="en-US" sz="2400"/>
              <a:t>Solution: RISC-V code must be very carefully put together to efficiently use registers</a:t>
            </a:r>
            <a:endParaRPr/>
          </a:p>
          <a:p>
            <a:pPr indent="-298442" lvl="2" marL="1066773" rtl="0" algn="l">
              <a:lnSpc>
                <a:spcPct val="100000"/>
              </a:lnSpc>
              <a:spcBef>
                <a:spcPts val="500"/>
              </a:spcBef>
              <a:spcAft>
                <a:spcPts val="0"/>
              </a:spcAft>
              <a:buClr>
                <a:schemeClr val="accent1"/>
              </a:buClr>
              <a:buSzPts val="2000"/>
              <a:buChar char="▪"/>
            </a:pPr>
            <a:r>
              <a:rPr lang="en-US" sz="2000"/>
              <a:t>Nowadays: compiler maps C variables to RISC-V registers across declarations, function calls, etc.</a:t>
            </a:r>
            <a:endParaRPr/>
          </a:p>
          <a:p>
            <a:pPr indent="-383107" lvl="0" marL="467771" rtl="0" algn="l">
              <a:lnSpc>
                <a:spcPct val="100000"/>
              </a:lnSpc>
              <a:spcBef>
                <a:spcPts val="1000"/>
              </a:spcBef>
              <a:spcAft>
                <a:spcPts val="0"/>
              </a:spcAft>
              <a:buClr>
                <a:schemeClr val="accent4"/>
              </a:buClr>
              <a:buSzPts val="2660"/>
              <a:buChar char="▪"/>
            </a:pPr>
            <a:r>
              <a:rPr b="0" lang="en-US" sz="2800">
                <a:solidFill>
                  <a:schemeClr val="accent4"/>
                </a:solidFill>
                <a:latin typeface="Arial"/>
                <a:ea typeface="Arial"/>
                <a:cs typeface="Arial"/>
                <a:sym typeface="Arial"/>
              </a:rPr>
              <a:t>32 registers </a:t>
            </a:r>
            <a:r>
              <a:rPr lang="en-US" sz="2800"/>
              <a:t>in RISC-V</a:t>
            </a:r>
            <a:endParaRPr/>
          </a:p>
          <a:p>
            <a:pPr indent="-311143" lvl="1" marL="768331" rtl="0" algn="l">
              <a:lnSpc>
                <a:spcPct val="100000"/>
              </a:lnSpc>
              <a:spcBef>
                <a:spcPts val="500"/>
              </a:spcBef>
              <a:spcAft>
                <a:spcPts val="0"/>
              </a:spcAft>
              <a:buClr>
                <a:schemeClr val="accent2"/>
              </a:buClr>
              <a:buSzPts val="2160"/>
              <a:buChar char="▫"/>
            </a:pPr>
            <a:r>
              <a:rPr lang="en-US" sz="2400"/>
              <a:t>Why 32? </a:t>
            </a:r>
            <a:r>
              <a:rPr lang="en-US" sz="2400">
                <a:solidFill>
                  <a:srgbClr val="FFFF00"/>
                </a:solidFill>
              </a:rPr>
              <a:t>Smaller is faster, but too small is bad</a:t>
            </a:r>
            <a:endParaRPr/>
          </a:p>
          <a:p>
            <a:pPr indent="-311143" lvl="1" marL="768331" rtl="0" algn="l">
              <a:lnSpc>
                <a:spcPct val="100000"/>
              </a:lnSpc>
              <a:spcBef>
                <a:spcPts val="500"/>
              </a:spcBef>
              <a:spcAft>
                <a:spcPts val="0"/>
              </a:spcAft>
              <a:buClr>
                <a:srgbClr val="FFFF00"/>
              </a:buClr>
              <a:buSzPts val="2160"/>
              <a:buChar char="▫"/>
            </a:pPr>
            <a:r>
              <a:rPr lang="en-US" sz="2400">
                <a:solidFill>
                  <a:srgbClr val="FFFF00"/>
                </a:solidFill>
              </a:rPr>
              <a:t>Goldilocks principle (“This porridge is too hot; This porridge is too cold; this porridge is just right”)</a:t>
            </a:r>
            <a:endParaRPr sz="2400"/>
          </a:p>
          <a:p>
            <a:pPr indent="-383107" lvl="0" marL="467771" rtl="0" algn="l">
              <a:lnSpc>
                <a:spcPct val="100000"/>
              </a:lnSpc>
              <a:spcBef>
                <a:spcPts val="1000"/>
              </a:spcBef>
              <a:spcAft>
                <a:spcPts val="0"/>
              </a:spcAft>
              <a:buClr>
                <a:schemeClr val="lt1"/>
              </a:buClr>
              <a:buSzPts val="2660"/>
              <a:buChar char="▪"/>
            </a:pPr>
            <a:r>
              <a:rPr lang="en-US" sz="2800"/>
              <a:t>Each RISC-V register is 32 bits wide (in RV32 variant)</a:t>
            </a:r>
            <a:endParaRPr/>
          </a:p>
          <a:p>
            <a:pPr indent="-311143" lvl="1" marL="768331" rtl="0" algn="l">
              <a:lnSpc>
                <a:spcPct val="75000"/>
              </a:lnSpc>
              <a:spcBef>
                <a:spcPts val="500"/>
              </a:spcBef>
              <a:spcAft>
                <a:spcPts val="0"/>
              </a:spcAft>
              <a:buClr>
                <a:schemeClr val="accent2"/>
              </a:buClr>
              <a:buSzPts val="2160"/>
              <a:buChar char="▫"/>
            </a:pPr>
            <a:r>
              <a:rPr lang="en-US" sz="2400"/>
              <a:t>Groups of 32 bits called a </a:t>
            </a:r>
            <a:r>
              <a:rPr lang="en-US" sz="2400" u="sng">
                <a:solidFill>
                  <a:srgbClr val="FFFF00"/>
                </a:solidFill>
              </a:rPr>
              <a:t>word</a:t>
            </a:r>
            <a:r>
              <a:rPr lang="en-US" sz="2400"/>
              <a:t> in RV32</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29"/>
          <p:cNvSpPr txBox="1"/>
          <p:nvPr>
            <p:ph type="title"/>
          </p:nvPr>
        </p:nvSpPr>
        <p:spPr>
          <a:xfrm>
            <a:off x="1104901" y="76199"/>
            <a:ext cx="10509504" cy="76809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2"/>
              </a:buClr>
              <a:buSzPts val="4200"/>
              <a:buFont typeface="Arial"/>
              <a:buNone/>
            </a:pPr>
            <a:r>
              <a:rPr lang="en-US"/>
              <a:t>Register Names and Numbers</a:t>
            </a:r>
            <a:endParaRPr/>
          </a:p>
        </p:txBody>
      </p:sp>
      <p:sp>
        <p:nvSpPr>
          <p:cNvPr id="354" name="Google Shape;354;p29"/>
          <p:cNvSpPr txBox="1"/>
          <p:nvPr>
            <p:ph idx="1" type="body"/>
          </p:nvPr>
        </p:nvSpPr>
        <p:spPr>
          <a:xfrm>
            <a:off x="288413" y="916710"/>
            <a:ext cx="11332079" cy="5287965"/>
          </a:xfrm>
          <a:prstGeom prst="rect">
            <a:avLst/>
          </a:prstGeom>
          <a:noFill/>
          <a:ln>
            <a:noFill/>
          </a:ln>
        </p:spPr>
        <p:txBody>
          <a:bodyPr anchorCtr="0" anchor="t" bIns="45700" lIns="91425" spcFirstLastPara="1" rIns="91425" wrap="square" tIns="45700">
            <a:normAutofit/>
          </a:bodyPr>
          <a:lstStyle/>
          <a:p>
            <a:pPr indent="-383107" lvl="0" marL="467771" rtl="0" algn="l">
              <a:lnSpc>
                <a:spcPct val="100000"/>
              </a:lnSpc>
              <a:spcBef>
                <a:spcPts val="0"/>
              </a:spcBef>
              <a:spcAft>
                <a:spcPts val="0"/>
              </a:spcAft>
              <a:buClr>
                <a:schemeClr val="lt1"/>
              </a:buClr>
              <a:buSzPts val="2660"/>
              <a:buChar char="▪"/>
            </a:pPr>
            <a:r>
              <a:rPr lang="en-US" sz="2800"/>
              <a:t>Registers are numbered from 0 to 31</a:t>
            </a:r>
            <a:endParaRPr/>
          </a:p>
          <a:p>
            <a:pPr indent="-311143" lvl="1" marL="768331" rtl="0" algn="l">
              <a:lnSpc>
                <a:spcPct val="100000"/>
              </a:lnSpc>
              <a:spcBef>
                <a:spcPts val="500"/>
              </a:spcBef>
              <a:spcAft>
                <a:spcPts val="0"/>
              </a:spcAft>
              <a:buClr>
                <a:schemeClr val="accent2"/>
              </a:buClr>
              <a:buSzPts val="2160"/>
              <a:buChar char="▫"/>
            </a:pPr>
            <a:r>
              <a:rPr lang="en-US" sz="2400"/>
              <a:t>Referred to by number </a:t>
            </a:r>
            <a:r>
              <a:rPr b="1" lang="en-US" sz="2400">
                <a:solidFill>
                  <a:schemeClr val="accent4"/>
                </a:solidFill>
                <a:latin typeface="Courier New"/>
                <a:ea typeface="Courier New"/>
                <a:cs typeface="Courier New"/>
                <a:sym typeface="Courier New"/>
              </a:rPr>
              <a:t>x0</a:t>
            </a:r>
            <a:r>
              <a:rPr lang="en-US" sz="2400">
                <a:solidFill>
                  <a:schemeClr val="accent4"/>
                </a:solidFill>
              </a:rPr>
              <a:t> – </a:t>
            </a:r>
            <a:r>
              <a:rPr b="1" lang="en-US" sz="2400">
                <a:solidFill>
                  <a:schemeClr val="accent4"/>
                </a:solidFill>
                <a:latin typeface="Courier New"/>
                <a:ea typeface="Courier New"/>
                <a:cs typeface="Courier New"/>
                <a:sym typeface="Courier New"/>
              </a:rPr>
              <a:t>x31</a:t>
            </a:r>
            <a:endParaRPr b="1" sz="2400">
              <a:latin typeface="Courier New"/>
              <a:ea typeface="Courier New"/>
              <a:cs typeface="Courier New"/>
              <a:sym typeface="Courier New"/>
            </a:endParaRPr>
          </a:p>
          <a:p>
            <a:pPr indent="-383107" lvl="0" marL="467771" rtl="0" algn="l">
              <a:lnSpc>
                <a:spcPct val="100000"/>
              </a:lnSpc>
              <a:spcBef>
                <a:spcPts val="1000"/>
              </a:spcBef>
              <a:spcAft>
                <a:spcPts val="0"/>
              </a:spcAft>
              <a:buClr>
                <a:schemeClr val="accent4"/>
              </a:buClr>
              <a:buSzPts val="2660"/>
              <a:buChar char="▪"/>
            </a:pPr>
            <a:r>
              <a:rPr lang="en-US" sz="2800">
                <a:solidFill>
                  <a:schemeClr val="accent4"/>
                </a:solidFill>
                <a:latin typeface="Courier New"/>
                <a:ea typeface="Courier New"/>
                <a:cs typeface="Courier New"/>
                <a:sym typeface="Courier New"/>
              </a:rPr>
              <a:t>x0</a:t>
            </a:r>
            <a:r>
              <a:rPr lang="en-US" sz="2800"/>
              <a:t> is special, always holds value zero</a:t>
            </a:r>
            <a:endParaRPr/>
          </a:p>
          <a:p>
            <a:pPr indent="-311143" lvl="1" marL="768331" rtl="0" algn="l">
              <a:lnSpc>
                <a:spcPct val="100000"/>
              </a:lnSpc>
              <a:spcBef>
                <a:spcPts val="500"/>
              </a:spcBef>
              <a:spcAft>
                <a:spcPts val="0"/>
              </a:spcAft>
              <a:buClr>
                <a:schemeClr val="accent2"/>
              </a:buClr>
              <a:buSzPts val="2160"/>
              <a:buChar char="▫"/>
            </a:pPr>
            <a:r>
              <a:rPr lang="en-US" sz="2400"/>
              <a:t>So only </a:t>
            </a:r>
            <a:r>
              <a:rPr lang="en-US" sz="2400">
                <a:solidFill>
                  <a:schemeClr val="accent4"/>
                </a:solidFill>
              </a:rPr>
              <a:t>31 registers</a:t>
            </a:r>
            <a:r>
              <a:rPr lang="en-US" sz="2400"/>
              <a:t> able to hold variable values</a:t>
            </a:r>
            <a:endParaRPr/>
          </a:p>
          <a:p>
            <a:pPr indent="-383107" lvl="0" marL="467771" rtl="0" algn="l">
              <a:lnSpc>
                <a:spcPct val="100000"/>
              </a:lnSpc>
              <a:spcBef>
                <a:spcPts val="1000"/>
              </a:spcBef>
              <a:spcAft>
                <a:spcPts val="0"/>
              </a:spcAft>
              <a:buClr>
                <a:schemeClr val="lt1"/>
              </a:buClr>
              <a:buSzPts val="2660"/>
              <a:buChar char="▪"/>
            </a:pPr>
            <a:r>
              <a:rPr lang="en-US" sz="2800"/>
              <a:t>Each register can be referred to by number or name</a:t>
            </a:r>
            <a:endParaRPr/>
          </a:p>
          <a:p>
            <a:pPr indent="-311143" lvl="1" marL="768331" rtl="0" algn="l">
              <a:lnSpc>
                <a:spcPct val="100000"/>
              </a:lnSpc>
              <a:spcBef>
                <a:spcPts val="500"/>
              </a:spcBef>
              <a:spcAft>
                <a:spcPts val="0"/>
              </a:spcAft>
              <a:buClr>
                <a:schemeClr val="accent2"/>
              </a:buClr>
              <a:buSzPts val="2160"/>
              <a:buChar char="▫"/>
            </a:pPr>
            <a:r>
              <a:rPr lang="en-US" sz="2400"/>
              <a:t>We’ll explain names next week</a:t>
            </a:r>
            <a:endParaRPr/>
          </a:p>
          <a:p>
            <a:pPr indent="-383107" lvl="0" marL="467771" rtl="0" algn="l">
              <a:lnSpc>
                <a:spcPct val="100000"/>
              </a:lnSpc>
              <a:spcBef>
                <a:spcPts val="1000"/>
              </a:spcBef>
              <a:spcAft>
                <a:spcPts val="0"/>
              </a:spcAft>
              <a:buClr>
                <a:schemeClr val="accent1"/>
              </a:buClr>
              <a:buSzPts val="2660"/>
              <a:buChar char="▪"/>
            </a:pPr>
            <a:r>
              <a:rPr lang="en-US" sz="2800">
                <a:solidFill>
                  <a:schemeClr val="accent1"/>
                </a:solidFill>
              </a:rPr>
              <a:t>Ok, enough already…give me my RV32!</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30"/>
          <p:cNvSpPr txBox="1"/>
          <p:nvPr>
            <p:ph idx="1" type="body"/>
          </p:nvPr>
        </p:nvSpPr>
        <p:spPr>
          <a:xfrm>
            <a:off x="5842475" y="909321"/>
            <a:ext cx="5998909" cy="5364480"/>
          </a:xfrm>
          <a:prstGeom prst="rect">
            <a:avLst/>
          </a:prstGeom>
          <a:noFill/>
          <a:ln>
            <a:noFill/>
          </a:ln>
        </p:spPr>
        <p:txBody>
          <a:bodyPr anchorCtr="0" anchor="ctr" bIns="45700" lIns="91425" spcFirstLastPara="1" rIns="91425" wrap="square" tIns="45700">
            <a:normAutofit/>
          </a:bodyPr>
          <a:lstStyle/>
          <a:p>
            <a:pPr indent="-531270" lvl="0" marL="609585" rtl="0" algn="l">
              <a:lnSpc>
                <a:spcPct val="100000"/>
              </a:lnSpc>
              <a:spcBef>
                <a:spcPts val="0"/>
              </a:spcBef>
              <a:spcAft>
                <a:spcPts val="0"/>
              </a:spcAft>
              <a:buClr>
                <a:srgbClr val="7F7F7F"/>
              </a:buClr>
              <a:buSzPts val="3420"/>
              <a:buFont typeface="Arial"/>
              <a:buChar char="•"/>
            </a:pPr>
            <a:r>
              <a:rPr lang="en-US">
                <a:solidFill>
                  <a:srgbClr val="7F7F7F"/>
                </a:solidFill>
              </a:rPr>
              <a:t>The RISC-V Instruction Set Architecture</a:t>
            </a:r>
            <a:endParaRPr/>
          </a:p>
          <a:p>
            <a:pPr indent="-531270" lvl="0" marL="609585" rtl="0" algn="l">
              <a:lnSpc>
                <a:spcPct val="100000"/>
              </a:lnSpc>
              <a:spcBef>
                <a:spcPts val="1000"/>
              </a:spcBef>
              <a:spcAft>
                <a:spcPts val="0"/>
              </a:spcAft>
              <a:buClr>
                <a:srgbClr val="7F7F7F"/>
              </a:buClr>
              <a:buSzPts val="3420"/>
              <a:buFont typeface="Arial"/>
              <a:buChar char="•"/>
            </a:pPr>
            <a:r>
              <a:rPr lang="en-US">
                <a:solidFill>
                  <a:srgbClr val="7F7F7F"/>
                </a:solidFill>
              </a:rPr>
              <a:t>Elements of Architecture: Registers</a:t>
            </a:r>
            <a:endParaRPr/>
          </a:p>
          <a:p>
            <a:pPr indent="-531270" lvl="0" marL="609585" rtl="0" algn="l">
              <a:lnSpc>
                <a:spcPct val="100000"/>
              </a:lnSpc>
              <a:spcBef>
                <a:spcPts val="1000"/>
              </a:spcBef>
              <a:spcAft>
                <a:spcPts val="0"/>
              </a:spcAft>
              <a:buClr>
                <a:schemeClr val="lt1"/>
              </a:buClr>
              <a:buSzPts val="3420"/>
              <a:buFont typeface="Arial"/>
              <a:buChar char="•"/>
            </a:pPr>
            <a:r>
              <a:rPr lang="en-US"/>
              <a:t>Add/Sub Instructions</a:t>
            </a:r>
            <a:endParaRPr/>
          </a:p>
          <a:p>
            <a:pPr indent="-531270" lvl="0" marL="609585" rtl="0" algn="l">
              <a:lnSpc>
                <a:spcPct val="100000"/>
              </a:lnSpc>
              <a:spcBef>
                <a:spcPts val="1000"/>
              </a:spcBef>
              <a:spcAft>
                <a:spcPts val="0"/>
              </a:spcAft>
              <a:buClr>
                <a:srgbClr val="7F7F7F"/>
              </a:buClr>
              <a:buSzPts val="3420"/>
              <a:buFont typeface="Arial"/>
              <a:buChar char="•"/>
            </a:pPr>
            <a:r>
              <a:rPr lang="en-US">
                <a:solidFill>
                  <a:srgbClr val="7F7F7F"/>
                </a:solidFill>
              </a:rPr>
              <a:t>Immediates</a:t>
            </a:r>
            <a:endParaRPr>
              <a:solidFill>
                <a:srgbClr val="7F7F7F"/>
              </a:solidFill>
            </a:endParaRPr>
          </a:p>
        </p:txBody>
      </p:sp>
      <p:sp>
        <p:nvSpPr>
          <p:cNvPr id="361" name="Google Shape;361;p30"/>
          <p:cNvSpPr txBox="1"/>
          <p:nvPr>
            <p:ph type="title"/>
          </p:nvPr>
        </p:nvSpPr>
        <p:spPr>
          <a:xfrm>
            <a:off x="330437" y="886850"/>
            <a:ext cx="5181600" cy="5365751"/>
          </a:xfrm>
          <a:prstGeom prst="rect">
            <a:avLst/>
          </a:prstGeom>
          <a:noFill/>
          <a:ln>
            <a:noFill/>
          </a:ln>
        </p:spPr>
        <p:txBody>
          <a:bodyPr anchorCtr="0" anchor="ctr" bIns="45700" lIns="91425" spcFirstLastPara="1" rIns="91425" wrap="square" tIns="45700">
            <a:normAutofit/>
          </a:bodyPr>
          <a:lstStyle/>
          <a:p>
            <a:pPr indent="0" lvl="0" marL="78315" rtl="0" algn="l">
              <a:lnSpc>
                <a:spcPct val="90000"/>
              </a:lnSpc>
              <a:spcBef>
                <a:spcPts val="0"/>
              </a:spcBef>
              <a:spcAft>
                <a:spcPts val="0"/>
              </a:spcAft>
              <a:buClr>
                <a:schemeClr val="accent3"/>
              </a:buClr>
              <a:buSzPts val="5800"/>
              <a:buFont typeface="Arial"/>
              <a:buNone/>
            </a:pPr>
            <a:r>
              <a:rPr lang="en-US"/>
              <a:t>Add/Sub Instructions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1"/>
          <p:cNvSpPr txBox="1"/>
          <p:nvPr>
            <p:ph type="title"/>
          </p:nvPr>
        </p:nvSpPr>
        <p:spPr>
          <a:xfrm>
            <a:off x="1104900" y="76199"/>
            <a:ext cx="11087099" cy="76809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2"/>
              </a:buClr>
              <a:buSzPct val="113163"/>
              <a:buFont typeface="Arial"/>
              <a:buNone/>
            </a:pPr>
            <a:r>
              <a:rPr lang="en-US" sz="3711"/>
              <a:t>Higher-Level Language vs. Assembly Language</a:t>
            </a:r>
            <a:r>
              <a:rPr b="0" lang="en-US"/>
              <a:t> </a:t>
            </a:r>
            <a:r>
              <a:rPr b="0" lang="en-US" sz="3600"/>
              <a:t>(2/2)</a:t>
            </a:r>
            <a:endParaRPr b="0"/>
          </a:p>
        </p:txBody>
      </p:sp>
      <p:sp>
        <p:nvSpPr>
          <p:cNvPr id="368" name="Google Shape;368;p31"/>
          <p:cNvSpPr txBox="1"/>
          <p:nvPr>
            <p:ph idx="1" type="body"/>
          </p:nvPr>
        </p:nvSpPr>
        <p:spPr>
          <a:xfrm>
            <a:off x="288413" y="1458304"/>
            <a:ext cx="6095454" cy="4718660"/>
          </a:xfrm>
          <a:prstGeom prst="rect">
            <a:avLst/>
          </a:prstGeom>
          <a:noFill/>
          <a:ln>
            <a:noFill/>
          </a:ln>
        </p:spPr>
        <p:txBody>
          <a:bodyPr anchorCtr="0" anchor="t" bIns="45700" lIns="91425" spcFirstLastPara="1" rIns="91425" wrap="square" tIns="45700">
            <a:noAutofit/>
          </a:bodyPr>
          <a:lstStyle/>
          <a:p>
            <a:pPr indent="-383107" lvl="0" marL="467771" rtl="0" algn="l">
              <a:lnSpc>
                <a:spcPct val="100000"/>
              </a:lnSpc>
              <a:spcBef>
                <a:spcPts val="0"/>
              </a:spcBef>
              <a:spcAft>
                <a:spcPts val="0"/>
              </a:spcAft>
              <a:buClr>
                <a:schemeClr val="lt1"/>
              </a:buClr>
              <a:buSzPts val="2660"/>
              <a:buChar char="▪"/>
            </a:pPr>
            <a:r>
              <a:rPr lang="en-US" sz="2800"/>
              <a:t>Each line can contain multiple operations</a:t>
            </a:r>
            <a:endParaRPr/>
          </a:p>
          <a:p>
            <a:pPr indent="0" lvl="1" marL="457188" rtl="0" algn="l">
              <a:lnSpc>
                <a:spcPct val="100000"/>
              </a:lnSpc>
              <a:spcBef>
                <a:spcPts val="500"/>
              </a:spcBef>
              <a:spcAft>
                <a:spcPts val="0"/>
              </a:spcAft>
              <a:buClr>
                <a:schemeClr val="accent2"/>
              </a:buClr>
              <a:buSzPts val="2160"/>
              <a:buNone/>
            </a:pPr>
            <a:r>
              <a:rPr b="1" lang="en-US" sz="2400">
                <a:latin typeface="Courier New"/>
                <a:ea typeface="Courier New"/>
                <a:cs typeface="Courier New"/>
                <a:sym typeface="Courier New"/>
              </a:rPr>
              <a:t>a = b * 2 - (arr[2] + *p);</a:t>
            </a:r>
            <a:endParaRPr/>
          </a:p>
          <a:p>
            <a:pPr indent="-383107" lvl="0" marL="467771" rtl="0" algn="l">
              <a:lnSpc>
                <a:spcPct val="100000"/>
              </a:lnSpc>
              <a:spcBef>
                <a:spcPts val="1000"/>
              </a:spcBef>
              <a:spcAft>
                <a:spcPts val="0"/>
              </a:spcAft>
              <a:buClr>
                <a:schemeClr val="lt1"/>
              </a:buClr>
              <a:buSzPts val="2660"/>
              <a:buChar char="▪"/>
            </a:pPr>
            <a:r>
              <a:rPr lang="en-US" sz="2800"/>
              <a:t>Common operations are:</a:t>
            </a:r>
            <a:endParaRPr/>
          </a:p>
          <a:p>
            <a:pPr indent="-311143" lvl="1" marL="768331" rtl="0" algn="l">
              <a:lnSpc>
                <a:spcPct val="100000"/>
              </a:lnSpc>
              <a:spcBef>
                <a:spcPts val="500"/>
              </a:spcBef>
              <a:spcAft>
                <a:spcPts val="0"/>
              </a:spcAft>
              <a:buClr>
                <a:schemeClr val="accent2"/>
              </a:buClr>
              <a:buSzPts val="2160"/>
              <a:buChar char="▫"/>
            </a:pPr>
            <a:r>
              <a:rPr lang="en-US" sz="2400"/>
              <a:t>=, +, –, *, /</a:t>
            </a:r>
            <a:endParaRPr/>
          </a:p>
          <a:p>
            <a:pPr indent="-311143" lvl="1" marL="768331" rtl="0" algn="l">
              <a:lnSpc>
                <a:spcPct val="100000"/>
              </a:lnSpc>
              <a:spcBef>
                <a:spcPts val="500"/>
              </a:spcBef>
              <a:spcAft>
                <a:spcPts val="0"/>
              </a:spcAft>
              <a:buClr>
                <a:schemeClr val="accent2"/>
              </a:buClr>
              <a:buSzPts val="2160"/>
              <a:buChar char="▫"/>
            </a:pPr>
            <a:r>
              <a:rPr lang="en-US" sz="2400"/>
              <a:t>Here, * includes both multiply and dereference</a:t>
            </a:r>
            <a:endParaRPr/>
          </a:p>
        </p:txBody>
      </p:sp>
      <p:sp>
        <p:nvSpPr>
          <p:cNvPr id="369" name="Google Shape;369;p31"/>
          <p:cNvSpPr txBox="1"/>
          <p:nvPr>
            <p:ph idx="2" type="body"/>
          </p:nvPr>
        </p:nvSpPr>
        <p:spPr>
          <a:xfrm>
            <a:off x="6096000" y="1473200"/>
            <a:ext cx="5807588" cy="3022600"/>
          </a:xfrm>
          <a:prstGeom prst="rect">
            <a:avLst/>
          </a:prstGeom>
          <a:noFill/>
          <a:ln>
            <a:noFill/>
          </a:ln>
        </p:spPr>
        <p:txBody>
          <a:bodyPr anchorCtr="0" anchor="t" bIns="45700" lIns="91425" spcFirstLastPara="1" rIns="91425" wrap="square" tIns="45700">
            <a:normAutofit/>
          </a:bodyPr>
          <a:lstStyle/>
          <a:p>
            <a:pPr indent="-383108" lvl="0" marL="467771" rtl="0" algn="l">
              <a:lnSpc>
                <a:spcPct val="100000"/>
              </a:lnSpc>
              <a:spcBef>
                <a:spcPts val="0"/>
              </a:spcBef>
              <a:spcAft>
                <a:spcPts val="0"/>
              </a:spcAft>
              <a:buClr>
                <a:schemeClr val="lt1"/>
              </a:buClr>
              <a:buSzPts val="2280"/>
              <a:buChar char="▪"/>
            </a:pPr>
            <a:r>
              <a:rPr lang="en-US" sz="2400"/>
              <a:t>Each statement is an </a:t>
            </a:r>
            <a:r>
              <a:rPr b="0" lang="en-US" sz="2400">
                <a:solidFill>
                  <a:schemeClr val="accent4"/>
                </a:solidFill>
                <a:latin typeface="Arial"/>
                <a:ea typeface="Arial"/>
                <a:cs typeface="Arial"/>
                <a:sym typeface="Arial"/>
              </a:rPr>
              <a:t>instruction</a:t>
            </a:r>
            <a:endParaRPr sz="2400">
              <a:solidFill>
                <a:schemeClr val="accent4"/>
              </a:solidFill>
            </a:endParaRPr>
          </a:p>
          <a:p>
            <a:pPr indent="-311143" lvl="1" marL="768331" rtl="0" algn="l">
              <a:lnSpc>
                <a:spcPct val="100000"/>
              </a:lnSpc>
              <a:spcBef>
                <a:spcPts val="500"/>
              </a:spcBef>
              <a:spcAft>
                <a:spcPts val="0"/>
              </a:spcAft>
              <a:buClr>
                <a:schemeClr val="accent2"/>
              </a:buClr>
              <a:buSzPts val="1800"/>
              <a:buChar char="▫"/>
            </a:pPr>
            <a:r>
              <a:rPr lang="en-US" sz="2000"/>
              <a:t>An instruction executes exactly one short list of simple commands</a:t>
            </a:r>
            <a:endParaRPr/>
          </a:p>
          <a:p>
            <a:pPr indent="-383108" lvl="0" marL="467771" rtl="0" algn="l">
              <a:lnSpc>
                <a:spcPct val="100000"/>
              </a:lnSpc>
              <a:spcBef>
                <a:spcPts val="1000"/>
              </a:spcBef>
              <a:spcAft>
                <a:spcPts val="0"/>
              </a:spcAft>
              <a:buClr>
                <a:schemeClr val="lt1"/>
              </a:buClr>
              <a:buSzPts val="2280"/>
              <a:buChar char="▪"/>
            </a:pPr>
            <a:r>
              <a:rPr lang="en-US" sz="2400"/>
              <a:t>Each line of assembly code contains</a:t>
            </a:r>
            <a:br>
              <a:rPr lang="en-US" sz="2400"/>
            </a:br>
            <a:r>
              <a:rPr lang="en-US" sz="2400"/>
              <a:t> </a:t>
            </a:r>
            <a:r>
              <a:rPr lang="en-US" sz="2400">
                <a:solidFill>
                  <a:srgbClr val="D9E156"/>
                </a:solidFill>
              </a:rPr>
              <a:t>at most 1 instruction</a:t>
            </a:r>
            <a:endParaRPr/>
          </a:p>
          <a:p>
            <a:pPr indent="0" lvl="1" marL="457188" rtl="0" algn="l">
              <a:lnSpc>
                <a:spcPct val="100000"/>
              </a:lnSpc>
              <a:spcBef>
                <a:spcPts val="500"/>
              </a:spcBef>
              <a:spcAft>
                <a:spcPts val="0"/>
              </a:spcAft>
              <a:buClr>
                <a:schemeClr val="accent2"/>
              </a:buClr>
              <a:buSzPts val="1800"/>
              <a:buNone/>
            </a:pPr>
            <a:r>
              <a:rPr b="1" lang="en-US" sz="2000">
                <a:latin typeface="Courier"/>
                <a:ea typeface="Courier"/>
                <a:cs typeface="Courier"/>
                <a:sym typeface="Courier"/>
              </a:rPr>
              <a:t>add      x1, x2, x3</a:t>
            </a:r>
            <a:endParaRPr/>
          </a:p>
          <a:p>
            <a:pPr indent="0" lvl="1" marL="457188" rtl="0" algn="l">
              <a:lnSpc>
                <a:spcPct val="100000"/>
              </a:lnSpc>
              <a:spcBef>
                <a:spcPts val="500"/>
              </a:spcBef>
              <a:spcAft>
                <a:spcPts val="0"/>
              </a:spcAft>
              <a:buClr>
                <a:schemeClr val="accent2"/>
              </a:buClr>
              <a:buSzPts val="1800"/>
              <a:buNone/>
            </a:pPr>
            <a:r>
              <a:rPr b="1" lang="en-US" sz="2000">
                <a:latin typeface="Courier"/>
                <a:ea typeface="Courier"/>
                <a:cs typeface="Courier"/>
                <a:sym typeface="Courier"/>
              </a:rPr>
              <a:t>sub	x1, x1, x4</a:t>
            </a:r>
            <a:endParaRPr/>
          </a:p>
        </p:txBody>
      </p:sp>
      <p:sp>
        <p:nvSpPr>
          <p:cNvPr id="370" name="Google Shape;370;p31"/>
          <p:cNvSpPr txBox="1"/>
          <p:nvPr/>
        </p:nvSpPr>
        <p:spPr>
          <a:xfrm>
            <a:off x="2232270" y="945575"/>
            <a:ext cx="20040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lt1"/>
                </a:solidFill>
                <a:latin typeface="Arial"/>
                <a:ea typeface="Arial"/>
                <a:cs typeface="Arial"/>
                <a:sym typeface="Arial"/>
              </a:rPr>
              <a:t>C, Java</a:t>
            </a:r>
            <a:endParaRPr/>
          </a:p>
        </p:txBody>
      </p:sp>
      <p:sp>
        <p:nvSpPr>
          <p:cNvPr id="371" name="Google Shape;371;p31"/>
          <p:cNvSpPr txBox="1"/>
          <p:nvPr/>
        </p:nvSpPr>
        <p:spPr>
          <a:xfrm>
            <a:off x="8161803" y="945575"/>
            <a:ext cx="18864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lt1"/>
                </a:solidFill>
                <a:latin typeface="Arial"/>
                <a:ea typeface="Arial"/>
                <a:cs typeface="Arial"/>
                <a:sym typeface="Arial"/>
              </a:rPr>
              <a:t>RISC-V</a:t>
            </a:r>
            <a:endParaRPr/>
          </a:p>
        </p:txBody>
      </p:sp>
      <p:cxnSp>
        <p:nvCxnSpPr>
          <p:cNvPr id="372" name="Google Shape;372;p31"/>
          <p:cNvCxnSpPr/>
          <p:nvPr/>
        </p:nvCxnSpPr>
        <p:spPr>
          <a:xfrm>
            <a:off x="6096000" y="1238250"/>
            <a:ext cx="0" cy="3086100"/>
          </a:xfrm>
          <a:prstGeom prst="straightConnector1">
            <a:avLst/>
          </a:prstGeom>
          <a:noFill/>
          <a:ln cap="flat" cmpd="sng" w="28575">
            <a:solidFill>
              <a:srgbClr val="7F7F7F"/>
            </a:solidFill>
            <a:prstDash val="solid"/>
            <a:miter lim="800000"/>
            <a:headEnd len="sm" w="sm" type="none"/>
            <a:tailEnd len="sm" w="sm" type="none"/>
          </a:ln>
        </p:spPr>
      </p:cxnSp>
      <p:sp>
        <p:nvSpPr>
          <p:cNvPr id="373" name="Google Shape;373;p31"/>
          <p:cNvSpPr/>
          <p:nvPr/>
        </p:nvSpPr>
        <p:spPr>
          <a:xfrm>
            <a:off x="6129875" y="4636574"/>
            <a:ext cx="5807700" cy="155940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200">
                <a:solidFill>
                  <a:schemeClr val="dk1"/>
                </a:solidFill>
                <a:latin typeface="Arial"/>
                <a:ea typeface="Arial"/>
                <a:cs typeface="Arial"/>
                <a:sym typeface="Arial"/>
              </a:rPr>
              <a:t>The compiler translates from higher-level language down to assembly…</a:t>
            </a:r>
            <a:br>
              <a:rPr lang="en-US" sz="2200">
                <a:solidFill>
                  <a:schemeClr val="dk1"/>
                </a:solidFill>
                <a:latin typeface="Arial"/>
                <a:ea typeface="Arial"/>
                <a:cs typeface="Arial"/>
                <a:sym typeface="Arial"/>
              </a:rPr>
            </a:br>
            <a:r>
              <a:rPr lang="en-US" sz="2200">
                <a:solidFill>
                  <a:schemeClr val="dk1"/>
                </a:solidFill>
                <a:latin typeface="Arial"/>
                <a:ea typeface="Arial"/>
                <a:cs typeface="Arial"/>
                <a:sym typeface="Arial"/>
              </a:rPr>
              <a:t>…so RISC-V instructions are often closely related to common C/Java operations.</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32"/>
          <p:cNvSpPr txBox="1"/>
          <p:nvPr>
            <p:ph type="title"/>
          </p:nvPr>
        </p:nvSpPr>
        <p:spPr>
          <a:xfrm>
            <a:off x="1104901" y="76199"/>
            <a:ext cx="10509504" cy="76809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2"/>
              </a:buClr>
              <a:buSzPts val="4200"/>
              <a:buFont typeface="Arial"/>
              <a:buNone/>
            </a:pPr>
            <a:r>
              <a:rPr lang="en-US"/>
              <a:t>RISC-V Arithmetic Instruction Syntax</a:t>
            </a:r>
            <a:endParaRPr/>
          </a:p>
        </p:txBody>
      </p:sp>
      <p:sp>
        <p:nvSpPr>
          <p:cNvPr id="380" name="Google Shape;380;p32"/>
          <p:cNvSpPr txBox="1"/>
          <p:nvPr>
            <p:ph idx="1" type="body"/>
          </p:nvPr>
        </p:nvSpPr>
        <p:spPr>
          <a:xfrm>
            <a:off x="288413" y="3429000"/>
            <a:ext cx="11332079" cy="2775675"/>
          </a:xfrm>
          <a:prstGeom prst="rect">
            <a:avLst/>
          </a:prstGeom>
          <a:noFill/>
          <a:ln>
            <a:noFill/>
          </a:ln>
        </p:spPr>
        <p:txBody>
          <a:bodyPr anchorCtr="0" anchor="t" bIns="45700" lIns="91425" spcFirstLastPara="1" rIns="91425" wrap="square" tIns="45700">
            <a:normAutofit/>
          </a:bodyPr>
          <a:lstStyle/>
          <a:p>
            <a:pPr indent="-383107" lvl="0" marL="467771" rtl="0" algn="l">
              <a:lnSpc>
                <a:spcPct val="100000"/>
              </a:lnSpc>
              <a:spcBef>
                <a:spcPts val="0"/>
              </a:spcBef>
              <a:spcAft>
                <a:spcPts val="0"/>
              </a:spcAft>
              <a:buClr>
                <a:schemeClr val="lt1"/>
              </a:buClr>
              <a:buSzPts val="3040"/>
              <a:buChar char="▪"/>
            </a:pPr>
            <a:r>
              <a:rPr lang="en-US" sz="3200"/>
              <a:t>Syntax is rigid:</a:t>
            </a:r>
            <a:endParaRPr/>
          </a:p>
          <a:p>
            <a:pPr indent="-311143" lvl="1" marL="768331" rtl="0" algn="l">
              <a:lnSpc>
                <a:spcPct val="100000"/>
              </a:lnSpc>
              <a:spcBef>
                <a:spcPts val="500"/>
              </a:spcBef>
              <a:spcAft>
                <a:spcPts val="0"/>
              </a:spcAft>
              <a:buClr>
                <a:schemeClr val="accent2"/>
              </a:buClr>
              <a:buSzPts val="2520"/>
              <a:buChar char="▫"/>
            </a:pPr>
            <a:r>
              <a:rPr lang="en-US" sz="2800"/>
              <a:t>1 operator, 3 operands</a:t>
            </a:r>
            <a:endParaRPr/>
          </a:p>
          <a:p>
            <a:pPr indent="-311143" lvl="1" marL="768331" rtl="0" algn="l">
              <a:lnSpc>
                <a:spcPct val="100000"/>
              </a:lnSpc>
              <a:spcBef>
                <a:spcPts val="500"/>
              </a:spcBef>
              <a:spcAft>
                <a:spcPts val="0"/>
              </a:spcAft>
              <a:buClr>
                <a:schemeClr val="accent2"/>
              </a:buClr>
              <a:buSzPts val="2520"/>
              <a:buChar char="▫"/>
            </a:pPr>
            <a:r>
              <a:rPr lang="en-US" sz="2800"/>
              <a:t>Why? Keep hardware simple via regularity </a:t>
            </a:r>
            <a:r>
              <a:rPr lang="en-US" sz="2000">
                <a:solidFill>
                  <a:schemeClr val="accent1"/>
                </a:solidFill>
              </a:rPr>
              <a:t>(more in a few weeks)</a:t>
            </a:r>
            <a:endParaRPr sz="2800">
              <a:solidFill>
                <a:schemeClr val="accent1"/>
              </a:solidFill>
            </a:endParaRPr>
          </a:p>
        </p:txBody>
      </p:sp>
      <p:sp>
        <p:nvSpPr>
          <p:cNvPr id="381" name="Google Shape;381;p32"/>
          <p:cNvSpPr/>
          <p:nvPr/>
        </p:nvSpPr>
        <p:spPr>
          <a:xfrm>
            <a:off x="2909451" y="938810"/>
            <a:ext cx="6460113" cy="707886"/>
          </a:xfrm>
          <a:prstGeom prst="rect">
            <a:avLst/>
          </a:prstGeom>
          <a:noFill/>
          <a:ln>
            <a:noFill/>
          </a:ln>
        </p:spPr>
        <p:txBody>
          <a:bodyPr anchorCtr="0" anchor="t" bIns="45700" lIns="91425" spcFirstLastPara="1" rIns="91425" wrap="square" tIns="45700">
            <a:noAutofit/>
          </a:bodyPr>
          <a:lstStyle/>
          <a:p>
            <a:pPr indent="-75007" lvl="0" marL="75007" marR="0" rtl="0" algn="l">
              <a:spcBef>
                <a:spcPts val="0"/>
              </a:spcBef>
              <a:spcAft>
                <a:spcPts val="0"/>
              </a:spcAft>
              <a:buNone/>
            </a:pPr>
            <a:r>
              <a:rPr b="1" lang="en-US" sz="4000">
                <a:solidFill>
                  <a:schemeClr val="lt1"/>
                </a:solidFill>
                <a:latin typeface="Courier New"/>
                <a:ea typeface="Courier New"/>
                <a:cs typeface="Courier New"/>
                <a:sym typeface="Courier New"/>
              </a:rPr>
              <a:t>opname  rd, rs1, rs2</a:t>
            </a:r>
            <a:endParaRPr/>
          </a:p>
        </p:txBody>
      </p:sp>
      <p:sp>
        <p:nvSpPr>
          <p:cNvPr id="382" name="Google Shape;382;p32"/>
          <p:cNvSpPr txBox="1"/>
          <p:nvPr/>
        </p:nvSpPr>
        <p:spPr>
          <a:xfrm>
            <a:off x="2247541" y="1823382"/>
            <a:ext cx="1606916" cy="83099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400">
                <a:solidFill>
                  <a:schemeClr val="accent3"/>
                </a:solidFill>
                <a:latin typeface="Arial"/>
                <a:ea typeface="Arial"/>
                <a:cs typeface="Arial"/>
                <a:sym typeface="Arial"/>
              </a:rPr>
              <a:t>operation, </a:t>
            </a:r>
            <a:r>
              <a:rPr lang="en-US" sz="2400">
                <a:solidFill>
                  <a:schemeClr val="accent4"/>
                </a:solidFill>
                <a:latin typeface="Arial"/>
                <a:ea typeface="Arial"/>
                <a:cs typeface="Arial"/>
                <a:sym typeface="Arial"/>
              </a:rPr>
              <a:t>by name</a:t>
            </a:r>
            <a:endParaRPr/>
          </a:p>
        </p:txBody>
      </p:sp>
      <p:sp>
        <p:nvSpPr>
          <p:cNvPr id="383" name="Google Shape;383;p32"/>
          <p:cNvSpPr txBox="1"/>
          <p:nvPr/>
        </p:nvSpPr>
        <p:spPr>
          <a:xfrm>
            <a:off x="4394466" y="1823382"/>
            <a:ext cx="1979348" cy="1200329"/>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400">
                <a:solidFill>
                  <a:schemeClr val="accent3"/>
                </a:solidFill>
                <a:latin typeface="Arial"/>
                <a:ea typeface="Arial"/>
                <a:cs typeface="Arial"/>
                <a:sym typeface="Arial"/>
              </a:rPr>
              <a:t>”destination”</a:t>
            </a:r>
            <a:endParaRPr/>
          </a:p>
          <a:p>
            <a:pPr indent="0" lvl="0" marL="0" marR="0" rtl="0" algn="r">
              <a:spcBef>
                <a:spcPts val="0"/>
              </a:spcBef>
              <a:spcAft>
                <a:spcPts val="0"/>
              </a:spcAft>
              <a:buNone/>
            </a:pPr>
            <a:r>
              <a:rPr lang="en-US" sz="2400">
                <a:solidFill>
                  <a:schemeClr val="accent4"/>
                </a:solidFill>
                <a:latin typeface="Arial"/>
                <a:ea typeface="Arial"/>
                <a:cs typeface="Arial"/>
                <a:sym typeface="Arial"/>
              </a:rPr>
              <a:t>operand getting result</a:t>
            </a:r>
            <a:endParaRPr/>
          </a:p>
        </p:txBody>
      </p:sp>
      <p:sp>
        <p:nvSpPr>
          <p:cNvPr id="384" name="Google Shape;384;p32"/>
          <p:cNvSpPr txBox="1"/>
          <p:nvPr/>
        </p:nvSpPr>
        <p:spPr>
          <a:xfrm>
            <a:off x="6260700" y="1823382"/>
            <a:ext cx="1979348"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accent3"/>
                </a:solidFill>
                <a:latin typeface="Arial"/>
                <a:ea typeface="Arial"/>
                <a:cs typeface="Arial"/>
                <a:sym typeface="Arial"/>
              </a:rPr>
              <a:t>”source1”</a:t>
            </a:r>
            <a:endParaRPr/>
          </a:p>
          <a:p>
            <a:pPr indent="0" lvl="0" marL="0" marR="0" rtl="0" algn="ctr">
              <a:spcBef>
                <a:spcPts val="0"/>
              </a:spcBef>
              <a:spcAft>
                <a:spcPts val="0"/>
              </a:spcAft>
              <a:buNone/>
            </a:pPr>
            <a:r>
              <a:rPr lang="en-US" sz="2400">
                <a:solidFill>
                  <a:schemeClr val="accent4"/>
                </a:solidFill>
                <a:latin typeface="Arial"/>
                <a:ea typeface="Arial"/>
                <a:cs typeface="Arial"/>
                <a:sym typeface="Arial"/>
              </a:rPr>
              <a:t>1st operand for operation</a:t>
            </a:r>
            <a:endParaRPr/>
          </a:p>
        </p:txBody>
      </p:sp>
      <p:sp>
        <p:nvSpPr>
          <p:cNvPr id="385" name="Google Shape;385;p32"/>
          <p:cNvSpPr txBox="1"/>
          <p:nvPr/>
        </p:nvSpPr>
        <p:spPr>
          <a:xfrm>
            <a:off x="8271030" y="1823382"/>
            <a:ext cx="1979348"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accent3"/>
                </a:solidFill>
                <a:latin typeface="Arial"/>
                <a:ea typeface="Arial"/>
                <a:cs typeface="Arial"/>
                <a:sym typeface="Arial"/>
              </a:rPr>
              <a:t>”source2”</a:t>
            </a:r>
            <a:endParaRPr/>
          </a:p>
          <a:p>
            <a:pPr indent="0" lvl="0" marL="0" marR="0" rtl="0" algn="l">
              <a:spcBef>
                <a:spcPts val="0"/>
              </a:spcBef>
              <a:spcAft>
                <a:spcPts val="0"/>
              </a:spcAft>
              <a:buNone/>
            </a:pPr>
            <a:r>
              <a:rPr lang="en-US" sz="2400">
                <a:solidFill>
                  <a:schemeClr val="accent4"/>
                </a:solidFill>
                <a:latin typeface="Arial"/>
                <a:ea typeface="Arial"/>
                <a:cs typeface="Arial"/>
                <a:sym typeface="Arial"/>
              </a:rPr>
              <a:t>2nd operand for operation</a:t>
            </a:r>
            <a:endParaRPr/>
          </a:p>
        </p:txBody>
      </p:sp>
      <p:sp>
        <p:nvSpPr>
          <p:cNvPr id="386" name="Google Shape;386;p32"/>
          <p:cNvSpPr/>
          <p:nvPr/>
        </p:nvSpPr>
        <p:spPr>
          <a:xfrm rot="-5400000">
            <a:off x="3766880" y="719408"/>
            <a:ext cx="228600" cy="1979348"/>
          </a:xfrm>
          <a:prstGeom prst="leftBrace">
            <a:avLst>
              <a:gd fmla="val 8333" name="adj1"/>
              <a:gd fmla="val 23052" name="adj2"/>
            </a:avLst>
          </a:prstGeom>
          <a:noFill/>
          <a:ln cap="flat" cmpd="sng" w="28575">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Calibri"/>
              <a:ea typeface="Calibri"/>
              <a:cs typeface="Calibri"/>
              <a:sym typeface="Calibri"/>
            </a:endParaRPr>
          </a:p>
        </p:txBody>
      </p:sp>
      <p:sp>
        <p:nvSpPr>
          <p:cNvPr id="387" name="Google Shape;387;p32"/>
          <p:cNvSpPr/>
          <p:nvPr/>
        </p:nvSpPr>
        <p:spPr>
          <a:xfrm rot="-5400000">
            <a:off x="5769659" y="1251881"/>
            <a:ext cx="228600" cy="914400"/>
          </a:xfrm>
          <a:prstGeom prst="leftBrace">
            <a:avLst>
              <a:gd fmla="val 8333" name="adj1"/>
              <a:gd fmla="val 23052" name="adj2"/>
            </a:avLst>
          </a:prstGeom>
          <a:noFill/>
          <a:ln cap="flat" cmpd="sng" w="28575">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Calibri"/>
              <a:ea typeface="Calibri"/>
              <a:cs typeface="Calibri"/>
              <a:sym typeface="Calibri"/>
            </a:endParaRPr>
          </a:p>
        </p:txBody>
      </p:sp>
      <p:sp>
        <p:nvSpPr>
          <p:cNvPr id="388" name="Google Shape;388;p32"/>
          <p:cNvSpPr/>
          <p:nvPr/>
        </p:nvSpPr>
        <p:spPr>
          <a:xfrm rot="-5400000">
            <a:off x="7021789" y="1218338"/>
            <a:ext cx="228600" cy="914400"/>
          </a:xfrm>
          <a:prstGeom prst="leftBrace">
            <a:avLst>
              <a:gd fmla="val 8333" name="adj1"/>
              <a:gd fmla="val 51788" name="adj2"/>
            </a:avLst>
          </a:prstGeom>
          <a:noFill/>
          <a:ln cap="flat" cmpd="sng" w="28575">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Calibri"/>
              <a:ea typeface="Calibri"/>
              <a:cs typeface="Calibri"/>
              <a:sym typeface="Calibri"/>
            </a:endParaRPr>
          </a:p>
        </p:txBody>
      </p:sp>
      <p:sp>
        <p:nvSpPr>
          <p:cNvPr id="389" name="Google Shape;389;p32"/>
          <p:cNvSpPr/>
          <p:nvPr/>
        </p:nvSpPr>
        <p:spPr>
          <a:xfrm flipH="1" rot="5400000">
            <a:off x="8516218" y="1188778"/>
            <a:ext cx="228600" cy="914400"/>
          </a:xfrm>
          <a:prstGeom prst="leftBrace">
            <a:avLst>
              <a:gd fmla="val 8333" name="adj1"/>
              <a:gd fmla="val 23052" name="adj2"/>
            </a:avLst>
          </a:prstGeom>
          <a:noFill/>
          <a:ln cap="flat" cmpd="sng" w="28575">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33"/>
          <p:cNvSpPr txBox="1"/>
          <p:nvPr>
            <p:ph type="title"/>
          </p:nvPr>
        </p:nvSpPr>
        <p:spPr>
          <a:xfrm>
            <a:off x="1104901" y="76199"/>
            <a:ext cx="10509504" cy="76809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2"/>
              </a:buClr>
              <a:buSzPts val="4200"/>
              <a:buFont typeface="Arial"/>
              <a:buNone/>
            </a:pPr>
            <a:r>
              <a:rPr lang="en-US"/>
              <a:t>RISC-V Addition and Subtraction</a:t>
            </a:r>
            <a:endParaRPr/>
          </a:p>
        </p:txBody>
      </p:sp>
      <p:sp>
        <p:nvSpPr>
          <p:cNvPr id="396" name="Google Shape;396;p33"/>
          <p:cNvSpPr/>
          <p:nvPr/>
        </p:nvSpPr>
        <p:spPr>
          <a:xfrm>
            <a:off x="2909451" y="938810"/>
            <a:ext cx="6460113" cy="707886"/>
          </a:xfrm>
          <a:prstGeom prst="rect">
            <a:avLst/>
          </a:prstGeom>
          <a:noFill/>
          <a:ln>
            <a:noFill/>
          </a:ln>
        </p:spPr>
        <p:txBody>
          <a:bodyPr anchorCtr="0" anchor="t" bIns="45700" lIns="91425" spcFirstLastPara="1" rIns="91425" wrap="square" tIns="45700">
            <a:noAutofit/>
          </a:bodyPr>
          <a:lstStyle/>
          <a:p>
            <a:pPr indent="-75007" lvl="0" marL="75007" marR="0" rtl="0" algn="l">
              <a:spcBef>
                <a:spcPts val="0"/>
              </a:spcBef>
              <a:spcAft>
                <a:spcPts val="0"/>
              </a:spcAft>
              <a:buNone/>
            </a:pPr>
            <a:r>
              <a:rPr b="1" lang="en-US" sz="4000">
                <a:solidFill>
                  <a:schemeClr val="lt1"/>
                </a:solidFill>
                <a:latin typeface="Courier New"/>
                <a:ea typeface="Courier New"/>
                <a:cs typeface="Courier New"/>
                <a:sym typeface="Courier New"/>
              </a:rPr>
              <a:t>opname  rd, rs1, rs2</a:t>
            </a:r>
            <a:endParaRPr/>
          </a:p>
        </p:txBody>
      </p:sp>
      <p:sp>
        <p:nvSpPr>
          <p:cNvPr id="397" name="Google Shape;397;p33"/>
          <p:cNvSpPr txBox="1"/>
          <p:nvPr/>
        </p:nvSpPr>
        <p:spPr>
          <a:xfrm>
            <a:off x="2247541" y="1823382"/>
            <a:ext cx="1606916" cy="83099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400">
                <a:solidFill>
                  <a:srgbClr val="7F7F7F"/>
                </a:solidFill>
                <a:latin typeface="Arial"/>
                <a:ea typeface="Arial"/>
                <a:cs typeface="Arial"/>
                <a:sym typeface="Arial"/>
              </a:rPr>
              <a:t>operation, by name</a:t>
            </a:r>
            <a:endParaRPr/>
          </a:p>
        </p:txBody>
      </p:sp>
      <p:sp>
        <p:nvSpPr>
          <p:cNvPr id="398" name="Google Shape;398;p33"/>
          <p:cNvSpPr txBox="1"/>
          <p:nvPr/>
        </p:nvSpPr>
        <p:spPr>
          <a:xfrm>
            <a:off x="4181967" y="1823382"/>
            <a:ext cx="1979348" cy="1200329"/>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400">
                <a:solidFill>
                  <a:srgbClr val="7F7F7F"/>
                </a:solidFill>
                <a:latin typeface="Arial"/>
                <a:ea typeface="Arial"/>
                <a:cs typeface="Arial"/>
                <a:sym typeface="Arial"/>
              </a:rPr>
              <a:t>”destination”</a:t>
            </a:r>
            <a:endParaRPr/>
          </a:p>
          <a:p>
            <a:pPr indent="0" lvl="0" marL="0" marR="0" rtl="0" algn="r">
              <a:spcBef>
                <a:spcPts val="0"/>
              </a:spcBef>
              <a:spcAft>
                <a:spcPts val="0"/>
              </a:spcAft>
              <a:buNone/>
            </a:pPr>
            <a:r>
              <a:rPr lang="en-US" sz="2400">
                <a:solidFill>
                  <a:srgbClr val="7F7F7F"/>
                </a:solidFill>
                <a:latin typeface="Arial"/>
                <a:ea typeface="Arial"/>
                <a:cs typeface="Arial"/>
                <a:sym typeface="Arial"/>
              </a:rPr>
              <a:t>operand getting result</a:t>
            </a:r>
            <a:endParaRPr/>
          </a:p>
        </p:txBody>
      </p:sp>
      <p:sp>
        <p:nvSpPr>
          <p:cNvPr id="399" name="Google Shape;399;p33"/>
          <p:cNvSpPr txBox="1"/>
          <p:nvPr/>
        </p:nvSpPr>
        <p:spPr>
          <a:xfrm>
            <a:off x="6199283" y="1823382"/>
            <a:ext cx="1979348"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7F7F7F"/>
                </a:solidFill>
                <a:latin typeface="Arial"/>
                <a:ea typeface="Arial"/>
                <a:cs typeface="Arial"/>
                <a:sym typeface="Arial"/>
              </a:rPr>
              <a:t>”source1”</a:t>
            </a:r>
            <a:endParaRPr/>
          </a:p>
          <a:p>
            <a:pPr indent="0" lvl="0" marL="0" marR="0" rtl="0" algn="ctr">
              <a:spcBef>
                <a:spcPts val="0"/>
              </a:spcBef>
              <a:spcAft>
                <a:spcPts val="0"/>
              </a:spcAft>
              <a:buNone/>
            </a:pPr>
            <a:r>
              <a:rPr lang="en-US" sz="2400">
                <a:solidFill>
                  <a:srgbClr val="7F7F7F"/>
                </a:solidFill>
                <a:latin typeface="Arial"/>
                <a:ea typeface="Arial"/>
                <a:cs typeface="Arial"/>
                <a:sym typeface="Arial"/>
              </a:rPr>
              <a:t>1st operand for operation</a:t>
            </a:r>
            <a:endParaRPr/>
          </a:p>
        </p:txBody>
      </p:sp>
      <p:sp>
        <p:nvSpPr>
          <p:cNvPr id="400" name="Google Shape;400;p33"/>
          <p:cNvSpPr txBox="1"/>
          <p:nvPr/>
        </p:nvSpPr>
        <p:spPr>
          <a:xfrm>
            <a:off x="8271030" y="1823382"/>
            <a:ext cx="1979348"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7F7F7F"/>
                </a:solidFill>
                <a:latin typeface="Arial"/>
                <a:ea typeface="Arial"/>
                <a:cs typeface="Arial"/>
                <a:sym typeface="Arial"/>
              </a:rPr>
              <a:t>”source2”</a:t>
            </a:r>
            <a:endParaRPr/>
          </a:p>
          <a:p>
            <a:pPr indent="0" lvl="0" marL="0" marR="0" rtl="0" algn="l">
              <a:spcBef>
                <a:spcPts val="0"/>
              </a:spcBef>
              <a:spcAft>
                <a:spcPts val="0"/>
              </a:spcAft>
              <a:buNone/>
            </a:pPr>
            <a:r>
              <a:rPr lang="en-US" sz="2400">
                <a:solidFill>
                  <a:srgbClr val="7F7F7F"/>
                </a:solidFill>
                <a:latin typeface="Arial"/>
                <a:ea typeface="Arial"/>
                <a:cs typeface="Arial"/>
                <a:sym typeface="Arial"/>
              </a:rPr>
              <a:t>2nd operand for operation</a:t>
            </a:r>
            <a:endParaRPr/>
          </a:p>
        </p:txBody>
      </p:sp>
      <p:sp>
        <p:nvSpPr>
          <p:cNvPr id="401" name="Google Shape;401;p33"/>
          <p:cNvSpPr/>
          <p:nvPr/>
        </p:nvSpPr>
        <p:spPr>
          <a:xfrm rot="-5400000">
            <a:off x="3738037" y="690565"/>
            <a:ext cx="286286" cy="1979348"/>
          </a:xfrm>
          <a:prstGeom prst="leftBrace">
            <a:avLst>
              <a:gd fmla="val 8333" name="adj1"/>
              <a:gd fmla="val 23052" name="adj2"/>
            </a:avLst>
          </a:prstGeom>
          <a:noFill/>
          <a:ln cap="flat" cmpd="sng" w="2857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Calibri"/>
              <a:ea typeface="Calibri"/>
              <a:cs typeface="Calibri"/>
              <a:sym typeface="Calibri"/>
            </a:endParaRPr>
          </a:p>
        </p:txBody>
      </p:sp>
      <p:sp>
        <p:nvSpPr>
          <p:cNvPr id="402" name="Google Shape;402;p33"/>
          <p:cNvSpPr/>
          <p:nvPr/>
        </p:nvSpPr>
        <p:spPr>
          <a:xfrm rot="-5400000">
            <a:off x="5735411" y="1206711"/>
            <a:ext cx="286286" cy="947055"/>
          </a:xfrm>
          <a:prstGeom prst="leftBrace">
            <a:avLst>
              <a:gd fmla="val 8333" name="adj1"/>
              <a:gd fmla="val 23052" name="adj2"/>
            </a:avLst>
          </a:prstGeom>
          <a:noFill/>
          <a:ln cap="flat" cmpd="sng" w="2857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Calibri"/>
              <a:ea typeface="Calibri"/>
              <a:cs typeface="Calibri"/>
              <a:sym typeface="Calibri"/>
            </a:endParaRPr>
          </a:p>
        </p:txBody>
      </p:sp>
      <p:sp>
        <p:nvSpPr>
          <p:cNvPr id="403" name="Google Shape;403;p33"/>
          <p:cNvSpPr/>
          <p:nvPr/>
        </p:nvSpPr>
        <p:spPr>
          <a:xfrm rot="-5400000">
            <a:off x="7009273" y="1173168"/>
            <a:ext cx="286286" cy="947055"/>
          </a:xfrm>
          <a:prstGeom prst="leftBrace">
            <a:avLst>
              <a:gd fmla="val 8333" name="adj1"/>
              <a:gd fmla="val 51788" name="adj2"/>
            </a:avLst>
          </a:prstGeom>
          <a:noFill/>
          <a:ln cap="flat" cmpd="sng" w="2857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Calibri"/>
              <a:ea typeface="Calibri"/>
              <a:cs typeface="Calibri"/>
              <a:sym typeface="Calibri"/>
            </a:endParaRPr>
          </a:p>
        </p:txBody>
      </p:sp>
      <p:sp>
        <p:nvSpPr>
          <p:cNvPr id="404" name="Google Shape;404;p33"/>
          <p:cNvSpPr/>
          <p:nvPr/>
        </p:nvSpPr>
        <p:spPr>
          <a:xfrm flipH="1" rot="5400000">
            <a:off x="8644033" y="1201294"/>
            <a:ext cx="286286" cy="947055"/>
          </a:xfrm>
          <a:prstGeom prst="leftBrace">
            <a:avLst>
              <a:gd fmla="val 8333" name="adj1"/>
              <a:gd fmla="val 23052" name="adj2"/>
            </a:avLst>
          </a:prstGeom>
          <a:noFill/>
          <a:ln cap="flat" cmpd="sng" w="2857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Calibri"/>
              <a:ea typeface="Calibri"/>
              <a:cs typeface="Calibri"/>
              <a:sym typeface="Calibri"/>
            </a:endParaRPr>
          </a:p>
        </p:txBody>
      </p:sp>
      <p:sp>
        <p:nvSpPr>
          <p:cNvPr id="405" name="Google Shape;405;p33"/>
          <p:cNvSpPr txBox="1"/>
          <p:nvPr/>
        </p:nvSpPr>
        <p:spPr>
          <a:xfrm>
            <a:off x="499313" y="3057255"/>
            <a:ext cx="5204700" cy="3119700"/>
          </a:xfrm>
          <a:prstGeom prst="rect">
            <a:avLst/>
          </a:prstGeom>
          <a:noFill/>
          <a:ln>
            <a:noFill/>
          </a:ln>
        </p:spPr>
        <p:txBody>
          <a:bodyPr anchorCtr="0" anchor="t" bIns="45700" lIns="91425" spcFirstLastPara="1" rIns="91425" wrap="square" tIns="45700">
            <a:noAutofit/>
          </a:bodyPr>
          <a:lstStyle/>
          <a:p>
            <a:pPr indent="-383107" lvl="0" marL="467771" marR="0" rtl="0" algn="l">
              <a:lnSpc>
                <a:spcPct val="100000"/>
              </a:lnSpc>
              <a:spcBef>
                <a:spcPts val="0"/>
              </a:spcBef>
              <a:spcAft>
                <a:spcPts val="0"/>
              </a:spcAft>
              <a:buClr>
                <a:schemeClr val="lt1"/>
              </a:buClr>
              <a:buSzPts val="3040"/>
              <a:buFont typeface="Noto Sans Symbols"/>
              <a:buChar char="▪"/>
            </a:pPr>
            <a:r>
              <a:rPr b="1" i="0" lang="en-US" sz="3200">
                <a:solidFill>
                  <a:schemeClr val="lt1"/>
                </a:solidFill>
                <a:latin typeface="Arial"/>
                <a:ea typeface="Arial"/>
                <a:cs typeface="Arial"/>
                <a:sym typeface="Arial"/>
              </a:rPr>
              <a:t>Addition</a:t>
            </a:r>
            <a:endParaRPr/>
          </a:p>
        </p:txBody>
      </p:sp>
      <p:sp>
        <p:nvSpPr>
          <p:cNvPr id="406" name="Google Shape;406;p33"/>
          <p:cNvSpPr txBox="1"/>
          <p:nvPr/>
        </p:nvSpPr>
        <p:spPr>
          <a:xfrm>
            <a:off x="6161314" y="3200397"/>
            <a:ext cx="5453083" cy="1295403"/>
          </a:xfrm>
          <a:prstGeom prst="rect">
            <a:avLst/>
          </a:prstGeom>
          <a:noFill/>
          <a:ln>
            <a:noFill/>
          </a:ln>
        </p:spPr>
        <p:txBody>
          <a:bodyPr anchorCtr="0" anchor="t" bIns="45700" lIns="91425" spcFirstLastPara="1" rIns="91425" wrap="square" tIns="45700">
            <a:normAutofit/>
          </a:bodyPr>
          <a:lstStyle/>
          <a:p>
            <a:pPr indent="-383107" lvl="0" marL="467771" marR="0" rtl="0" algn="l">
              <a:lnSpc>
                <a:spcPct val="100000"/>
              </a:lnSpc>
              <a:spcBef>
                <a:spcPts val="0"/>
              </a:spcBef>
              <a:spcAft>
                <a:spcPts val="0"/>
              </a:spcAft>
              <a:buClr>
                <a:schemeClr val="lt1"/>
              </a:buClr>
              <a:buSzPts val="3040"/>
              <a:buFont typeface="Noto Sans Symbols"/>
              <a:buChar char="▪"/>
            </a:pPr>
            <a:r>
              <a:rPr b="1" i="0" lang="en-US" sz="3200">
                <a:solidFill>
                  <a:schemeClr val="lt1"/>
                </a:solidFill>
                <a:latin typeface="Arial"/>
                <a:ea typeface="Arial"/>
                <a:cs typeface="Arial"/>
                <a:sym typeface="Arial"/>
              </a:rPr>
              <a:t>Subtraction</a:t>
            </a:r>
            <a:endParaRPr b="1" i="0" sz="2800">
              <a:solidFill>
                <a:schemeClr val="lt1"/>
              </a:solidFill>
              <a:latin typeface="Courier"/>
              <a:ea typeface="Courier"/>
              <a:cs typeface="Courier"/>
              <a:sym typeface="Courier"/>
            </a:endParaRPr>
          </a:p>
        </p:txBody>
      </p:sp>
      <p:cxnSp>
        <p:nvCxnSpPr>
          <p:cNvPr id="407" name="Google Shape;407;p33"/>
          <p:cNvCxnSpPr/>
          <p:nvPr/>
        </p:nvCxnSpPr>
        <p:spPr>
          <a:xfrm>
            <a:off x="5791200" y="3090865"/>
            <a:ext cx="0" cy="3086100"/>
          </a:xfrm>
          <a:prstGeom prst="straightConnector1">
            <a:avLst/>
          </a:prstGeom>
          <a:noFill/>
          <a:ln cap="flat" cmpd="sng" w="28575">
            <a:solidFill>
              <a:srgbClr val="7F7F7F"/>
            </a:solidFill>
            <a:prstDash val="solid"/>
            <a:miter lim="800000"/>
            <a:headEnd len="sm" w="sm" type="none"/>
            <a:tailEnd len="sm" w="sm" type="none"/>
          </a:ln>
        </p:spPr>
      </p:cxnSp>
      <p:sp>
        <p:nvSpPr>
          <p:cNvPr id="408" name="Google Shape;408;p33"/>
          <p:cNvSpPr txBox="1"/>
          <p:nvPr/>
        </p:nvSpPr>
        <p:spPr>
          <a:xfrm>
            <a:off x="499312" y="3668487"/>
            <a:ext cx="1018200" cy="11235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900">
                <a:solidFill>
                  <a:schemeClr val="accent2"/>
                </a:solidFill>
                <a:latin typeface="Arial"/>
                <a:ea typeface="Arial"/>
                <a:cs typeface="Arial"/>
                <a:sym typeface="Arial"/>
              </a:rPr>
              <a:t>RISC-V</a:t>
            </a:r>
            <a:br>
              <a:rPr lang="en-US" sz="2400">
                <a:solidFill>
                  <a:schemeClr val="accent1"/>
                </a:solidFill>
                <a:latin typeface="Arial"/>
                <a:ea typeface="Arial"/>
                <a:cs typeface="Arial"/>
                <a:sym typeface="Arial"/>
              </a:rPr>
            </a:br>
            <a:endParaRPr sz="2400">
              <a:solidFill>
                <a:schemeClr val="accent1"/>
              </a:solidFill>
              <a:latin typeface="Arial"/>
              <a:ea typeface="Arial"/>
              <a:cs typeface="Arial"/>
              <a:sym typeface="Arial"/>
            </a:endParaRPr>
          </a:p>
          <a:p>
            <a:pPr indent="0" lvl="0" marL="0" marR="0" rtl="0" algn="r">
              <a:spcBef>
                <a:spcPts val="0"/>
              </a:spcBef>
              <a:spcAft>
                <a:spcPts val="0"/>
              </a:spcAft>
              <a:buNone/>
            </a:pPr>
            <a:r>
              <a:rPr lang="en-US" sz="2400">
                <a:solidFill>
                  <a:schemeClr val="lt1"/>
                </a:solidFill>
                <a:latin typeface="Arial"/>
                <a:ea typeface="Arial"/>
                <a:cs typeface="Arial"/>
                <a:sym typeface="Arial"/>
              </a:rPr>
              <a:t>C</a:t>
            </a:r>
            <a:endParaRPr/>
          </a:p>
        </p:txBody>
      </p:sp>
      <p:sp>
        <p:nvSpPr>
          <p:cNvPr id="409" name="Google Shape;409;p33"/>
          <p:cNvSpPr txBox="1"/>
          <p:nvPr/>
        </p:nvSpPr>
        <p:spPr>
          <a:xfrm>
            <a:off x="1957869" y="3516087"/>
            <a:ext cx="2403300" cy="1569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Courier New"/>
                <a:ea typeface="Courier New"/>
                <a:cs typeface="Courier New"/>
                <a:sym typeface="Courier New"/>
              </a:rPr>
              <a:t>add	x1,x2,x3</a:t>
            </a:r>
            <a:endParaRPr b="1" sz="2400">
              <a:solidFill>
                <a:schemeClr val="accent1"/>
              </a:solidFill>
              <a:latin typeface="Courier New"/>
              <a:ea typeface="Courier New"/>
              <a:cs typeface="Courier New"/>
              <a:sym typeface="Courier New"/>
            </a:endParaRPr>
          </a:p>
          <a:p>
            <a:pPr indent="0" lvl="0" marL="0" marR="0" rtl="0" algn="l">
              <a:spcBef>
                <a:spcPts val="0"/>
              </a:spcBef>
              <a:spcAft>
                <a:spcPts val="0"/>
              </a:spcAft>
              <a:buNone/>
            </a:pPr>
            <a:r>
              <a:t/>
            </a:r>
            <a:endParaRPr b="1" sz="2400">
              <a:solidFill>
                <a:schemeClr val="accent1"/>
              </a:solidFill>
              <a:latin typeface="Courier New"/>
              <a:ea typeface="Courier New"/>
              <a:cs typeface="Courier New"/>
              <a:sym typeface="Courier New"/>
            </a:endParaRPr>
          </a:p>
          <a:p>
            <a:pPr indent="0" lvl="0" marL="0" marR="0" rtl="0" algn="l">
              <a:spcBef>
                <a:spcPts val="0"/>
              </a:spcBef>
              <a:spcAft>
                <a:spcPts val="0"/>
              </a:spcAft>
              <a:buNone/>
            </a:pPr>
            <a:r>
              <a:rPr b="1" lang="en-US" sz="2400">
                <a:solidFill>
                  <a:schemeClr val="lt1"/>
                </a:solidFill>
                <a:latin typeface="Courier New"/>
                <a:ea typeface="Courier New"/>
                <a:cs typeface="Courier New"/>
                <a:sym typeface="Courier New"/>
              </a:rPr>
              <a:t>a = b + c;</a:t>
            </a:r>
            <a:endParaRPr/>
          </a:p>
        </p:txBody>
      </p:sp>
      <p:sp>
        <p:nvSpPr>
          <p:cNvPr id="410" name="Google Shape;410;p33"/>
          <p:cNvSpPr txBox="1"/>
          <p:nvPr/>
        </p:nvSpPr>
        <p:spPr>
          <a:xfrm>
            <a:off x="6161315" y="3805978"/>
            <a:ext cx="1018200" cy="10467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900">
                <a:solidFill>
                  <a:schemeClr val="accent2"/>
                </a:solidFill>
                <a:latin typeface="Arial"/>
                <a:ea typeface="Arial"/>
                <a:cs typeface="Arial"/>
                <a:sym typeface="Arial"/>
              </a:rPr>
              <a:t>RISC-V</a:t>
            </a:r>
            <a:br>
              <a:rPr lang="en-US" sz="1900">
                <a:solidFill>
                  <a:schemeClr val="accent1"/>
                </a:solidFill>
                <a:latin typeface="Arial"/>
                <a:ea typeface="Arial"/>
                <a:cs typeface="Arial"/>
                <a:sym typeface="Arial"/>
              </a:rPr>
            </a:br>
            <a:endParaRPr sz="1900">
              <a:solidFill>
                <a:schemeClr val="accent1"/>
              </a:solidFill>
              <a:latin typeface="Arial"/>
              <a:ea typeface="Arial"/>
              <a:cs typeface="Arial"/>
              <a:sym typeface="Arial"/>
            </a:endParaRPr>
          </a:p>
          <a:p>
            <a:pPr indent="0" lvl="0" marL="0" marR="0" rtl="0" algn="r">
              <a:spcBef>
                <a:spcPts val="0"/>
              </a:spcBef>
              <a:spcAft>
                <a:spcPts val="0"/>
              </a:spcAft>
              <a:buNone/>
            </a:pPr>
            <a:r>
              <a:rPr lang="en-US" sz="2400">
                <a:solidFill>
                  <a:schemeClr val="lt1"/>
                </a:solidFill>
                <a:latin typeface="Arial"/>
                <a:ea typeface="Arial"/>
                <a:cs typeface="Arial"/>
                <a:sym typeface="Arial"/>
              </a:rPr>
              <a:t>C</a:t>
            </a:r>
            <a:endParaRPr/>
          </a:p>
        </p:txBody>
      </p:sp>
      <p:sp>
        <p:nvSpPr>
          <p:cNvPr id="411" name="Google Shape;411;p33"/>
          <p:cNvSpPr txBox="1"/>
          <p:nvPr/>
        </p:nvSpPr>
        <p:spPr>
          <a:xfrm>
            <a:off x="7467472" y="3805978"/>
            <a:ext cx="2403222"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Courier New"/>
                <a:ea typeface="Courier New"/>
                <a:cs typeface="Courier New"/>
                <a:sym typeface="Courier New"/>
              </a:rPr>
              <a:t>sub	x4,x5,x6</a:t>
            </a:r>
            <a:br>
              <a:rPr b="1" lang="en-US" sz="2400">
                <a:solidFill>
                  <a:schemeClr val="accent1"/>
                </a:solidFill>
                <a:latin typeface="Courier New"/>
                <a:ea typeface="Courier New"/>
                <a:cs typeface="Courier New"/>
                <a:sym typeface="Courier New"/>
              </a:rPr>
            </a:br>
            <a:endParaRPr b="1" sz="2400">
              <a:solidFill>
                <a:schemeClr val="accent1"/>
              </a:solidFill>
              <a:latin typeface="Courier New"/>
              <a:ea typeface="Courier New"/>
              <a:cs typeface="Courier New"/>
              <a:sym typeface="Courier New"/>
            </a:endParaRPr>
          </a:p>
          <a:p>
            <a:pPr indent="0" lvl="0" marL="0" marR="0" rtl="0" algn="l">
              <a:spcBef>
                <a:spcPts val="0"/>
              </a:spcBef>
              <a:spcAft>
                <a:spcPts val="0"/>
              </a:spcAft>
              <a:buNone/>
            </a:pPr>
            <a:r>
              <a:rPr b="1" lang="en-US" sz="2400">
                <a:solidFill>
                  <a:schemeClr val="lt1"/>
                </a:solidFill>
                <a:latin typeface="Courier New"/>
                <a:ea typeface="Courier New"/>
                <a:cs typeface="Courier New"/>
                <a:sym typeface="Courier New"/>
              </a:rPr>
              <a:t>d = e – f;</a:t>
            </a:r>
            <a:endParaRPr/>
          </a:p>
        </p:txBody>
      </p:sp>
      <p:sp>
        <p:nvSpPr>
          <p:cNvPr id="412" name="Google Shape;412;p33"/>
          <p:cNvSpPr txBox="1"/>
          <p:nvPr/>
        </p:nvSpPr>
        <p:spPr>
          <a:xfrm>
            <a:off x="10018560" y="4160930"/>
            <a:ext cx="2173500" cy="969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900">
                <a:solidFill>
                  <a:schemeClr val="accent1"/>
                </a:solidFill>
                <a:latin typeface="Arial"/>
                <a:ea typeface="Arial"/>
                <a:cs typeface="Arial"/>
                <a:sym typeface="Arial"/>
              </a:rPr>
              <a:t>(remember!</a:t>
            </a:r>
            <a:endParaRPr sz="1300"/>
          </a:p>
          <a:p>
            <a:pPr indent="0" lvl="0" marL="0" marR="0" rtl="0" algn="l">
              <a:spcBef>
                <a:spcPts val="0"/>
              </a:spcBef>
              <a:spcAft>
                <a:spcPts val="0"/>
              </a:spcAft>
              <a:buNone/>
            </a:pPr>
            <a:r>
              <a:rPr lang="en-US" sz="1900">
                <a:solidFill>
                  <a:schemeClr val="accent1"/>
                </a:solidFill>
                <a:latin typeface="Arial"/>
                <a:ea typeface="Arial"/>
                <a:cs typeface="Arial"/>
                <a:sym typeface="Arial"/>
              </a:rPr>
              <a:t>order of operands matter in </a:t>
            </a:r>
            <a:r>
              <a:rPr b="1" lang="en-US" sz="1900">
                <a:solidFill>
                  <a:schemeClr val="accent1"/>
                </a:solidFill>
                <a:latin typeface="Courier New"/>
                <a:ea typeface="Courier New"/>
                <a:cs typeface="Courier New"/>
                <a:sym typeface="Courier New"/>
              </a:rPr>
              <a:t>sub</a:t>
            </a:r>
            <a:r>
              <a:rPr lang="en-US" sz="1900">
                <a:solidFill>
                  <a:schemeClr val="accent1"/>
                </a:solidFill>
                <a:latin typeface="Arial"/>
                <a:ea typeface="Arial"/>
                <a:cs typeface="Arial"/>
                <a:sym typeface="Arial"/>
              </a:rPr>
              <a:t>)</a:t>
            </a:r>
            <a:endParaRPr sz="1300"/>
          </a:p>
        </p:txBody>
      </p:sp>
      <p:sp>
        <p:nvSpPr>
          <p:cNvPr id="413" name="Google Shape;413;p33"/>
          <p:cNvSpPr/>
          <p:nvPr/>
        </p:nvSpPr>
        <p:spPr>
          <a:xfrm>
            <a:off x="2118093" y="4256327"/>
            <a:ext cx="189856" cy="420896"/>
          </a:xfrm>
          <a:custGeom>
            <a:rect b="b" l="l" r="r" t="t"/>
            <a:pathLst>
              <a:path extrusionOk="0" h="413657" w="816586">
                <a:moveTo>
                  <a:pt x="816586" y="0"/>
                </a:moveTo>
                <a:cubicBezTo>
                  <a:pt x="813925" y="13305"/>
                  <a:pt x="795769" y="115796"/>
                  <a:pt x="783929" y="119743"/>
                </a:cubicBezTo>
                <a:cubicBezTo>
                  <a:pt x="774523" y="122878"/>
                  <a:pt x="695177" y="151181"/>
                  <a:pt x="675072" y="152400"/>
                </a:cubicBezTo>
                <a:cubicBezTo>
                  <a:pt x="569974" y="158770"/>
                  <a:pt x="464615" y="159657"/>
                  <a:pt x="359386" y="163286"/>
                </a:cubicBezTo>
                <a:cubicBezTo>
                  <a:pt x="263565" y="182451"/>
                  <a:pt x="345787" y="167053"/>
                  <a:pt x="228758" y="185057"/>
                </a:cubicBezTo>
                <a:cubicBezTo>
                  <a:pt x="206943" y="188413"/>
                  <a:pt x="184857" y="190590"/>
                  <a:pt x="163444" y="195943"/>
                </a:cubicBezTo>
                <a:cubicBezTo>
                  <a:pt x="141180" y="201509"/>
                  <a:pt x="98129" y="217714"/>
                  <a:pt x="98129" y="217714"/>
                </a:cubicBezTo>
                <a:cubicBezTo>
                  <a:pt x="83615" y="232228"/>
                  <a:pt x="61077" y="241784"/>
                  <a:pt x="54586" y="261257"/>
                </a:cubicBezTo>
                <a:cubicBezTo>
                  <a:pt x="40456" y="303651"/>
                  <a:pt x="51815" y="285800"/>
                  <a:pt x="21929" y="315686"/>
                </a:cubicBezTo>
                <a:cubicBezTo>
                  <a:pt x="-3284" y="391327"/>
                  <a:pt x="158" y="358051"/>
                  <a:pt x="158" y="413657"/>
                </a:cubicBezTo>
              </a:path>
            </a:pathLst>
          </a:custGeom>
          <a:no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Calibri"/>
              <a:ea typeface="Calibri"/>
              <a:cs typeface="Calibri"/>
              <a:sym typeface="Calibri"/>
            </a:endParaRPr>
          </a:p>
        </p:txBody>
      </p:sp>
      <p:sp>
        <p:nvSpPr>
          <p:cNvPr id="414" name="Google Shape;414;p33"/>
          <p:cNvSpPr/>
          <p:nvPr/>
        </p:nvSpPr>
        <p:spPr>
          <a:xfrm flipH="1">
            <a:off x="2763667" y="4332299"/>
            <a:ext cx="66620" cy="326572"/>
          </a:xfrm>
          <a:custGeom>
            <a:rect b="b" l="l" r="r" t="t"/>
            <a:pathLst>
              <a:path extrusionOk="0" h="326572" w="391885">
                <a:moveTo>
                  <a:pt x="391885" y="0"/>
                </a:moveTo>
                <a:cubicBezTo>
                  <a:pt x="388257" y="18143"/>
                  <a:pt x="388288" y="37423"/>
                  <a:pt x="381000" y="54429"/>
                </a:cubicBezTo>
                <a:cubicBezTo>
                  <a:pt x="376957" y="63862"/>
                  <a:pt x="367242" y="69789"/>
                  <a:pt x="359228" y="76200"/>
                </a:cubicBezTo>
                <a:cubicBezTo>
                  <a:pt x="322260" y="105775"/>
                  <a:pt x="313052" y="102478"/>
                  <a:pt x="261257" y="119743"/>
                </a:cubicBezTo>
                <a:lnTo>
                  <a:pt x="163285" y="152400"/>
                </a:lnTo>
                <a:lnTo>
                  <a:pt x="130628" y="163286"/>
                </a:lnTo>
                <a:cubicBezTo>
                  <a:pt x="119742" y="166915"/>
                  <a:pt x="107518" y="167807"/>
                  <a:pt x="97971" y="174172"/>
                </a:cubicBezTo>
                <a:lnTo>
                  <a:pt x="65314" y="195943"/>
                </a:lnTo>
                <a:cubicBezTo>
                  <a:pt x="58057" y="206829"/>
                  <a:pt x="48856" y="216645"/>
                  <a:pt x="43543" y="228600"/>
                </a:cubicBezTo>
                <a:cubicBezTo>
                  <a:pt x="34222" y="249571"/>
                  <a:pt x="34501" y="274820"/>
                  <a:pt x="21771" y="293915"/>
                </a:cubicBezTo>
                <a:lnTo>
                  <a:pt x="0" y="326572"/>
                </a:lnTo>
              </a:path>
            </a:pathLst>
          </a:custGeom>
          <a:no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Calibri"/>
              <a:ea typeface="Calibri"/>
              <a:cs typeface="Calibri"/>
              <a:sym typeface="Calibri"/>
            </a:endParaRPr>
          </a:p>
        </p:txBody>
      </p:sp>
      <p:sp>
        <p:nvSpPr>
          <p:cNvPr id="415" name="Google Shape;415;p33"/>
          <p:cNvSpPr/>
          <p:nvPr/>
        </p:nvSpPr>
        <p:spPr>
          <a:xfrm flipH="1">
            <a:off x="3258056" y="4313697"/>
            <a:ext cx="391885" cy="421278"/>
          </a:xfrm>
          <a:custGeom>
            <a:rect b="b" l="l" r="r" t="t"/>
            <a:pathLst>
              <a:path extrusionOk="0" h="326572" w="391885">
                <a:moveTo>
                  <a:pt x="391885" y="0"/>
                </a:moveTo>
                <a:cubicBezTo>
                  <a:pt x="388257" y="18143"/>
                  <a:pt x="388288" y="37423"/>
                  <a:pt x="381000" y="54429"/>
                </a:cubicBezTo>
                <a:cubicBezTo>
                  <a:pt x="376957" y="63862"/>
                  <a:pt x="367242" y="69789"/>
                  <a:pt x="359228" y="76200"/>
                </a:cubicBezTo>
                <a:cubicBezTo>
                  <a:pt x="322260" y="105775"/>
                  <a:pt x="313052" y="102478"/>
                  <a:pt x="261257" y="119743"/>
                </a:cubicBezTo>
                <a:lnTo>
                  <a:pt x="163285" y="152400"/>
                </a:lnTo>
                <a:lnTo>
                  <a:pt x="130628" y="163286"/>
                </a:lnTo>
                <a:cubicBezTo>
                  <a:pt x="119742" y="166915"/>
                  <a:pt x="107518" y="167807"/>
                  <a:pt x="97971" y="174172"/>
                </a:cubicBezTo>
                <a:lnTo>
                  <a:pt x="65314" y="195943"/>
                </a:lnTo>
                <a:cubicBezTo>
                  <a:pt x="58057" y="206829"/>
                  <a:pt x="48856" y="216645"/>
                  <a:pt x="43543" y="228600"/>
                </a:cubicBezTo>
                <a:cubicBezTo>
                  <a:pt x="34222" y="249571"/>
                  <a:pt x="34501" y="274820"/>
                  <a:pt x="21771" y="293915"/>
                </a:cubicBezTo>
                <a:lnTo>
                  <a:pt x="0" y="326572"/>
                </a:lnTo>
              </a:path>
            </a:pathLst>
          </a:custGeom>
          <a:no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Calibri"/>
              <a:ea typeface="Calibri"/>
              <a:cs typeface="Calibri"/>
              <a:sym typeface="Calibri"/>
            </a:endParaRPr>
          </a:p>
        </p:txBody>
      </p:sp>
      <p:sp>
        <p:nvSpPr>
          <p:cNvPr id="416" name="Google Shape;416;p33"/>
          <p:cNvSpPr/>
          <p:nvPr/>
        </p:nvSpPr>
        <p:spPr>
          <a:xfrm flipH="1">
            <a:off x="7612874" y="4537200"/>
            <a:ext cx="67368" cy="420896"/>
          </a:xfrm>
          <a:custGeom>
            <a:rect b="b" l="l" r="r" t="t"/>
            <a:pathLst>
              <a:path extrusionOk="0" h="413657" w="816586">
                <a:moveTo>
                  <a:pt x="816586" y="0"/>
                </a:moveTo>
                <a:cubicBezTo>
                  <a:pt x="813925" y="13305"/>
                  <a:pt x="795769" y="115796"/>
                  <a:pt x="783929" y="119743"/>
                </a:cubicBezTo>
                <a:cubicBezTo>
                  <a:pt x="774523" y="122878"/>
                  <a:pt x="695177" y="151181"/>
                  <a:pt x="675072" y="152400"/>
                </a:cubicBezTo>
                <a:cubicBezTo>
                  <a:pt x="569974" y="158770"/>
                  <a:pt x="464615" y="159657"/>
                  <a:pt x="359386" y="163286"/>
                </a:cubicBezTo>
                <a:cubicBezTo>
                  <a:pt x="263565" y="182451"/>
                  <a:pt x="345787" y="167053"/>
                  <a:pt x="228758" y="185057"/>
                </a:cubicBezTo>
                <a:cubicBezTo>
                  <a:pt x="206943" y="188413"/>
                  <a:pt x="184857" y="190590"/>
                  <a:pt x="163444" y="195943"/>
                </a:cubicBezTo>
                <a:cubicBezTo>
                  <a:pt x="141180" y="201509"/>
                  <a:pt x="98129" y="217714"/>
                  <a:pt x="98129" y="217714"/>
                </a:cubicBezTo>
                <a:cubicBezTo>
                  <a:pt x="83615" y="232228"/>
                  <a:pt x="61077" y="241784"/>
                  <a:pt x="54586" y="261257"/>
                </a:cubicBezTo>
                <a:cubicBezTo>
                  <a:pt x="40456" y="303651"/>
                  <a:pt x="51815" y="285800"/>
                  <a:pt x="21929" y="315686"/>
                </a:cubicBezTo>
                <a:cubicBezTo>
                  <a:pt x="-3284" y="391327"/>
                  <a:pt x="158" y="358051"/>
                  <a:pt x="158" y="413657"/>
                </a:cubicBezTo>
              </a:path>
            </a:pathLst>
          </a:custGeom>
          <a:no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Calibri"/>
              <a:ea typeface="Calibri"/>
              <a:cs typeface="Calibri"/>
              <a:sym typeface="Calibri"/>
            </a:endParaRPr>
          </a:p>
        </p:txBody>
      </p:sp>
      <p:sp>
        <p:nvSpPr>
          <p:cNvPr id="417" name="Google Shape;417;p33"/>
          <p:cNvSpPr/>
          <p:nvPr/>
        </p:nvSpPr>
        <p:spPr>
          <a:xfrm flipH="1">
            <a:off x="8276671" y="4613173"/>
            <a:ext cx="67600" cy="421278"/>
          </a:xfrm>
          <a:custGeom>
            <a:rect b="b" l="l" r="r" t="t"/>
            <a:pathLst>
              <a:path extrusionOk="0" h="326572" w="391885">
                <a:moveTo>
                  <a:pt x="391885" y="0"/>
                </a:moveTo>
                <a:cubicBezTo>
                  <a:pt x="388257" y="18143"/>
                  <a:pt x="388288" y="37423"/>
                  <a:pt x="381000" y="54429"/>
                </a:cubicBezTo>
                <a:cubicBezTo>
                  <a:pt x="376957" y="63862"/>
                  <a:pt x="367242" y="69789"/>
                  <a:pt x="359228" y="76200"/>
                </a:cubicBezTo>
                <a:cubicBezTo>
                  <a:pt x="322260" y="105775"/>
                  <a:pt x="313052" y="102478"/>
                  <a:pt x="261257" y="119743"/>
                </a:cubicBezTo>
                <a:lnTo>
                  <a:pt x="163285" y="152400"/>
                </a:lnTo>
                <a:lnTo>
                  <a:pt x="130628" y="163286"/>
                </a:lnTo>
                <a:cubicBezTo>
                  <a:pt x="119742" y="166915"/>
                  <a:pt x="107518" y="167807"/>
                  <a:pt x="97971" y="174172"/>
                </a:cubicBezTo>
                <a:lnTo>
                  <a:pt x="65314" y="195943"/>
                </a:lnTo>
                <a:cubicBezTo>
                  <a:pt x="58057" y="206829"/>
                  <a:pt x="48856" y="216645"/>
                  <a:pt x="43543" y="228600"/>
                </a:cubicBezTo>
                <a:cubicBezTo>
                  <a:pt x="34222" y="249571"/>
                  <a:pt x="34501" y="274820"/>
                  <a:pt x="21771" y="293915"/>
                </a:cubicBezTo>
                <a:lnTo>
                  <a:pt x="0" y="326572"/>
                </a:lnTo>
              </a:path>
            </a:pathLst>
          </a:custGeom>
          <a:no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Calibri"/>
              <a:ea typeface="Calibri"/>
              <a:cs typeface="Calibri"/>
              <a:sym typeface="Calibri"/>
            </a:endParaRPr>
          </a:p>
        </p:txBody>
      </p:sp>
      <p:sp>
        <p:nvSpPr>
          <p:cNvPr id="418" name="Google Shape;418;p33"/>
          <p:cNvSpPr/>
          <p:nvPr/>
        </p:nvSpPr>
        <p:spPr>
          <a:xfrm flipH="1">
            <a:off x="8772029" y="4537197"/>
            <a:ext cx="391885" cy="497206"/>
          </a:xfrm>
          <a:custGeom>
            <a:rect b="b" l="l" r="r" t="t"/>
            <a:pathLst>
              <a:path extrusionOk="0" h="326572" w="391885">
                <a:moveTo>
                  <a:pt x="391885" y="0"/>
                </a:moveTo>
                <a:cubicBezTo>
                  <a:pt x="388257" y="18143"/>
                  <a:pt x="388288" y="37423"/>
                  <a:pt x="381000" y="54429"/>
                </a:cubicBezTo>
                <a:cubicBezTo>
                  <a:pt x="376957" y="63862"/>
                  <a:pt x="367242" y="69789"/>
                  <a:pt x="359228" y="76200"/>
                </a:cubicBezTo>
                <a:cubicBezTo>
                  <a:pt x="322260" y="105775"/>
                  <a:pt x="313052" y="102478"/>
                  <a:pt x="261257" y="119743"/>
                </a:cubicBezTo>
                <a:lnTo>
                  <a:pt x="163285" y="152400"/>
                </a:lnTo>
                <a:lnTo>
                  <a:pt x="130628" y="163286"/>
                </a:lnTo>
                <a:cubicBezTo>
                  <a:pt x="119742" y="166915"/>
                  <a:pt x="107518" y="167807"/>
                  <a:pt x="97971" y="174172"/>
                </a:cubicBezTo>
                <a:lnTo>
                  <a:pt x="65314" y="195943"/>
                </a:lnTo>
                <a:cubicBezTo>
                  <a:pt x="58057" y="206829"/>
                  <a:pt x="48856" y="216645"/>
                  <a:pt x="43543" y="228600"/>
                </a:cubicBezTo>
                <a:cubicBezTo>
                  <a:pt x="34222" y="249571"/>
                  <a:pt x="34501" y="274820"/>
                  <a:pt x="21771" y="293915"/>
                </a:cubicBezTo>
                <a:lnTo>
                  <a:pt x="0" y="326572"/>
                </a:lnTo>
              </a:path>
            </a:pathLst>
          </a:custGeom>
          <a:no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0">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0">
                                            <p:txEl>
                                              <p:pRg end="1" st="1"/>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1">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34"/>
          <p:cNvSpPr txBox="1"/>
          <p:nvPr>
            <p:ph idx="1" type="body"/>
          </p:nvPr>
        </p:nvSpPr>
        <p:spPr>
          <a:xfrm>
            <a:off x="288413" y="916710"/>
            <a:ext cx="11332079" cy="4363297"/>
          </a:xfrm>
          <a:prstGeom prst="rect">
            <a:avLst/>
          </a:prstGeom>
          <a:noFill/>
          <a:ln>
            <a:noFill/>
          </a:ln>
        </p:spPr>
        <p:txBody>
          <a:bodyPr anchorCtr="0" anchor="t" bIns="45700" lIns="91425" spcFirstLastPara="1" rIns="91425" wrap="square" tIns="45700">
            <a:noAutofit/>
          </a:bodyPr>
          <a:lstStyle/>
          <a:p>
            <a:pPr indent="-383107" lvl="0" marL="467771" rtl="0" algn="l">
              <a:lnSpc>
                <a:spcPct val="100000"/>
              </a:lnSpc>
              <a:spcBef>
                <a:spcPts val="0"/>
              </a:spcBef>
              <a:spcAft>
                <a:spcPts val="0"/>
              </a:spcAft>
              <a:buClr>
                <a:schemeClr val="lt1"/>
              </a:buClr>
              <a:buSzPts val="2660"/>
              <a:buChar char="▪"/>
            </a:pPr>
            <a:r>
              <a:rPr lang="en-US" sz="2800"/>
              <a:t>How could we translate this C statement? </a:t>
            </a:r>
            <a:endParaRPr/>
          </a:p>
          <a:p>
            <a:pPr indent="0" lvl="0" marL="84664" rtl="0" algn="l">
              <a:lnSpc>
                <a:spcPct val="100000"/>
              </a:lnSpc>
              <a:spcBef>
                <a:spcPts val="1000"/>
              </a:spcBef>
              <a:spcAft>
                <a:spcPts val="0"/>
              </a:spcAft>
              <a:buClr>
                <a:schemeClr val="lt1"/>
              </a:buClr>
              <a:buSzPts val="2660"/>
              <a:buNone/>
            </a:pPr>
            <a:r>
              <a:rPr lang="en-US" sz="2800">
                <a:solidFill>
                  <a:schemeClr val="lt1"/>
                </a:solidFill>
                <a:latin typeface="Courier New"/>
                <a:ea typeface="Courier New"/>
                <a:cs typeface="Courier New"/>
                <a:sym typeface="Courier New"/>
              </a:rPr>
              <a:t>	</a:t>
            </a:r>
            <a:r>
              <a:rPr lang="en-US" sz="2400">
                <a:solidFill>
                  <a:schemeClr val="lt1"/>
                </a:solidFill>
                <a:latin typeface="Courier New"/>
                <a:ea typeface="Courier New"/>
                <a:cs typeface="Courier New"/>
                <a:sym typeface="Courier New"/>
              </a:rPr>
              <a:t>a = b + c + d - e;</a:t>
            </a:r>
            <a:endParaRPr sz="2800"/>
          </a:p>
          <a:p>
            <a:pPr indent="-214197" lvl="0" marL="467771" rtl="0" algn="l">
              <a:lnSpc>
                <a:spcPct val="100000"/>
              </a:lnSpc>
              <a:spcBef>
                <a:spcPts val="1000"/>
              </a:spcBef>
              <a:spcAft>
                <a:spcPts val="0"/>
              </a:spcAft>
              <a:buClr>
                <a:schemeClr val="lt1"/>
              </a:buClr>
              <a:buSzPts val="2660"/>
              <a:buNone/>
            </a:pPr>
            <a:r>
              <a:t/>
            </a:r>
            <a:endParaRPr sz="2800"/>
          </a:p>
          <a:p>
            <a:pPr indent="-311143" lvl="1" marL="768331" rtl="0" algn="l">
              <a:lnSpc>
                <a:spcPct val="100000"/>
              </a:lnSpc>
              <a:spcBef>
                <a:spcPts val="1700"/>
              </a:spcBef>
              <a:spcAft>
                <a:spcPts val="0"/>
              </a:spcAft>
              <a:buClr>
                <a:schemeClr val="accent2"/>
              </a:buClr>
              <a:buSzPts val="2160"/>
              <a:buChar char="▫"/>
            </a:pPr>
            <a:r>
              <a:rPr lang="en-US" sz="2400"/>
              <a:t>Assume the above mapping for C variables ↔︎ RISC-V registers.</a:t>
            </a:r>
            <a:endParaRPr/>
          </a:p>
          <a:p>
            <a:pPr indent="-383107" lvl="0" marL="467771" rtl="0" algn="l">
              <a:lnSpc>
                <a:spcPct val="100000"/>
              </a:lnSpc>
              <a:spcBef>
                <a:spcPts val="2200"/>
              </a:spcBef>
              <a:spcAft>
                <a:spcPts val="0"/>
              </a:spcAft>
              <a:buClr>
                <a:schemeClr val="lt1"/>
              </a:buClr>
              <a:buSzPts val="2660"/>
              <a:buChar char="▪"/>
            </a:pPr>
            <a:r>
              <a:rPr lang="en-US" sz="2800"/>
              <a:t>Solution: Break into multiple instructions!</a:t>
            </a:r>
            <a:endParaRPr/>
          </a:p>
          <a:p>
            <a:pPr indent="0" lvl="1" marL="920750" rtl="0" algn="l">
              <a:lnSpc>
                <a:spcPct val="100000"/>
              </a:lnSpc>
              <a:spcBef>
                <a:spcPts val="1200"/>
              </a:spcBef>
              <a:spcAft>
                <a:spcPts val="0"/>
              </a:spcAft>
              <a:buClr>
                <a:schemeClr val="accent2"/>
              </a:buClr>
              <a:buSzPts val="2160"/>
              <a:buNone/>
            </a:pPr>
            <a:r>
              <a:rPr b="1" lang="en-US" sz="2400">
                <a:latin typeface="Courier New"/>
                <a:ea typeface="Courier New"/>
                <a:cs typeface="Courier New"/>
                <a:sym typeface="Courier New"/>
              </a:rPr>
              <a:t>add x10, x1, x2  		</a:t>
            </a:r>
            <a:r>
              <a:rPr b="1" lang="en-US" sz="2400">
                <a:solidFill>
                  <a:srgbClr val="919191"/>
                </a:solidFill>
                <a:latin typeface="Courier New"/>
                <a:ea typeface="Courier New"/>
                <a:cs typeface="Courier New"/>
                <a:sym typeface="Courier New"/>
              </a:rPr>
              <a:t># a_temp = b + c</a:t>
            </a:r>
            <a:endParaRPr/>
          </a:p>
          <a:p>
            <a:pPr indent="0" lvl="1" marL="920750" rtl="0" algn="l">
              <a:lnSpc>
                <a:spcPct val="100000"/>
              </a:lnSpc>
              <a:spcBef>
                <a:spcPts val="0"/>
              </a:spcBef>
              <a:spcAft>
                <a:spcPts val="0"/>
              </a:spcAft>
              <a:buClr>
                <a:schemeClr val="accent2"/>
              </a:buClr>
              <a:buSzPts val="2160"/>
              <a:buNone/>
            </a:pPr>
            <a:r>
              <a:rPr b="1" lang="en-US" sz="2400">
                <a:latin typeface="Courier New"/>
                <a:ea typeface="Courier New"/>
                <a:cs typeface="Courier New"/>
                <a:sym typeface="Courier New"/>
              </a:rPr>
              <a:t>add x10, x10, x3 </a:t>
            </a:r>
            <a:r>
              <a:rPr b="1" lang="en-US" sz="2400">
                <a:solidFill>
                  <a:srgbClr val="FFC000"/>
                </a:solidFill>
                <a:latin typeface="Courier New"/>
                <a:ea typeface="Courier New"/>
                <a:cs typeface="Courier New"/>
                <a:sym typeface="Courier New"/>
              </a:rPr>
              <a:t>		</a:t>
            </a:r>
            <a:r>
              <a:rPr b="1" lang="en-US" sz="2400">
                <a:solidFill>
                  <a:srgbClr val="919191"/>
                </a:solidFill>
                <a:latin typeface="Courier New"/>
                <a:ea typeface="Courier New"/>
                <a:cs typeface="Courier New"/>
                <a:sym typeface="Courier New"/>
              </a:rPr>
              <a:t># a_temp = a_temp + d</a:t>
            </a:r>
            <a:endParaRPr/>
          </a:p>
          <a:p>
            <a:pPr indent="0" lvl="1" marL="920750" rtl="0" algn="l">
              <a:lnSpc>
                <a:spcPct val="100000"/>
              </a:lnSpc>
              <a:spcBef>
                <a:spcPts val="0"/>
              </a:spcBef>
              <a:spcAft>
                <a:spcPts val="0"/>
              </a:spcAft>
              <a:buClr>
                <a:schemeClr val="accent2"/>
              </a:buClr>
              <a:buSzPts val="2160"/>
              <a:buNone/>
            </a:pPr>
            <a:r>
              <a:rPr b="1" lang="en-US" sz="2400">
                <a:latin typeface="Courier New"/>
                <a:ea typeface="Courier New"/>
                <a:cs typeface="Courier New"/>
                <a:sym typeface="Courier New"/>
              </a:rPr>
              <a:t>sub x10, x10, x4 </a:t>
            </a:r>
            <a:r>
              <a:rPr b="1" lang="en-US" sz="2400">
                <a:solidFill>
                  <a:srgbClr val="FFC000"/>
                </a:solidFill>
                <a:latin typeface="Courier New"/>
                <a:ea typeface="Courier New"/>
                <a:cs typeface="Courier New"/>
                <a:sym typeface="Courier New"/>
              </a:rPr>
              <a:t>		</a:t>
            </a:r>
            <a:r>
              <a:rPr b="1" lang="en-US" sz="2400">
                <a:solidFill>
                  <a:srgbClr val="919191"/>
                </a:solidFill>
                <a:latin typeface="Courier New"/>
                <a:ea typeface="Courier New"/>
                <a:cs typeface="Courier New"/>
                <a:sym typeface="Courier New"/>
              </a:rPr>
              <a:t># a = a_temp - e</a:t>
            </a:r>
            <a:endParaRPr/>
          </a:p>
        </p:txBody>
      </p:sp>
      <p:sp>
        <p:nvSpPr>
          <p:cNvPr id="425" name="Google Shape;425;p34"/>
          <p:cNvSpPr txBox="1"/>
          <p:nvPr>
            <p:ph type="title"/>
          </p:nvPr>
        </p:nvSpPr>
        <p:spPr>
          <a:xfrm>
            <a:off x="1104901" y="76199"/>
            <a:ext cx="10509504" cy="76809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2"/>
              </a:buClr>
              <a:buSzPts val="4200"/>
              <a:buFont typeface="Arial"/>
              <a:buNone/>
            </a:pPr>
            <a:r>
              <a:rPr lang="en-US"/>
              <a:t>RISC-V Arithmetic, Example 1</a:t>
            </a:r>
            <a:endParaRPr/>
          </a:p>
        </p:txBody>
      </p:sp>
      <p:sp>
        <p:nvSpPr>
          <p:cNvPr id="426" name="Google Shape;426;p34"/>
          <p:cNvSpPr/>
          <p:nvPr/>
        </p:nvSpPr>
        <p:spPr>
          <a:xfrm>
            <a:off x="288413" y="5425191"/>
            <a:ext cx="4340676" cy="842379"/>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300">
                <a:solidFill>
                  <a:schemeClr val="dk1"/>
                </a:solidFill>
                <a:latin typeface="Arial"/>
                <a:ea typeface="Arial"/>
                <a:cs typeface="Arial"/>
                <a:sym typeface="Arial"/>
              </a:rPr>
              <a:t>A single line of C may break up into several lines of RISC-V.</a:t>
            </a:r>
            <a:endParaRPr sz="1300"/>
          </a:p>
        </p:txBody>
      </p:sp>
      <p:sp>
        <p:nvSpPr>
          <p:cNvPr id="427" name="Google Shape;427;p34"/>
          <p:cNvSpPr/>
          <p:nvPr/>
        </p:nvSpPr>
        <p:spPr>
          <a:xfrm rot="-5400000">
            <a:off x="7982718" y="2891867"/>
            <a:ext cx="186936" cy="4586999"/>
          </a:xfrm>
          <a:prstGeom prst="leftBrace">
            <a:avLst>
              <a:gd fmla="val 8333" name="adj1"/>
              <a:gd fmla="val 7741" name="adj2"/>
            </a:avLst>
          </a:prstGeom>
          <a:no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Calibri"/>
              <a:ea typeface="Calibri"/>
              <a:cs typeface="Calibri"/>
              <a:sym typeface="Calibri"/>
            </a:endParaRPr>
          </a:p>
        </p:txBody>
      </p:sp>
      <p:sp>
        <p:nvSpPr>
          <p:cNvPr id="428" name="Google Shape;428;p34"/>
          <p:cNvSpPr txBox="1"/>
          <p:nvPr/>
        </p:nvSpPr>
        <p:spPr>
          <a:xfrm>
            <a:off x="4990289" y="5329847"/>
            <a:ext cx="7130375" cy="766364"/>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2400">
                <a:solidFill>
                  <a:schemeClr val="accent4"/>
                </a:solidFill>
                <a:latin typeface="Arial"/>
                <a:ea typeface="Arial"/>
                <a:cs typeface="Arial"/>
                <a:sym typeface="Arial"/>
              </a:rPr>
              <a:t>In-line comments prefixed by #</a:t>
            </a:r>
            <a:r>
              <a:rPr lang="en-US" sz="2400">
                <a:solidFill>
                  <a:schemeClr val="accent1"/>
                </a:solidFill>
                <a:latin typeface="Arial"/>
                <a:ea typeface="Arial"/>
                <a:cs typeface="Arial"/>
                <a:sym typeface="Arial"/>
              </a:rPr>
              <a:t>, work like C99’s </a:t>
            </a:r>
            <a:r>
              <a:rPr b="1" lang="en-US" sz="2400">
                <a:solidFill>
                  <a:schemeClr val="accent1"/>
                </a:solidFill>
                <a:latin typeface="Courier New"/>
                <a:ea typeface="Courier New"/>
                <a:cs typeface="Courier New"/>
                <a:sym typeface="Courier New"/>
              </a:rPr>
              <a:t>//</a:t>
            </a:r>
            <a:r>
              <a:rPr lang="en-US" sz="2400">
                <a:solidFill>
                  <a:schemeClr val="accent1"/>
                </a:solidFill>
                <a:latin typeface="Arial"/>
                <a:ea typeface="Arial"/>
                <a:cs typeface="Arial"/>
                <a:sym typeface="Arial"/>
              </a:rPr>
              <a:t>.</a:t>
            </a:r>
            <a:endParaRPr/>
          </a:p>
          <a:p>
            <a:pPr indent="0" lvl="0" marL="0" marR="0" rtl="0" algn="l">
              <a:lnSpc>
                <a:spcPct val="90000"/>
              </a:lnSpc>
              <a:spcBef>
                <a:spcPts val="0"/>
              </a:spcBef>
              <a:spcAft>
                <a:spcPts val="0"/>
              </a:spcAft>
              <a:buNone/>
            </a:pPr>
            <a:r>
              <a:rPr lang="en-US" sz="2400">
                <a:solidFill>
                  <a:schemeClr val="accent1"/>
                </a:solidFill>
                <a:latin typeface="Arial"/>
                <a:ea typeface="Arial"/>
                <a:cs typeface="Arial"/>
                <a:sym typeface="Arial"/>
              </a:rPr>
              <a:t>Unlike C, no multi-line comment (</a:t>
            </a:r>
            <a:r>
              <a:rPr b="1" lang="en-US" sz="2400">
                <a:solidFill>
                  <a:schemeClr val="accent1"/>
                </a:solidFill>
                <a:latin typeface="Courier New"/>
                <a:ea typeface="Courier New"/>
                <a:cs typeface="Courier New"/>
                <a:sym typeface="Courier New"/>
              </a:rPr>
              <a:t>/* */</a:t>
            </a:r>
            <a:r>
              <a:rPr lang="en-US" sz="2400">
                <a:solidFill>
                  <a:schemeClr val="accent1"/>
                </a:solidFill>
                <a:latin typeface="Arial"/>
                <a:ea typeface="Arial"/>
                <a:cs typeface="Arial"/>
                <a:sym typeface="Arial"/>
              </a:rPr>
              <a:t>) support.</a:t>
            </a:r>
            <a:endParaRPr/>
          </a:p>
        </p:txBody>
      </p:sp>
      <p:sp>
        <p:nvSpPr>
          <p:cNvPr id="429" name="Google Shape;429;p34"/>
          <p:cNvSpPr txBox="1"/>
          <p:nvPr/>
        </p:nvSpPr>
        <p:spPr>
          <a:xfrm>
            <a:off x="951821" y="2188725"/>
            <a:ext cx="411602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C6DAC3"/>
                </a:solidFill>
                <a:latin typeface="Courier New"/>
                <a:ea typeface="Courier New"/>
                <a:cs typeface="Courier New"/>
                <a:sym typeface="Courier New"/>
              </a:rPr>
              <a:t>x10  x1  x2  x3  x4</a:t>
            </a:r>
            <a:endParaRPr sz="1350">
              <a:solidFill>
                <a:schemeClr val="dk1"/>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35"/>
          <p:cNvSpPr txBox="1"/>
          <p:nvPr>
            <p:ph type="title"/>
          </p:nvPr>
        </p:nvSpPr>
        <p:spPr>
          <a:xfrm>
            <a:off x="1104901" y="76199"/>
            <a:ext cx="10509504" cy="76809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2"/>
              </a:buClr>
              <a:buSzPts val="4200"/>
              <a:buFont typeface="Arial"/>
              <a:buNone/>
            </a:pPr>
            <a:r>
              <a:rPr lang="en-US"/>
              <a:t>RISC-V Arithmetic, Example 2</a:t>
            </a:r>
            <a:endParaRPr/>
          </a:p>
        </p:txBody>
      </p:sp>
      <p:sp>
        <p:nvSpPr>
          <p:cNvPr id="436" name="Google Shape;436;p35"/>
          <p:cNvSpPr txBox="1"/>
          <p:nvPr>
            <p:ph idx="1" type="body"/>
          </p:nvPr>
        </p:nvSpPr>
        <p:spPr>
          <a:xfrm>
            <a:off x="288413" y="916710"/>
            <a:ext cx="11332079" cy="5287965"/>
          </a:xfrm>
          <a:prstGeom prst="rect">
            <a:avLst/>
          </a:prstGeom>
          <a:noFill/>
          <a:ln>
            <a:noFill/>
          </a:ln>
        </p:spPr>
        <p:txBody>
          <a:bodyPr anchorCtr="0" anchor="t" bIns="45700" lIns="91425" spcFirstLastPara="1" rIns="91425" wrap="square" tIns="45700">
            <a:noAutofit/>
          </a:bodyPr>
          <a:lstStyle/>
          <a:p>
            <a:pPr indent="-383107" lvl="0" marL="467771" rtl="0" algn="l">
              <a:lnSpc>
                <a:spcPct val="100000"/>
              </a:lnSpc>
              <a:spcBef>
                <a:spcPts val="0"/>
              </a:spcBef>
              <a:spcAft>
                <a:spcPts val="0"/>
              </a:spcAft>
              <a:buClr>
                <a:schemeClr val="lt1"/>
              </a:buClr>
              <a:buSzPts val="2660"/>
              <a:buChar char="▪"/>
            </a:pPr>
            <a:r>
              <a:rPr lang="en-US" sz="2800"/>
              <a:t>How do we do this?</a:t>
            </a:r>
            <a:endParaRPr sz="3200"/>
          </a:p>
          <a:p>
            <a:pPr indent="0" lvl="0" marL="84664" rtl="0" algn="l">
              <a:lnSpc>
                <a:spcPct val="100000"/>
              </a:lnSpc>
              <a:spcBef>
                <a:spcPts val="1000"/>
              </a:spcBef>
              <a:spcAft>
                <a:spcPts val="0"/>
              </a:spcAft>
              <a:buClr>
                <a:schemeClr val="lt1"/>
              </a:buClr>
              <a:buSzPts val="3040"/>
              <a:buNone/>
            </a:pPr>
            <a:r>
              <a:rPr lang="en-US" sz="3200">
                <a:solidFill>
                  <a:schemeClr val="lt1"/>
                </a:solidFill>
                <a:latin typeface="Courier New"/>
                <a:ea typeface="Courier New"/>
                <a:cs typeface="Courier New"/>
                <a:sym typeface="Courier New"/>
              </a:rPr>
              <a:t>	</a:t>
            </a:r>
            <a:r>
              <a:rPr lang="en-US" sz="2800">
                <a:solidFill>
                  <a:schemeClr val="lt1"/>
                </a:solidFill>
                <a:latin typeface="Courier New"/>
                <a:ea typeface="Courier New"/>
                <a:cs typeface="Courier New"/>
                <a:sym typeface="Courier New"/>
              </a:rPr>
              <a:t>f = (g + h) - (i + j);</a:t>
            </a:r>
            <a:endParaRPr/>
          </a:p>
          <a:p>
            <a:pPr indent="-173983" lvl="1" marL="768331" rtl="0" algn="l">
              <a:lnSpc>
                <a:spcPct val="100000"/>
              </a:lnSpc>
              <a:spcBef>
                <a:spcPts val="1000"/>
              </a:spcBef>
              <a:spcAft>
                <a:spcPts val="0"/>
              </a:spcAft>
              <a:buClr>
                <a:schemeClr val="accent2"/>
              </a:buClr>
              <a:buSzPts val="2160"/>
              <a:buNone/>
            </a:pPr>
            <a:r>
              <a:t/>
            </a:r>
            <a:endParaRPr sz="2400"/>
          </a:p>
          <a:p>
            <a:pPr indent="-311143" lvl="1" marL="768331" rtl="0" algn="l">
              <a:lnSpc>
                <a:spcPct val="100000"/>
              </a:lnSpc>
              <a:spcBef>
                <a:spcPts val="1700"/>
              </a:spcBef>
              <a:spcAft>
                <a:spcPts val="0"/>
              </a:spcAft>
              <a:buClr>
                <a:schemeClr val="accent2"/>
              </a:buClr>
              <a:buSzPts val="2160"/>
              <a:buChar char="▫"/>
            </a:pPr>
            <a:r>
              <a:rPr lang="en-US" sz="2400"/>
              <a:t>Assume the above mapping for C variables ↔︎ RISC-V registers.</a:t>
            </a:r>
            <a:endParaRPr/>
          </a:p>
          <a:p>
            <a:pPr indent="-383107" lvl="0" marL="467771" rtl="0" algn="l">
              <a:lnSpc>
                <a:spcPct val="100000"/>
              </a:lnSpc>
              <a:spcBef>
                <a:spcPts val="1000"/>
              </a:spcBef>
              <a:spcAft>
                <a:spcPts val="0"/>
              </a:spcAft>
              <a:buClr>
                <a:schemeClr val="lt1"/>
              </a:buClr>
              <a:buSzPts val="2660"/>
              <a:buChar char="▪"/>
            </a:pPr>
            <a:r>
              <a:rPr lang="en-US" sz="2800"/>
              <a:t>Solution: Use intermediate </a:t>
            </a:r>
            <a:r>
              <a:rPr b="0" lang="en-US" sz="2800">
                <a:solidFill>
                  <a:schemeClr val="accent4"/>
                </a:solidFill>
                <a:latin typeface="Arial"/>
                <a:ea typeface="Arial"/>
                <a:cs typeface="Arial"/>
                <a:sym typeface="Arial"/>
              </a:rPr>
              <a:t>temporary registers</a:t>
            </a:r>
            <a:r>
              <a:rPr lang="en-US" sz="2800"/>
              <a:t>!</a:t>
            </a:r>
            <a:endParaRPr/>
          </a:p>
          <a:p>
            <a:pPr indent="0" lvl="1" marL="476239" rtl="0" algn="l">
              <a:lnSpc>
                <a:spcPct val="100000"/>
              </a:lnSpc>
              <a:spcBef>
                <a:spcPts val="500"/>
              </a:spcBef>
              <a:spcAft>
                <a:spcPts val="0"/>
              </a:spcAft>
              <a:buClr>
                <a:srgbClr val="FFC000"/>
              </a:buClr>
              <a:buSzPts val="2160"/>
              <a:buNone/>
            </a:pPr>
            <a:r>
              <a:rPr b="1" lang="en-US" sz="2400">
                <a:solidFill>
                  <a:srgbClr val="FFC000"/>
                </a:solidFill>
                <a:latin typeface="Courier New"/>
                <a:ea typeface="Courier New"/>
                <a:cs typeface="Courier New"/>
                <a:sym typeface="Courier New"/>
              </a:rPr>
              <a:t>	</a:t>
            </a:r>
            <a:r>
              <a:rPr b="1" lang="en-US" sz="2400">
                <a:latin typeface="Courier New"/>
                <a:ea typeface="Courier New"/>
                <a:cs typeface="Courier New"/>
                <a:sym typeface="Courier New"/>
              </a:rPr>
              <a:t>add </a:t>
            </a:r>
            <a:r>
              <a:rPr b="1" lang="en-US" sz="2400">
                <a:solidFill>
                  <a:schemeClr val="accent4"/>
                </a:solidFill>
                <a:latin typeface="Courier New"/>
                <a:ea typeface="Courier New"/>
                <a:cs typeface="Courier New"/>
                <a:sym typeface="Courier New"/>
              </a:rPr>
              <a:t>x5</a:t>
            </a:r>
            <a:r>
              <a:rPr b="1" lang="en-US" sz="2400">
                <a:latin typeface="Courier New"/>
                <a:ea typeface="Courier New"/>
                <a:cs typeface="Courier New"/>
                <a:sym typeface="Courier New"/>
              </a:rPr>
              <a:t>, x20, x21         </a:t>
            </a:r>
            <a:r>
              <a:rPr b="1" lang="en-US" sz="2400">
                <a:solidFill>
                  <a:srgbClr val="919191"/>
                </a:solidFill>
                <a:latin typeface="Courier New"/>
                <a:ea typeface="Courier New"/>
                <a:cs typeface="Courier New"/>
                <a:sym typeface="Courier New"/>
              </a:rPr>
              <a:t># a_temp = g + h</a:t>
            </a:r>
            <a:endParaRPr/>
          </a:p>
          <a:p>
            <a:pPr indent="0" lvl="1" marL="476239" rtl="0" algn="l">
              <a:lnSpc>
                <a:spcPct val="100000"/>
              </a:lnSpc>
              <a:spcBef>
                <a:spcPts val="0"/>
              </a:spcBef>
              <a:spcAft>
                <a:spcPts val="0"/>
              </a:spcAft>
              <a:buClr>
                <a:srgbClr val="FFC000"/>
              </a:buClr>
              <a:buSzPts val="2160"/>
              <a:buNone/>
            </a:pPr>
            <a:r>
              <a:rPr b="1" lang="en-US" sz="2400">
                <a:solidFill>
                  <a:srgbClr val="FFC000"/>
                </a:solidFill>
                <a:latin typeface="Courier New"/>
                <a:ea typeface="Courier New"/>
                <a:cs typeface="Courier New"/>
                <a:sym typeface="Courier New"/>
              </a:rPr>
              <a:t>	</a:t>
            </a:r>
            <a:r>
              <a:rPr b="1" lang="en-US" sz="2400">
                <a:latin typeface="Courier New"/>
                <a:ea typeface="Courier New"/>
                <a:cs typeface="Courier New"/>
                <a:sym typeface="Courier New"/>
              </a:rPr>
              <a:t>add </a:t>
            </a:r>
            <a:r>
              <a:rPr b="1" lang="en-US" sz="2400">
                <a:solidFill>
                  <a:schemeClr val="accent4"/>
                </a:solidFill>
                <a:latin typeface="Courier New"/>
                <a:ea typeface="Courier New"/>
                <a:cs typeface="Courier New"/>
                <a:sym typeface="Courier New"/>
              </a:rPr>
              <a:t>x6</a:t>
            </a:r>
            <a:r>
              <a:rPr b="1" lang="en-US" sz="2400">
                <a:latin typeface="Courier New"/>
                <a:ea typeface="Courier New"/>
                <a:cs typeface="Courier New"/>
                <a:sym typeface="Courier New"/>
              </a:rPr>
              <a:t>, x22, x23         </a:t>
            </a:r>
            <a:r>
              <a:rPr b="1" lang="en-US" sz="2400">
                <a:solidFill>
                  <a:srgbClr val="919191"/>
                </a:solidFill>
                <a:latin typeface="Courier New"/>
                <a:ea typeface="Courier New"/>
                <a:cs typeface="Courier New"/>
                <a:sym typeface="Courier New"/>
              </a:rPr>
              <a:t># b_temp = i + j</a:t>
            </a:r>
            <a:endParaRPr/>
          </a:p>
          <a:p>
            <a:pPr indent="0" lvl="1" marL="476239" rtl="0" algn="l">
              <a:lnSpc>
                <a:spcPct val="100000"/>
              </a:lnSpc>
              <a:spcBef>
                <a:spcPts val="0"/>
              </a:spcBef>
              <a:spcAft>
                <a:spcPts val="0"/>
              </a:spcAft>
              <a:buClr>
                <a:srgbClr val="FFC000"/>
              </a:buClr>
              <a:buSzPts val="2160"/>
              <a:buNone/>
            </a:pPr>
            <a:r>
              <a:rPr b="1" lang="en-US" sz="2400">
                <a:solidFill>
                  <a:srgbClr val="FFC000"/>
                </a:solidFill>
                <a:latin typeface="Courier New"/>
                <a:ea typeface="Courier New"/>
                <a:cs typeface="Courier New"/>
                <a:sym typeface="Courier New"/>
              </a:rPr>
              <a:t>	</a:t>
            </a:r>
            <a:r>
              <a:rPr b="1" lang="en-US" sz="2400">
                <a:latin typeface="Courier New"/>
                <a:ea typeface="Courier New"/>
                <a:cs typeface="Courier New"/>
                <a:sym typeface="Courier New"/>
              </a:rPr>
              <a:t>sub x19, </a:t>
            </a:r>
            <a:r>
              <a:rPr b="1" lang="en-US" sz="2400">
                <a:solidFill>
                  <a:schemeClr val="accent4"/>
                </a:solidFill>
                <a:latin typeface="Courier New"/>
                <a:ea typeface="Courier New"/>
                <a:cs typeface="Courier New"/>
                <a:sym typeface="Courier New"/>
              </a:rPr>
              <a:t>x5</a:t>
            </a:r>
            <a:r>
              <a:rPr b="1" lang="en-US" sz="2400">
                <a:latin typeface="Courier New"/>
                <a:ea typeface="Courier New"/>
                <a:cs typeface="Courier New"/>
                <a:sym typeface="Courier New"/>
              </a:rPr>
              <a:t>, </a:t>
            </a:r>
            <a:r>
              <a:rPr b="1" lang="en-US" sz="2400">
                <a:solidFill>
                  <a:schemeClr val="accent4"/>
                </a:solidFill>
                <a:latin typeface="Courier New"/>
                <a:ea typeface="Courier New"/>
                <a:cs typeface="Courier New"/>
                <a:sym typeface="Courier New"/>
              </a:rPr>
              <a:t>x6</a:t>
            </a:r>
            <a:r>
              <a:rPr b="1" lang="en-US" sz="2400">
                <a:latin typeface="Courier New"/>
                <a:ea typeface="Courier New"/>
                <a:cs typeface="Courier New"/>
                <a:sym typeface="Courier New"/>
              </a:rPr>
              <a:t>          </a:t>
            </a:r>
            <a:r>
              <a:rPr b="1" lang="en-US" sz="2400">
                <a:solidFill>
                  <a:srgbClr val="919191"/>
                </a:solidFill>
                <a:latin typeface="Courier New"/>
                <a:ea typeface="Courier New"/>
                <a:cs typeface="Courier New"/>
                <a:sym typeface="Courier New"/>
              </a:rPr>
              <a:t># f = (g + h)- (i + j)</a:t>
            </a:r>
            <a:endParaRPr sz="2800"/>
          </a:p>
          <a:p>
            <a:pPr indent="-383107" lvl="0" marL="467771" rtl="0" algn="l">
              <a:lnSpc>
                <a:spcPct val="100000"/>
              </a:lnSpc>
              <a:spcBef>
                <a:spcPts val="1000"/>
              </a:spcBef>
              <a:spcAft>
                <a:spcPts val="0"/>
              </a:spcAft>
              <a:buClr>
                <a:schemeClr val="lt1"/>
              </a:buClr>
              <a:buSzPts val="2660"/>
              <a:buChar char="▪"/>
            </a:pPr>
            <a:r>
              <a:rPr lang="en-US" sz="2800"/>
              <a:t>Note: A good compiler may actually do the following. Why?</a:t>
            </a:r>
            <a:endParaRPr sz="3200"/>
          </a:p>
          <a:p>
            <a:pPr indent="0" lvl="0" marL="84664" rtl="0" algn="l">
              <a:lnSpc>
                <a:spcPct val="100000"/>
              </a:lnSpc>
              <a:spcBef>
                <a:spcPts val="400"/>
              </a:spcBef>
              <a:spcAft>
                <a:spcPts val="0"/>
              </a:spcAft>
              <a:buClr>
                <a:schemeClr val="lt1"/>
              </a:buClr>
              <a:buSzPts val="3040"/>
              <a:buNone/>
            </a:pPr>
            <a:r>
              <a:rPr lang="en-US" sz="3200">
                <a:solidFill>
                  <a:schemeClr val="lt1"/>
                </a:solidFill>
                <a:latin typeface="Courier New"/>
                <a:ea typeface="Courier New"/>
                <a:cs typeface="Courier New"/>
                <a:sym typeface="Courier New"/>
              </a:rPr>
              <a:t>	</a:t>
            </a:r>
            <a:r>
              <a:rPr lang="en-US" sz="2800">
                <a:solidFill>
                  <a:schemeClr val="lt1"/>
                </a:solidFill>
                <a:latin typeface="Courier New"/>
                <a:ea typeface="Courier New"/>
                <a:cs typeface="Courier New"/>
                <a:sym typeface="Courier New"/>
              </a:rPr>
              <a:t> f = g + h - i - j;</a:t>
            </a:r>
            <a:endParaRPr/>
          </a:p>
        </p:txBody>
      </p:sp>
      <p:sp>
        <p:nvSpPr>
          <p:cNvPr id="437" name="Google Shape;437;p35"/>
          <p:cNvSpPr txBox="1"/>
          <p:nvPr/>
        </p:nvSpPr>
        <p:spPr>
          <a:xfrm>
            <a:off x="951821" y="2188725"/>
            <a:ext cx="907888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C6DAC3"/>
                </a:solidFill>
                <a:latin typeface="Courier New"/>
                <a:ea typeface="Courier New"/>
                <a:cs typeface="Courier New"/>
                <a:sym typeface="Courier New"/>
              </a:rPr>
              <a:t>x19   x20  x21    x22  x23   </a:t>
            </a:r>
            <a:r>
              <a:rPr b="1" lang="en-US" sz="2400">
                <a:solidFill>
                  <a:schemeClr val="accent4"/>
                </a:solidFill>
                <a:latin typeface="Courier New"/>
                <a:ea typeface="Courier New"/>
                <a:cs typeface="Courier New"/>
                <a:sym typeface="Courier New"/>
              </a:rPr>
              <a:t>x5   x6</a:t>
            </a:r>
            <a:endParaRPr sz="1350">
              <a:solidFill>
                <a:schemeClr val="accent4"/>
              </a:solidFill>
              <a:latin typeface="Courier New"/>
              <a:ea typeface="Courier New"/>
              <a:cs typeface="Courier New"/>
              <a:sym typeface="Courier New"/>
            </a:endParaRPr>
          </a:p>
        </p:txBody>
      </p:sp>
      <p:sp>
        <p:nvSpPr>
          <p:cNvPr id="438" name="Google Shape;438;p35"/>
          <p:cNvSpPr txBox="1"/>
          <p:nvPr/>
        </p:nvSpPr>
        <p:spPr>
          <a:xfrm>
            <a:off x="5789460" y="5404883"/>
            <a:ext cx="3754591"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accent1"/>
                </a:solidFill>
                <a:latin typeface="Arial"/>
                <a:ea typeface="Arial"/>
                <a:cs typeface="Arial"/>
                <a:sym typeface="Arial"/>
              </a:rPr>
              <a:t>Can use zero temp registers!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36"/>
          <p:cNvSpPr txBox="1"/>
          <p:nvPr>
            <p:ph type="title"/>
          </p:nvPr>
        </p:nvSpPr>
        <p:spPr>
          <a:xfrm>
            <a:off x="1104901" y="76199"/>
            <a:ext cx="10509504" cy="76809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2"/>
              </a:buClr>
              <a:buSzPts val="4200"/>
              <a:buFont typeface="Arial"/>
              <a:buNone/>
            </a:pPr>
            <a:r>
              <a:rPr lang="en-US"/>
              <a:t>Aside: Apollo Guidance Computer</a:t>
            </a:r>
            <a:endParaRPr/>
          </a:p>
        </p:txBody>
      </p:sp>
      <p:sp>
        <p:nvSpPr>
          <p:cNvPr id="445" name="Google Shape;445;p36"/>
          <p:cNvSpPr txBox="1"/>
          <p:nvPr>
            <p:ph idx="1" type="body"/>
          </p:nvPr>
        </p:nvSpPr>
        <p:spPr>
          <a:xfrm>
            <a:off x="288413" y="916711"/>
            <a:ext cx="8425281" cy="3180160"/>
          </a:xfrm>
          <a:prstGeom prst="rect">
            <a:avLst/>
          </a:prstGeom>
          <a:noFill/>
          <a:ln>
            <a:noFill/>
          </a:ln>
        </p:spPr>
        <p:txBody>
          <a:bodyPr anchorCtr="0" anchor="t" bIns="45700" lIns="91425" spcFirstLastPara="1" rIns="91425" wrap="square" tIns="45700">
            <a:normAutofit/>
          </a:bodyPr>
          <a:lstStyle/>
          <a:p>
            <a:pPr indent="-383107" lvl="0" marL="467771" rtl="0" algn="l">
              <a:lnSpc>
                <a:spcPct val="100000"/>
              </a:lnSpc>
              <a:spcBef>
                <a:spcPts val="0"/>
              </a:spcBef>
              <a:spcAft>
                <a:spcPts val="0"/>
              </a:spcAft>
              <a:buClr>
                <a:schemeClr val="lt1"/>
              </a:buClr>
              <a:buSzPts val="2660"/>
              <a:buChar char="▪"/>
            </a:pPr>
            <a:r>
              <a:rPr lang="en-US" sz="2800"/>
              <a:t>Margaret Hamilton</a:t>
            </a:r>
            <a:br>
              <a:rPr lang="en-US" sz="2800"/>
            </a:br>
            <a:r>
              <a:rPr lang="en-US" sz="2800"/>
              <a:t>Director of Software Engineering</a:t>
            </a:r>
            <a:br>
              <a:rPr lang="en-US" sz="2800"/>
            </a:br>
            <a:r>
              <a:rPr lang="en-US" sz="2800"/>
              <a:t>Division of MIT Instrumentation Laboratory</a:t>
            </a:r>
            <a:endParaRPr/>
          </a:p>
          <a:p>
            <a:pPr indent="-311143" lvl="1" marL="768331" rtl="0" algn="l">
              <a:lnSpc>
                <a:spcPct val="100000"/>
              </a:lnSpc>
              <a:spcBef>
                <a:spcPts val="500"/>
              </a:spcBef>
              <a:spcAft>
                <a:spcPts val="0"/>
              </a:spcAft>
              <a:buClr>
                <a:schemeClr val="accent2"/>
              </a:buClr>
              <a:buSzPts val="2160"/>
              <a:buChar char="▫"/>
            </a:pPr>
            <a:r>
              <a:rPr lang="en-US" sz="2400"/>
              <a:t>Built Apollo Guidance Computer</a:t>
            </a:r>
            <a:br>
              <a:rPr lang="en-US" sz="2400"/>
            </a:br>
            <a:r>
              <a:rPr lang="en-US" sz="2400"/>
              <a:t>Command Module (navigation, lunar landing)</a:t>
            </a:r>
            <a:endParaRPr/>
          </a:p>
          <a:p>
            <a:pPr indent="-298442" lvl="2" marL="1066773" rtl="0" algn="l">
              <a:lnSpc>
                <a:spcPct val="100000"/>
              </a:lnSpc>
              <a:spcBef>
                <a:spcPts val="500"/>
              </a:spcBef>
              <a:spcAft>
                <a:spcPts val="0"/>
              </a:spcAft>
              <a:buClr>
                <a:schemeClr val="accent1"/>
              </a:buClr>
              <a:buSzPts val="2000"/>
              <a:buChar char="▪"/>
            </a:pPr>
            <a:r>
              <a:rPr lang="en-US" sz="2000"/>
              <a:t>72KB of memory on board </a:t>
            </a:r>
            <a:r>
              <a:rPr i="1" lang="en-US" sz="2000"/>
              <a:t>Eagle</a:t>
            </a:r>
            <a:r>
              <a:rPr lang="en-US" sz="2000"/>
              <a:t> (Apollo 11, 1969)</a:t>
            </a:r>
            <a:endParaRPr sz="2400"/>
          </a:p>
        </p:txBody>
      </p:sp>
      <p:pic>
        <p:nvPicPr>
          <p:cNvPr id="446" name="Google Shape;446;p36"/>
          <p:cNvPicPr preferRelativeResize="0"/>
          <p:nvPr/>
        </p:nvPicPr>
        <p:blipFill rotWithShape="1">
          <a:blip r:embed="rId3">
            <a:alphaModFix/>
          </a:blip>
          <a:srcRect b="0" l="0" r="0" t="0"/>
          <a:stretch/>
        </p:blipFill>
        <p:spPr>
          <a:xfrm>
            <a:off x="9744587" y="1016611"/>
            <a:ext cx="2105473" cy="2613264"/>
          </a:xfrm>
          <a:prstGeom prst="rect">
            <a:avLst/>
          </a:prstGeom>
          <a:noFill/>
          <a:ln>
            <a:noFill/>
          </a:ln>
        </p:spPr>
      </p:pic>
      <p:sp>
        <p:nvSpPr>
          <p:cNvPr id="447" name="Google Shape;447;p36"/>
          <p:cNvSpPr txBox="1"/>
          <p:nvPr/>
        </p:nvSpPr>
        <p:spPr>
          <a:xfrm>
            <a:off x="9496560" y="3629875"/>
            <a:ext cx="2655055" cy="86177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lt1"/>
                </a:solidFill>
                <a:latin typeface="Arial"/>
                <a:ea typeface="Arial"/>
                <a:cs typeface="Arial"/>
                <a:sym typeface="Arial"/>
              </a:rPr>
              <a:t>Margaret Hamilton and Apollo code</a:t>
            </a:r>
            <a:endParaRPr/>
          </a:p>
          <a:p>
            <a:pPr indent="0" lvl="0" marL="0" marR="0" rtl="0" algn="r">
              <a:spcBef>
                <a:spcPts val="0"/>
              </a:spcBef>
              <a:spcAft>
                <a:spcPts val="0"/>
              </a:spcAft>
              <a:buNone/>
            </a:pPr>
            <a:r>
              <a:rPr lang="en-US" sz="1400">
                <a:solidFill>
                  <a:schemeClr val="lt1"/>
                </a:solidFill>
                <a:latin typeface="Arial"/>
                <a:ea typeface="Arial"/>
                <a:cs typeface="Arial"/>
                <a:sym typeface="Arial"/>
              </a:rPr>
              <a:t>Wikimedia Commons</a:t>
            </a:r>
            <a:endParaRPr/>
          </a:p>
        </p:txBody>
      </p:sp>
      <p:sp>
        <p:nvSpPr>
          <p:cNvPr id="448" name="Google Shape;448;p36"/>
          <p:cNvSpPr txBox="1"/>
          <p:nvPr/>
        </p:nvSpPr>
        <p:spPr>
          <a:xfrm>
            <a:off x="1630451" y="6201325"/>
            <a:ext cx="9450900" cy="269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50">
                <a:solidFill>
                  <a:srgbClr val="E4DDD2"/>
                </a:solidFill>
                <a:latin typeface="Courier New"/>
                <a:ea typeface="Courier New"/>
                <a:cs typeface="Courier New"/>
                <a:sym typeface="Courier New"/>
              </a:rPr>
              <a:t>https://abcnews.go.com/Technology/apollo-11s-source-code-tons-easter-eggs-including/story?id=40515222</a:t>
            </a:r>
            <a:endParaRPr sz="1200">
              <a:solidFill>
                <a:srgbClr val="E4DDD2"/>
              </a:solidFill>
            </a:endParaRPr>
          </a:p>
        </p:txBody>
      </p:sp>
      <p:sp>
        <p:nvSpPr>
          <p:cNvPr id="449" name="Google Shape;449;p36"/>
          <p:cNvSpPr txBox="1"/>
          <p:nvPr/>
        </p:nvSpPr>
        <p:spPr>
          <a:xfrm>
            <a:off x="6629628" y="5759507"/>
            <a:ext cx="133562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lt1"/>
                </a:solidFill>
                <a:latin typeface="Arial"/>
                <a:ea typeface="Arial"/>
                <a:cs typeface="Arial"/>
                <a:sym typeface="Arial"/>
              </a:rPr>
              <a:t>ignition file</a:t>
            </a:r>
            <a:endParaRPr/>
          </a:p>
        </p:txBody>
      </p:sp>
      <p:pic>
        <p:nvPicPr>
          <p:cNvPr descr="PHOTO: Part of the source code MIT programmers wrote for Apollo 11's flight software is pictured here in a screenshot from the source code posted to GitHub by former NASA intern Chris Garry." id="450" name="Google Shape;450;p36"/>
          <p:cNvPicPr preferRelativeResize="0"/>
          <p:nvPr/>
        </p:nvPicPr>
        <p:blipFill rotWithShape="1">
          <a:blip r:embed="rId4">
            <a:alphaModFix/>
          </a:blip>
          <a:srcRect b="52226" l="0" r="1458" t="25314"/>
          <a:stretch/>
        </p:blipFill>
        <p:spPr>
          <a:xfrm>
            <a:off x="284542" y="3434888"/>
            <a:ext cx="4558333" cy="583326"/>
          </a:xfrm>
          <a:prstGeom prst="rect">
            <a:avLst/>
          </a:prstGeom>
          <a:noFill/>
          <a:ln>
            <a:noFill/>
          </a:ln>
        </p:spPr>
      </p:pic>
      <p:pic>
        <p:nvPicPr>
          <p:cNvPr descr="PHOTO: Part of the source code MIT programmers wrote for Apollo 11's flight software is pictured here in a screenshot from the source code posted to GitHub by former NASA intern Chris Garry." id="451" name="Google Shape;451;p36"/>
          <p:cNvPicPr preferRelativeResize="0"/>
          <p:nvPr/>
        </p:nvPicPr>
        <p:blipFill rotWithShape="1">
          <a:blip r:embed="rId5">
            <a:alphaModFix/>
          </a:blip>
          <a:srcRect b="33499" l="0" r="3029" t="5835"/>
          <a:stretch/>
        </p:blipFill>
        <p:spPr>
          <a:xfrm>
            <a:off x="284542" y="4175985"/>
            <a:ext cx="4724598" cy="1662636"/>
          </a:xfrm>
          <a:prstGeom prst="rect">
            <a:avLst/>
          </a:prstGeom>
          <a:noFill/>
          <a:ln>
            <a:noFill/>
          </a:ln>
        </p:spPr>
      </p:pic>
      <p:pic>
        <p:nvPicPr>
          <p:cNvPr descr="PHOTO: Part of the source code MIT programmers wrote for Apollo 11's flight software is pictured here in a screenshot from the source code posted to GitHub by former NASA intern Chris Garry." id="452" name="Google Shape;452;p36"/>
          <p:cNvPicPr preferRelativeResize="0"/>
          <p:nvPr/>
        </p:nvPicPr>
        <p:blipFill rotWithShape="1">
          <a:blip r:embed="rId6">
            <a:alphaModFix/>
          </a:blip>
          <a:srcRect b="35116" l="0" r="0" t="26782"/>
          <a:stretch/>
        </p:blipFill>
        <p:spPr>
          <a:xfrm>
            <a:off x="4429170" y="5216356"/>
            <a:ext cx="4079333" cy="874303"/>
          </a:xfrm>
          <a:prstGeom prst="rect">
            <a:avLst/>
          </a:prstGeom>
          <a:noFill/>
          <a:ln cap="flat" cmpd="sng" w="9525">
            <a:solidFill>
              <a:srgbClr val="7F7F7F"/>
            </a:solidFill>
            <a:prstDash val="solid"/>
            <a:round/>
            <a:headEnd len="sm" w="sm" type="none"/>
            <a:tailEnd len="sm" w="sm" type="none"/>
          </a:ln>
        </p:spPr>
      </p:pic>
      <p:sp>
        <p:nvSpPr>
          <p:cNvPr id="453" name="Google Shape;453;p36"/>
          <p:cNvSpPr/>
          <p:nvPr/>
        </p:nvSpPr>
        <p:spPr>
          <a:xfrm>
            <a:off x="2563708" y="5669332"/>
            <a:ext cx="1779692" cy="305288"/>
          </a:xfrm>
          <a:custGeom>
            <a:rect b="b" l="l" r="r" t="t"/>
            <a:pathLst>
              <a:path extrusionOk="0" h="367862" w="1629103">
                <a:moveTo>
                  <a:pt x="0" y="0"/>
                </a:moveTo>
                <a:cubicBezTo>
                  <a:pt x="14014" y="17517"/>
                  <a:pt x="25009" y="37953"/>
                  <a:pt x="42041" y="52552"/>
                </a:cubicBezTo>
                <a:cubicBezTo>
                  <a:pt x="50453" y="59762"/>
                  <a:pt x="63663" y="58107"/>
                  <a:pt x="73572" y="63062"/>
                </a:cubicBezTo>
                <a:cubicBezTo>
                  <a:pt x="84870" y="68711"/>
                  <a:pt x="94135" y="77816"/>
                  <a:pt x="105103" y="84083"/>
                </a:cubicBezTo>
                <a:cubicBezTo>
                  <a:pt x="148402" y="108825"/>
                  <a:pt x="158529" y="108898"/>
                  <a:pt x="210206" y="126124"/>
                </a:cubicBezTo>
                <a:lnTo>
                  <a:pt x="304800" y="157655"/>
                </a:lnTo>
                <a:cubicBezTo>
                  <a:pt x="315310" y="161159"/>
                  <a:pt x="325403" y="166345"/>
                  <a:pt x="336331" y="168166"/>
                </a:cubicBezTo>
                <a:cubicBezTo>
                  <a:pt x="357352" y="171669"/>
                  <a:pt x="378555" y="174211"/>
                  <a:pt x="399393" y="178676"/>
                </a:cubicBezTo>
                <a:cubicBezTo>
                  <a:pt x="460865" y="191849"/>
                  <a:pt x="479844" y="201564"/>
                  <a:pt x="536027" y="210207"/>
                </a:cubicBezTo>
                <a:cubicBezTo>
                  <a:pt x="563944" y="214502"/>
                  <a:pt x="592082" y="217214"/>
                  <a:pt x="620110" y="220717"/>
                </a:cubicBezTo>
                <a:cubicBezTo>
                  <a:pt x="634124" y="224221"/>
                  <a:pt x="647987" y="228395"/>
                  <a:pt x="662151" y="231228"/>
                </a:cubicBezTo>
                <a:cubicBezTo>
                  <a:pt x="763735" y="251545"/>
                  <a:pt x="687742" y="232058"/>
                  <a:pt x="798786" y="252248"/>
                </a:cubicBezTo>
                <a:cubicBezTo>
                  <a:pt x="812998" y="254832"/>
                  <a:pt x="826579" y="260384"/>
                  <a:pt x="840827" y="262759"/>
                </a:cubicBezTo>
                <a:cubicBezTo>
                  <a:pt x="868688" y="267403"/>
                  <a:pt x="896993" y="268974"/>
                  <a:pt x="924910" y="273269"/>
                </a:cubicBezTo>
                <a:cubicBezTo>
                  <a:pt x="942567" y="275985"/>
                  <a:pt x="959777" y="281253"/>
                  <a:pt x="977462" y="283779"/>
                </a:cubicBezTo>
                <a:cubicBezTo>
                  <a:pt x="1008868" y="288266"/>
                  <a:pt x="1040608" y="290097"/>
                  <a:pt x="1072055" y="294290"/>
                </a:cubicBezTo>
                <a:cubicBezTo>
                  <a:pt x="1267603" y="320363"/>
                  <a:pt x="952402" y="286529"/>
                  <a:pt x="1240220" y="315310"/>
                </a:cubicBezTo>
                <a:cubicBezTo>
                  <a:pt x="1337294" y="339579"/>
                  <a:pt x="1309726" y="336270"/>
                  <a:pt x="1408386" y="346841"/>
                </a:cubicBezTo>
                <a:cubicBezTo>
                  <a:pt x="1607836" y="368211"/>
                  <a:pt x="1548883" y="367862"/>
                  <a:pt x="1629103" y="367862"/>
                </a:cubicBezTo>
              </a:path>
            </a:pathLst>
          </a:custGeom>
          <a:no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Calibri"/>
              <a:ea typeface="Calibri"/>
              <a:cs typeface="Calibri"/>
              <a:sym typeface="Calibri"/>
            </a:endParaRPr>
          </a:p>
        </p:txBody>
      </p:sp>
      <p:pic>
        <p:nvPicPr>
          <p:cNvPr id="454" name="Google Shape;454;p36"/>
          <p:cNvPicPr preferRelativeResize="0"/>
          <p:nvPr/>
        </p:nvPicPr>
        <p:blipFill rotWithShape="1">
          <a:blip r:embed="rId7">
            <a:alphaModFix/>
          </a:blip>
          <a:srcRect b="0" l="0" r="0" t="0"/>
          <a:stretch/>
        </p:blipFill>
        <p:spPr>
          <a:xfrm>
            <a:off x="8665087" y="4626825"/>
            <a:ext cx="2159000" cy="1439333"/>
          </a:xfrm>
          <a:prstGeom prst="rect">
            <a:avLst/>
          </a:prstGeom>
          <a:noFill/>
          <a:ln>
            <a:noFill/>
          </a:ln>
        </p:spPr>
      </p:pic>
      <p:sp>
        <p:nvSpPr>
          <p:cNvPr id="455" name="Google Shape;455;p36"/>
          <p:cNvSpPr txBox="1"/>
          <p:nvPr/>
        </p:nvSpPr>
        <p:spPr>
          <a:xfrm>
            <a:off x="10815993" y="4746326"/>
            <a:ext cx="1335622" cy="1200329"/>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lt1"/>
                </a:solidFill>
                <a:latin typeface="Arial"/>
                <a:ea typeface="Arial"/>
                <a:cs typeface="Arial"/>
                <a:sym typeface="Arial"/>
              </a:rPr>
              <a:t>Presidential Medal of Freedom (2016)</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37"/>
          <p:cNvSpPr txBox="1"/>
          <p:nvPr>
            <p:ph idx="1" type="body"/>
          </p:nvPr>
        </p:nvSpPr>
        <p:spPr>
          <a:xfrm>
            <a:off x="5842475" y="909321"/>
            <a:ext cx="5998909" cy="5364480"/>
          </a:xfrm>
          <a:prstGeom prst="rect">
            <a:avLst/>
          </a:prstGeom>
          <a:noFill/>
          <a:ln>
            <a:noFill/>
          </a:ln>
        </p:spPr>
        <p:txBody>
          <a:bodyPr anchorCtr="0" anchor="ctr" bIns="45700" lIns="91425" spcFirstLastPara="1" rIns="91425" wrap="square" tIns="45700">
            <a:normAutofit/>
          </a:bodyPr>
          <a:lstStyle/>
          <a:p>
            <a:pPr indent="-531270" lvl="0" marL="609585" rtl="0" algn="l">
              <a:lnSpc>
                <a:spcPct val="100000"/>
              </a:lnSpc>
              <a:spcBef>
                <a:spcPts val="0"/>
              </a:spcBef>
              <a:spcAft>
                <a:spcPts val="0"/>
              </a:spcAft>
              <a:buClr>
                <a:srgbClr val="7F7F7F"/>
              </a:buClr>
              <a:buSzPts val="3420"/>
              <a:buFont typeface="Arial"/>
              <a:buChar char="•"/>
            </a:pPr>
            <a:r>
              <a:rPr lang="en-US">
                <a:solidFill>
                  <a:srgbClr val="7F7F7F"/>
                </a:solidFill>
              </a:rPr>
              <a:t>The RISC-V Instruction Set Architecture</a:t>
            </a:r>
            <a:endParaRPr/>
          </a:p>
          <a:p>
            <a:pPr indent="-531270" lvl="0" marL="609585" rtl="0" algn="l">
              <a:lnSpc>
                <a:spcPct val="100000"/>
              </a:lnSpc>
              <a:spcBef>
                <a:spcPts val="1000"/>
              </a:spcBef>
              <a:spcAft>
                <a:spcPts val="0"/>
              </a:spcAft>
              <a:buClr>
                <a:srgbClr val="7F7F7F"/>
              </a:buClr>
              <a:buSzPts val="3420"/>
              <a:buFont typeface="Arial"/>
              <a:buChar char="•"/>
            </a:pPr>
            <a:r>
              <a:rPr lang="en-US">
                <a:solidFill>
                  <a:srgbClr val="7F7F7F"/>
                </a:solidFill>
              </a:rPr>
              <a:t>Elements of Architecture: Registers</a:t>
            </a:r>
            <a:endParaRPr/>
          </a:p>
          <a:p>
            <a:pPr indent="-531270" lvl="0" marL="609585" rtl="0" algn="l">
              <a:lnSpc>
                <a:spcPct val="100000"/>
              </a:lnSpc>
              <a:spcBef>
                <a:spcPts val="1000"/>
              </a:spcBef>
              <a:spcAft>
                <a:spcPts val="0"/>
              </a:spcAft>
              <a:buClr>
                <a:srgbClr val="7F7F7F"/>
              </a:buClr>
              <a:buSzPts val="3420"/>
              <a:buFont typeface="Arial"/>
              <a:buChar char="•"/>
            </a:pPr>
            <a:r>
              <a:rPr lang="en-US">
                <a:solidFill>
                  <a:srgbClr val="7F7F7F"/>
                </a:solidFill>
              </a:rPr>
              <a:t>Add/Sub Instructions</a:t>
            </a:r>
            <a:endParaRPr/>
          </a:p>
          <a:p>
            <a:pPr indent="-531270" lvl="0" marL="609585" rtl="0" algn="l">
              <a:lnSpc>
                <a:spcPct val="100000"/>
              </a:lnSpc>
              <a:spcBef>
                <a:spcPts val="1000"/>
              </a:spcBef>
              <a:spcAft>
                <a:spcPts val="0"/>
              </a:spcAft>
              <a:buClr>
                <a:schemeClr val="lt1"/>
              </a:buClr>
              <a:buSzPts val="3420"/>
              <a:buFont typeface="Arial"/>
              <a:buChar char="•"/>
            </a:pPr>
            <a:r>
              <a:rPr lang="en-US"/>
              <a:t>Immediates</a:t>
            </a:r>
            <a:endParaRPr/>
          </a:p>
        </p:txBody>
      </p:sp>
      <p:sp>
        <p:nvSpPr>
          <p:cNvPr id="462" name="Google Shape;462;p37"/>
          <p:cNvSpPr txBox="1"/>
          <p:nvPr>
            <p:ph type="title"/>
          </p:nvPr>
        </p:nvSpPr>
        <p:spPr>
          <a:xfrm>
            <a:off x="330437" y="886850"/>
            <a:ext cx="5181600" cy="5365751"/>
          </a:xfrm>
          <a:prstGeom prst="rect">
            <a:avLst/>
          </a:prstGeom>
          <a:noFill/>
          <a:ln>
            <a:noFill/>
          </a:ln>
        </p:spPr>
        <p:txBody>
          <a:bodyPr anchorCtr="0" anchor="ctr" bIns="45700" lIns="91425" spcFirstLastPara="1" rIns="91425" wrap="square" tIns="45700">
            <a:normAutofit/>
          </a:bodyPr>
          <a:lstStyle/>
          <a:p>
            <a:pPr indent="0" lvl="0" marL="78315" rtl="0" algn="l">
              <a:lnSpc>
                <a:spcPct val="90000"/>
              </a:lnSpc>
              <a:spcBef>
                <a:spcPts val="0"/>
              </a:spcBef>
              <a:spcAft>
                <a:spcPts val="0"/>
              </a:spcAft>
              <a:buClr>
                <a:schemeClr val="accent3"/>
              </a:buClr>
              <a:buSzPts val="5800"/>
              <a:buFont typeface="Arial"/>
              <a:buNone/>
            </a:pPr>
            <a:r>
              <a:rPr lang="en-US"/>
              <a:t>Immediates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38"/>
          <p:cNvSpPr txBox="1"/>
          <p:nvPr>
            <p:ph type="title"/>
          </p:nvPr>
        </p:nvSpPr>
        <p:spPr>
          <a:xfrm>
            <a:off x="1104901" y="76199"/>
            <a:ext cx="10509504" cy="76809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2"/>
              </a:buClr>
              <a:buSzPts val="4200"/>
              <a:buFont typeface="Arial"/>
              <a:buNone/>
            </a:pPr>
            <a:r>
              <a:rPr lang="en-US"/>
              <a:t>Immediates</a:t>
            </a:r>
            <a:endParaRPr/>
          </a:p>
        </p:txBody>
      </p:sp>
      <p:sp>
        <p:nvSpPr>
          <p:cNvPr id="469" name="Google Shape;469;p38"/>
          <p:cNvSpPr txBox="1"/>
          <p:nvPr>
            <p:ph idx="1" type="body"/>
          </p:nvPr>
        </p:nvSpPr>
        <p:spPr>
          <a:xfrm>
            <a:off x="288413" y="916711"/>
            <a:ext cx="11795340" cy="5347356"/>
          </a:xfrm>
          <a:prstGeom prst="rect">
            <a:avLst/>
          </a:prstGeom>
          <a:noFill/>
          <a:ln>
            <a:noFill/>
          </a:ln>
        </p:spPr>
        <p:txBody>
          <a:bodyPr anchorCtr="0" anchor="t" bIns="45700" lIns="91425" spcFirstLastPara="1" rIns="91425" wrap="square" tIns="45700">
            <a:normAutofit/>
          </a:bodyPr>
          <a:lstStyle/>
          <a:p>
            <a:pPr indent="-382588" lvl="0" marL="468313" rtl="0" algn="l">
              <a:lnSpc>
                <a:spcPct val="100000"/>
              </a:lnSpc>
              <a:spcBef>
                <a:spcPts val="0"/>
              </a:spcBef>
              <a:spcAft>
                <a:spcPts val="0"/>
              </a:spcAft>
              <a:buClr>
                <a:schemeClr val="accent4"/>
              </a:buClr>
              <a:buSzPts val="2660"/>
              <a:buChar char="▪"/>
            </a:pPr>
            <a:r>
              <a:rPr b="0" lang="en-US" sz="2800">
                <a:solidFill>
                  <a:schemeClr val="accent4"/>
                </a:solidFill>
                <a:latin typeface="Arial"/>
                <a:ea typeface="Arial"/>
                <a:cs typeface="Arial"/>
                <a:sym typeface="Arial"/>
              </a:rPr>
              <a:t>Immediates</a:t>
            </a:r>
            <a:r>
              <a:rPr lang="en-US" sz="2800"/>
              <a:t> are numerical constants.</a:t>
            </a:r>
            <a:endParaRPr/>
          </a:p>
          <a:p>
            <a:pPr indent="-382588" lvl="1" marL="768872" rtl="0" algn="l">
              <a:lnSpc>
                <a:spcPct val="100000"/>
              </a:lnSpc>
              <a:spcBef>
                <a:spcPts val="500"/>
              </a:spcBef>
              <a:spcAft>
                <a:spcPts val="0"/>
              </a:spcAft>
              <a:buClr>
                <a:schemeClr val="accent2"/>
              </a:buClr>
              <a:buSzPts val="2160"/>
              <a:buChar char="▫"/>
            </a:pPr>
            <a:r>
              <a:rPr lang="en-US" sz="2400"/>
              <a:t>They appear often in code; hence, they have separate instructions.</a:t>
            </a:r>
            <a:endParaRPr/>
          </a:p>
          <a:p>
            <a:pPr indent="-382588" lvl="0" marL="468313" rtl="0" algn="l">
              <a:lnSpc>
                <a:spcPct val="100000"/>
              </a:lnSpc>
              <a:spcBef>
                <a:spcPts val="1000"/>
              </a:spcBef>
              <a:spcAft>
                <a:spcPts val="0"/>
              </a:spcAft>
              <a:buClr>
                <a:schemeClr val="accent4"/>
              </a:buClr>
              <a:buSzPts val="2660"/>
              <a:buChar char="▪"/>
            </a:pPr>
            <a:r>
              <a:rPr b="0" lang="en-US" sz="2800">
                <a:solidFill>
                  <a:schemeClr val="accent4"/>
                </a:solidFill>
                <a:latin typeface="Arial"/>
                <a:ea typeface="Arial"/>
                <a:cs typeface="Arial"/>
                <a:sym typeface="Arial"/>
              </a:rPr>
              <a:t>Add Immediate </a:t>
            </a:r>
            <a:r>
              <a:rPr lang="en-US" sz="2800"/>
              <a:t>instruction:</a:t>
            </a:r>
            <a:endParaRPr/>
          </a:p>
          <a:p>
            <a:pPr indent="-213678" lvl="0" marL="468313" rtl="0" algn="l">
              <a:lnSpc>
                <a:spcPct val="100000"/>
              </a:lnSpc>
              <a:spcBef>
                <a:spcPts val="1000"/>
              </a:spcBef>
              <a:spcAft>
                <a:spcPts val="0"/>
              </a:spcAft>
              <a:buClr>
                <a:schemeClr val="lt1"/>
              </a:buClr>
              <a:buSzPts val="2660"/>
              <a:buNone/>
            </a:pPr>
            <a:r>
              <a:t/>
            </a:r>
            <a:endParaRPr sz="2800"/>
          </a:p>
          <a:p>
            <a:pPr indent="0" lvl="0" marL="85725" rtl="0" algn="l">
              <a:lnSpc>
                <a:spcPct val="100000"/>
              </a:lnSpc>
              <a:spcBef>
                <a:spcPts val="1000"/>
              </a:spcBef>
              <a:spcAft>
                <a:spcPts val="0"/>
              </a:spcAft>
              <a:buClr>
                <a:schemeClr val="lt1"/>
              </a:buClr>
              <a:buSzPts val="2660"/>
              <a:buNone/>
            </a:pPr>
            <a:r>
              <a:t/>
            </a:r>
            <a:endParaRPr sz="2800"/>
          </a:p>
        </p:txBody>
      </p:sp>
      <p:sp>
        <p:nvSpPr>
          <p:cNvPr id="470" name="Google Shape;470;p38"/>
          <p:cNvSpPr txBox="1"/>
          <p:nvPr/>
        </p:nvSpPr>
        <p:spPr>
          <a:xfrm>
            <a:off x="730054" y="2386612"/>
            <a:ext cx="1018200" cy="11235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900">
                <a:solidFill>
                  <a:schemeClr val="accent2"/>
                </a:solidFill>
                <a:latin typeface="Arial"/>
                <a:ea typeface="Arial"/>
                <a:cs typeface="Arial"/>
                <a:sym typeface="Arial"/>
              </a:rPr>
              <a:t>RISC-V</a:t>
            </a:r>
            <a:br>
              <a:rPr lang="en-US" sz="2400">
                <a:solidFill>
                  <a:schemeClr val="accent1"/>
                </a:solidFill>
                <a:latin typeface="Arial"/>
                <a:ea typeface="Arial"/>
                <a:cs typeface="Arial"/>
                <a:sym typeface="Arial"/>
              </a:rPr>
            </a:br>
            <a:endParaRPr sz="2400">
              <a:solidFill>
                <a:schemeClr val="accent1"/>
              </a:solidFill>
              <a:latin typeface="Arial"/>
              <a:ea typeface="Arial"/>
              <a:cs typeface="Arial"/>
              <a:sym typeface="Arial"/>
            </a:endParaRPr>
          </a:p>
          <a:p>
            <a:pPr indent="0" lvl="0" marL="0" marR="0" rtl="0" algn="r">
              <a:spcBef>
                <a:spcPts val="0"/>
              </a:spcBef>
              <a:spcAft>
                <a:spcPts val="0"/>
              </a:spcAft>
              <a:buNone/>
            </a:pPr>
            <a:r>
              <a:rPr lang="en-US" sz="2400">
                <a:solidFill>
                  <a:schemeClr val="lt1"/>
                </a:solidFill>
                <a:latin typeface="Arial"/>
                <a:ea typeface="Arial"/>
                <a:cs typeface="Arial"/>
                <a:sym typeface="Arial"/>
              </a:rPr>
              <a:t>C</a:t>
            </a:r>
            <a:endParaRPr/>
          </a:p>
        </p:txBody>
      </p:sp>
      <p:sp>
        <p:nvSpPr>
          <p:cNvPr id="471" name="Google Shape;471;p38"/>
          <p:cNvSpPr txBox="1"/>
          <p:nvPr/>
        </p:nvSpPr>
        <p:spPr>
          <a:xfrm>
            <a:off x="2036211" y="2386612"/>
            <a:ext cx="26581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Courier New"/>
                <a:ea typeface="Courier New"/>
                <a:cs typeface="Courier New"/>
                <a:sym typeface="Courier New"/>
              </a:rPr>
              <a:t>addi x3,x4,</a:t>
            </a:r>
            <a:r>
              <a:rPr b="1" lang="en-US" sz="2400">
                <a:solidFill>
                  <a:schemeClr val="accent3"/>
                </a:solidFill>
                <a:latin typeface="Courier New"/>
                <a:ea typeface="Courier New"/>
                <a:cs typeface="Courier New"/>
                <a:sym typeface="Courier New"/>
              </a:rPr>
              <a:t>10</a:t>
            </a:r>
            <a:br>
              <a:rPr b="1" lang="en-US" sz="2400">
                <a:solidFill>
                  <a:schemeClr val="accent3"/>
                </a:solidFill>
                <a:latin typeface="Courier New"/>
                <a:ea typeface="Courier New"/>
                <a:cs typeface="Courier New"/>
                <a:sym typeface="Courier New"/>
              </a:rPr>
            </a:br>
            <a:endParaRPr b="1" sz="2400">
              <a:solidFill>
                <a:schemeClr val="accent3"/>
              </a:solidFill>
              <a:latin typeface="Courier New"/>
              <a:ea typeface="Courier New"/>
              <a:cs typeface="Courier New"/>
              <a:sym typeface="Courier New"/>
            </a:endParaRPr>
          </a:p>
          <a:p>
            <a:pPr indent="0" lvl="0" marL="0" marR="0" rtl="0" algn="l">
              <a:spcBef>
                <a:spcPts val="0"/>
              </a:spcBef>
              <a:spcAft>
                <a:spcPts val="0"/>
              </a:spcAft>
              <a:buNone/>
            </a:pPr>
            <a:r>
              <a:rPr b="1" lang="en-US" sz="2400">
                <a:solidFill>
                  <a:schemeClr val="lt1"/>
                </a:solidFill>
                <a:latin typeface="Courier New"/>
                <a:ea typeface="Courier New"/>
                <a:cs typeface="Courier New"/>
                <a:sym typeface="Courier New"/>
              </a:rPr>
              <a:t>f = g </a:t>
            </a:r>
            <a:r>
              <a:rPr b="1" lang="en-US" sz="2400">
                <a:solidFill>
                  <a:schemeClr val="accent3"/>
                </a:solidFill>
                <a:latin typeface="Courier New"/>
                <a:ea typeface="Courier New"/>
                <a:cs typeface="Courier New"/>
                <a:sym typeface="Courier New"/>
              </a:rPr>
              <a:t>+ 10</a:t>
            </a:r>
            <a:r>
              <a:rPr b="1" lang="en-US" sz="2400">
                <a:solidFill>
                  <a:schemeClr val="lt1"/>
                </a:solidFill>
                <a:latin typeface="Courier New"/>
                <a:ea typeface="Courier New"/>
                <a:cs typeface="Courier New"/>
                <a:sym typeface="Courier New"/>
              </a:rPr>
              <a:t>;</a:t>
            </a:r>
            <a:endParaRPr/>
          </a:p>
        </p:txBody>
      </p:sp>
      <p:sp>
        <p:nvSpPr>
          <p:cNvPr id="472" name="Google Shape;472;p38"/>
          <p:cNvSpPr/>
          <p:nvPr/>
        </p:nvSpPr>
        <p:spPr>
          <a:xfrm>
            <a:off x="2253030" y="2839131"/>
            <a:ext cx="917466" cy="326572"/>
          </a:xfrm>
          <a:custGeom>
            <a:rect b="b" l="l" r="r" t="t"/>
            <a:pathLst>
              <a:path extrusionOk="0" h="413657" w="816586">
                <a:moveTo>
                  <a:pt x="816586" y="0"/>
                </a:moveTo>
                <a:cubicBezTo>
                  <a:pt x="813925" y="13305"/>
                  <a:pt x="795769" y="115796"/>
                  <a:pt x="783929" y="119743"/>
                </a:cubicBezTo>
                <a:cubicBezTo>
                  <a:pt x="774523" y="122878"/>
                  <a:pt x="695177" y="151181"/>
                  <a:pt x="675072" y="152400"/>
                </a:cubicBezTo>
                <a:cubicBezTo>
                  <a:pt x="569974" y="158770"/>
                  <a:pt x="464615" y="159657"/>
                  <a:pt x="359386" y="163286"/>
                </a:cubicBezTo>
                <a:cubicBezTo>
                  <a:pt x="263565" y="182451"/>
                  <a:pt x="345787" y="167053"/>
                  <a:pt x="228758" y="185057"/>
                </a:cubicBezTo>
                <a:cubicBezTo>
                  <a:pt x="206943" y="188413"/>
                  <a:pt x="184857" y="190590"/>
                  <a:pt x="163444" y="195943"/>
                </a:cubicBezTo>
                <a:cubicBezTo>
                  <a:pt x="141180" y="201509"/>
                  <a:pt x="98129" y="217714"/>
                  <a:pt x="98129" y="217714"/>
                </a:cubicBezTo>
                <a:cubicBezTo>
                  <a:pt x="83615" y="232228"/>
                  <a:pt x="61077" y="241784"/>
                  <a:pt x="54586" y="261257"/>
                </a:cubicBezTo>
                <a:cubicBezTo>
                  <a:pt x="40456" y="303651"/>
                  <a:pt x="51815" y="285800"/>
                  <a:pt x="21929" y="315686"/>
                </a:cubicBezTo>
                <a:cubicBezTo>
                  <a:pt x="-3284" y="391327"/>
                  <a:pt x="158" y="358051"/>
                  <a:pt x="158" y="413657"/>
                </a:cubicBezTo>
              </a:path>
            </a:pathLst>
          </a:custGeom>
          <a:noFill/>
          <a:ln cap="flat" cmpd="sng" w="2857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Calibri"/>
              <a:ea typeface="Calibri"/>
              <a:cs typeface="Calibri"/>
              <a:sym typeface="Calibri"/>
            </a:endParaRPr>
          </a:p>
        </p:txBody>
      </p:sp>
      <p:sp>
        <p:nvSpPr>
          <p:cNvPr id="473" name="Google Shape;473;p38"/>
          <p:cNvSpPr/>
          <p:nvPr/>
        </p:nvSpPr>
        <p:spPr>
          <a:xfrm>
            <a:off x="3069459" y="2839131"/>
            <a:ext cx="699242" cy="326572"/>
          </a:xfrm>
          <a:custGeom>
            <a:rect b="b" l="l" r="r" t="t"/>
            <a:pathLst>
              <a:path extrusionOk="0" h="326572" w="391885">
                <a:moveTo>
                  <a:pt x="391885" y="0"/>
                </a:moveTo>
                <a:cubicBezTo>
                  <a:pt x="388257" y="18143"/>
                  <a:pt x="388288" y="37423"/>
                  <a:pt x="381000" y="54429"/>
                </a:cubicBezTo>
                <a:cubicBezTo>
                  <a:pt x="376957" y="63862"/>
                  <a:pt x="367242" y="69789"/>
                  <a:pt x="359228" y="76200"/>
                </a:cubicBezTo>
                <a:cubicBezTo>
                  <a:pt x="322260" y="105775"/>
                  <a:pt x="313052" y="102478"/>
                  <a:pt x="261257" y="119743"/>
                </a:cubicBezTo>
                <a:lnTo>
                  <a:pt x="163285" y="152400"/>
                </a:lnTo>
                <a:lnTo>
                  <a:pt x="130628" y="163286"/>
                </a:lnTo>
                <a:cubicBezTo>
                  <a:pt x="119742" y="166915"/>
                  <a:pt x="107518" y="167807"/>
                  <a:pt x="97971" y="174172"/>
                </a:cubicBezTo>
                <a:lnTo>
                  <a:pt x="65314" y="195943"/>
                </a:lnTo>
                <a:cubicBezTo>
                  <a:pt x="58057" y="206829"/>
                  <a:pt x="48856" y="216645"/>
                  <a:pt x="43543" y="228600"/>
                </a:cubicBezTo>
                <a:cubicBezTo>
                  <a:pt x="34222" y="249571"/>
                  <a:pt x="34501" y="274820"/>
                  <a:pt x="21771" y="293915"/>
                </a:cubicBezTo>
                <a:lnTo>
                  <a:pt x="0" y="326572"/>
                </a:lnTo>
              </a:path>
            </a:pathLst>
          </a:custGeom>
          <a:noFill/>
          <a:ln cap="flat" cmpd="sng" w="2857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Calibri"/>
              <a:ea typeface="Calibri"/>
              <a:cs typeface="Calibri"/>
              <a:sym typeface="Calibri"/>
            </a:endParaRPr>
          </a:p>
        </p:txBody>
      </p:sp>
      <p:sp>
        <p:nvSpPr>
          <p:cNvPr id="474" name="Google Shape;474;p38"/>
          <p:cNvSpPr txBox="1"/>
          <p:nvPr/>
        </p:nvSpPr>
        <p:spPr>
          <a:xfrm>
            <a:off x="5869196" y="2312429"/>
            <a:ext cx="6214558"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accent1"/>
                </a:solidFill>
                <a:latin typeface="Arial"/>
                <a:ea typeface="Arial"/>
                <a:cs typeface="Arial"/>
                <a:sym typeface="Arial"/>
              </a:rPr>
              <a:t>Syntax similar to </a:t>
            </a:r>
            <a:r>
              <a:rPr b="1" lang="en-US" sz="2400">
                <a:solidFill>
                  <a:schemeClr val="accent1"/>
                </a:solidFill>
                <a:latin typeface="Courier New"/>
                <a:ea typeface="Courier New"/>
                <a:cs typeface="Courier New"/>
                <a:sym typeface="Courier New"/>
              </a:rPr>
              <a:t>add</a:t>
            </a:r>
            <a:r>
              <a:rPr lang="en-US" sz="2400">
                <a:solidFill>
                  <a:schemeClr val="accent1"/>
                </a:solidFill>
                <a:latin typeface="Arial"/>
                <a:ea typeface="Arial"/>
                <a:cs typeface="Arial"/>
                <a:sym typeface="Arial"/>
              </a:rPr>
              <a:t> instruction. But the</a:t>
            </a:r>
            <a:br>
              <a:rPr lang="en-US" sz="2400">
                <a:solidFill>
                  <a:schemeClr val="accent1"/>
                </a:solidFill>
                <a:latin typeface="Arial"/>
                <a:ea typeface="Arial"/>
                <a:cs typeface="Arial"/>
                <a:sym typeface="Arial"/>
              </a:rPr>
            </a:br>
            <a:r>
              <a:rPr i="1" lang="en-US" sz="2400">
                <a:solidFill>
                  <a:schemeClr val="accent4"/>
                </a:solidFill>
                <a:latin typeface="Arial"/>
                <a:ea typeface="Arial"/>
                <a:cs typeface="Arial"/>
                <a:sym typeface="Arial"/>
              </a:rPr>
              <a:t>last</a:t>
            </a:r>
            <a:r>
              <a:rPr lang="en-US" sz="2400">
                <a:solidFill>
                  <a:schemeClr val="accent4"/>
                </a:solidFill>
                <a:latin typeface="Arial"/>
                <a:ea typeface="Arial"/>
                <a:cs typeface="Arial"/>
                <a:sym typeface="Arial"/>
              </a:rPr>
              <a:t> </a:t>
            </a:r>
            <a:r>
              <a:rPr i="1" lang="en-US" sz="2400">
                <a:solidFill>
                  <a:schemeClr val="accent4"/>
                </a:solidFill>
                <a:latin typeface="Arial"/>
                <a:ea typeface="Arial"/>
                <a:cs typeface="Arial"/>
                <a:sym typeface="Arial"/>
              </a:rPr>
              <a:t>operand</a:t>
            </a:r>
            <a:r>
              <a:rPr lang="en-US" sz="2400">
                <a:solidFill>
                  <a:schemeClr val="accent4"/>
                </a:solidFill>
                <a:latin typeface="Arial"/>
                <a:ea typeface="Arial"/>
                <a:cs typeface="Arial"/>
                <a:sym typeface="Arial"/>
              </a:rPr>
              <a:t> </a:t>
            </a:r>
            <a:r>
              <a:rPr lang="en-US" sz="2400">
                <a:solidFill>
                  <a:schemeClr val="accent1"/>
                </a:solidFill>
                <a:latin typeface="Arial"/>
                <a:ea typeface="Arial"/>
                <a:cs typeface="Arial"/>
                <a:sym typeface="Arial"/>
              </a:rPr>
              <a:t>must be </a:t>
            </a:r>
            <a:r>
              <a:rPr i="1" lang="en-US" sz="2400">
                <a:solidFill>
                  <a:schemeClr val="accent4"/>
                </a:solidFill>
                <a:latin typeface="Arial"/>
                <a:ea typeface="Arial"/>
                <a:cs typeface="Arial"/>
                <a:sym typeface="Arial"/>
              </a:rPr>
              <a:t>a number</a:t>
            </a:r>
            <a:r>
              <a:rPr lang="en-US" sz="2400">
                <a:solidFill>
                  <a:schemeClr val="accent1"/>
                </a:solidFill>
                <a:latin typeface="Arial"/>
                <a:ea typeface="Arial"/>
                <a:cs typeface="Arial"/>
                <a:sym typeface="Arial"/>
              </a:rPr>
              <a:t>, not a register.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xEl>
                                              <p:pRg end="1" st="1"/>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1">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39"/>
          <p:cNvSpPr txBox="1"/>
          <p:nvPr>
            <p:ph type="title"/>
          </p:nvPr>
        </p:nvSpPr>
        <p:spPr>
          <a:xfrm>
            <a:off x="1104901" y="76199"/>
            <a:ext cx="10509504" cy="76809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2"/>
              </a:buClr>
              <a:buSzPts val="4200"/>
              <a:buFont typeface="Arial"/>
              <a:buNone/>
            </a:pPr>
            <a:r>
              <a:rPr lang="en-US"/>
              <a:t>Immediates</a:t>
            </a:r>
            <a:endParaRPr/>
          </a:p>
        </p:txBody>
      </p:sp>
      <p:sp>
        <p:nvSpPr>
          <p:cNvPr id="481" name="Google Shape;481;p39"/>
          <p:cNvSpPr txBox="1"/>
          <p:nvPr>
            <p:ph idx="1" type="body"/>
          </p:nvPr>
        </p:nvSpPr>
        <p:spPr>
          <a:xfrm>
            <a:off x="288413" y="916711"/>
            <a:ext cx="11795340" cy="5347356"/>
          </a:xfrm>
          <a:prstGeom prst="rect">
            <a:avLst/>
          </a:prstGeom>
          <a:noFill/>
          <a:ln>
            <a:noFill/>
          </a:ln>
        </p:spPr>
        <p:txBody>
          <a:bodyPr anchorCtr="0" anchor="t" bIns="45700" lIns="91425" spcFirstLastPara="1" rIns="91425" wrap="square" tIns="45700">
            <a:normAutofit/>
          </a:bodyPr>
          <a:lstStyle/>
          <a:p>
            <a:pPr indent="-382588" lvl="0" marL="468313" rtl="0" algn="l">
              <a:lnSpc>
                <a:spcPct val="100000"/>
              </a:lnSpc>
              <a:spcBef>
                <a:spcPts val="0"/>
              </a:spcBef>
              <a:spcAft>
                <a:spcPts val="0"/>
              </a:spcAft>
              <a:buClr>
                <a:srgbClr val="7F7F7F"/>
              </a:buClr>
              <a:buSzPts val="2660"/>
              <a:buChar char="▪"/>
            </a:pPr>
            <a:r>
              <a:rPr b="0" lang="en-US" sz="2800">
                <a:solidFill>
                  <a:srgbClr val="7F7F7F"/>
                </a:solidFill>
                <a:latin typeface="Arial"/>
                <a:ea typeface="Arial"/>
                <a:cs typeface="Arial"/>
                <a:sym typeface="Arial"/>
              </a:rPr>
              <a:t>Immediates</a:t>
            </a:r>
            <a:r>
              <a:rPr lang="en-US" sz="2800">
                <a:solidFill>
                  <a:srgbClr val="7F7F7F"/>
                </a:solidFill>
              </a:rPr>
              <a:t> are numerical constants.</a:t>
            </a:r>
            <a:endParaRPr/>
          </a:p>
          <a:p>
            <a:pPr indent="-382588" lvl="1" marL="768872" rtl="0" algn="l">
              <a:lnSpc>
                <a:spcPct val="100000"/>
              </a:lnSpc>
              <a:spcBef>
                <a:spcPts val="500"/>
              </a:spcBef>
              <a:spcAft>
                <a:spcPts val="0"/>
              </a:spcAft>
              <a:buClr>
                <a:srgbClr val="7F7F7F"/>
              </a:buClr>
              <a:buSzPts val="2160"/>
              <a:buChar char="▫"/>
            </a:pPr>
            <a:r>
              <a:rPr lang="en-US" sz="2400">
                <a:solidFill>
                  <a:srgbClr val="7F7F7F"/>
                </a:solidFill>
              </a:rPr>
              <a:t>They appear often in code; hence, they have separate instructions.</a:t>
            </a:r>
            <a:endParaRPr/>
          </a:p>
          <a:p>
            <a:pPr indent="-382588" lvl="0" marL="468313" rtl="0" algn="l">
              <a:lnSpc>
                <a:spcPct val="100000"/>
              </a:lnSpc>
              <a:spcBef>
                <a:spcPts val="1000"/>
              </a:spcBef>
              <a:spcAft>
                <a:spcPts val="0"/>
              </a:spcAft>
              <a:buClr>
                <a:srgbClr val="7F7F7F"/>
              </a:buClr>
              <a:buSzPts val="2660"/>
              <a:buChar char="▪"/>
            </a:pPr>
            <a:r>
              <a:rPr b="0" lang="en-US" sz="2800">
                <a:solidFill>
                  <a:srgbClr val="7F7F7F"/>
                </a:solidFill>
                <a:latin typeface="Arial"/>
                <a:ea typeface="Arial"/>
                <a:cs typeface="Arial"/>
                <a:sym typeface="Arial"/>
              </a:rPr>
              <a:t>Add Immediate </a:t>
            </a:r>
            <a:r>
              <a:rPr lang="en-US" sz="2800">
                <a:solidFill>
                  <a:srgbClr val="7F7F7F"/>
                </a:solidFill>
              </a:rPr>
              <a:t>instruction:</a:t>
            </a:r>
            <a:endParaRPr/>
          </a:p>
          <a:p>
            <a:pPr indent="-213678" lvl="0" marL="468313" rtl="0" algn="l">
              <a:lnSpc>
                <a:spcPct val="100000"/>
              </a:lnSpc>
              <a:spcBef>
                <a:spcPts val="1000"/>
              </a:spcBef>
              <a:spcAft>
                <a:spcPts val="0"/>
              </a:spcAft>
              <a:buClr>
                <a:schemeClr val="lt1"/>
              </a:buClr>
              <a:buSzPts val="2660"/>
              <a:buNone/>
            </a:pPr>
            <a:r>
              <a:t/>
            </a:r>
            <a:endParaRPr sz="2800"/>
          </a:p>
          <a:p>
            <a:pPr indent="0" lvl="0" marL="85725" rtl="0" algn="l">
              <a:lnSpc>
                <a:spcPct val="100000"/>
              </a:lnSpc>
              <a:spcBef>
                <a:spcPts val="1000"/>
              </a:spcBef>
              <a:spcAft>
                <a:spcPts val="0"/>
              </a:spcAft>
              <a:buClr>
                <a:schemeClr val="lt1"/>
              </a:buClr>
              <a:buSzPts val="2660"/>
              <a:buNone/>
            </a:pPr>
            <a:r>
              <a:t/>
            </a:r>
            <a:endParaRPr sz="2800"/>
          </a:p>
          <a:p>
            <a:pPr indent="-382588" lvl="0" marL="468313" rtl="0" algn="l">
              <a:lnSpc>
                <a:spcPct val="100000"/>
              </a:lnSpc>
              <a:spcBef>
                <a:spcPts val="1000"/>
              </a:spcBef>
              <a:spcAft>
                <a:spcPts val="0"/>
              </a:spcAft>
              <a:buClr>
                <a:schemeClr val="lt1"/>
              </a:buClr>
              <a:buSzPts val="2660"/>
              <a:buChar char="▪"/>
            </a:pPr>
            <a:r>
              <a:rPr lang="en-US" sz="2800"/>
              <a:t>There is no </a:t>
            </a:r>
            <a:r>
              <a:rPr b="0" lang="en-US" sz="2800">
                <a:solidFill>
                  <a:schemeClr val="accent4"/>
                </a:solidFill>
                <a:latin typeface="Arial"/>
                <a:ea typeface="Arial"/>
                <a:cs typeface="Arial"/>
                <a:sym typeface="Arial"/>
              </a:rPr>
              <a:t>Subtract Immediate </a:t>
            </a:r>
            <a:r>
              <a:rPr lang="en-US" sz="2800"/>
              <a:t>instruction in RISC-V. Why? </a:t>
            </a:r>
            <a:endParaRPr/>
          </a:p>
          <a:p>
            <a:pPr indent="-382588" lvl="1" marL="768872" rtl="0" algn="l">
              <a:lnSpc>
                <a:spcPct val="100000"/>
              </a:lnSpc>
              <a:spcBef>
                <a:spcPts val="500"/>
              </a:spcBef>
              <a:spcAft>
                <a:spcPts val="0"/>
              </a:spcAft>
              <a:buClr>
                <a:schemeClr val="accent2"/>
              </a:buClr>
              <a:buSzPts val="2160"/>
              <a:buChar char="▫"/>
            </a:pPr>
            <a:r>
              <a:rPr lang="en-US" sz="2400"/>
              <a:t>While there are </a:t>
            </a:r>
            <a:r>
              <a:rPr b="1" lang="en-US" sz="2400">
                <a:latin typeface="Courier New"/>
                <a:ea typeface="Courier New"/>
                <a:cs typeface="Courier New"/>
                <a:sym typeface="Courier New"/>
              </a:rPr>
              <a:t>add</a:t>
            </a:r>
            <a:r>
              <a:rPr lang="en-US" sz="2400"/>
              <a:t> and </a:t>
            </a:r>
            <a:r>
              <a:rPr b="1" lang="en-US" sz="2400">
                <a:latin typeface="Courier New"/>
                <a:ea typeface="Courier New"/>
                <a:cs typeface="Courier New"/>
                <a:sym typeface="Courier New"/>
              </a:rPr>
              <a:t>sub</a:t>
            </a:r>
            <a:r>
              <a:rPr lang="en-US" sz="2400"/>
              <a:t> instructions, to subtract an immediate, just use </a:t>
            </a:r>
            <a:r>
              <a:rPr b="1" lang="en-US" sz="2400">
                <a:latin typeface="Courier New"/>
                <a:ea typeface="Courier New"/>
                <a:cs typeface="Courier New"/>
                <a:sym typeface="Courier New"/>
              </a:rPr>
              <a:t>addi</a:t>
            </a:r>
            <a:r>
              <a:rPr lang="en-US" sz="2400"/>
              <a:t>:</a:t>
            </a:r>
            <a:endParaRPr/>
          </a:p>
          <a:p>
            <a:pPr indent="-245428" lvl="1" marL="768872" rtl="0" algn="l">
              <a:lnSpc>
                <a:spcPct val="100000"/>
              </a:lnSpc>
              <a:spcBef>
                <a:spcPts val="500"/>
              </a:spcBef>
              <a:spcAft>
                <a:spcPts val="0"/>
              </a:spcAft>
              <a:buClr>
                <a:schemeClr val="accent2"/>
              </a:buClr>
              <a:buSzPts val="2160"/>
              <a:buNone/>
            </a:pPr>
            <a:r>
              <a:t/>
            </a:r>
            <a:endParaRPr sz="2400"/>
          </a:p>
          <a:p>
            <a:pPr indent="-214197" lvl="0" marL="467771" rtl="0" algn="l">
              <a:lnSpc>
                <a:spcPct val="100000"/>
              </a:lnSpc>
              <a:spcBef>
                <a:spcPts val="1000"/>
              </a:spcBef>
              <a:spcAft>
                <a:spcPts val="0"/>
              </a:spcAft>
              <a:buClr>
                <a:schemeClr val="lt1"/>
              </a:buClr>
              <a:buSzPts val="2660"/>
              <a:buNone/>
            </a:pPr>
            <a:r>
              <a:t/>
            </a:r>
            <a:endParaRPr sz="2800"/>
          </a:p>
        </p:txBody>
      </p:sp>
      <p:sp>
        <p:nvSpPr>
          <p:cNvPr id="482" name="Google Shape;482;p39"/>
          <p:cNvSpPr txBox="1"/>
          <p:nvPr/>
        </p:nvSpPr>
        <p:spPr>
          <a:xfrm>
            <a:off x="730054" y="2386612"/>
            <a:ext cx="1018292" cy="1200329"/>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400">
                <a:solidFill>
                  <a:srgbClr val="7F7F7F"/>
                </a:solidFill>
                <a:latin typeface="Arial"/>
                <a:ea typeface="Arial"/>
                <a:cs typeface="Arial"/>
                <a:sym typeface="Arial"/>
              </a:rPr>
              <a:t>RISC-V</a:t>
            </a:r>
            <a:br>
              <a:rPr lang="en-US" sz="2400">
                <a:solidFill>
                  <a:srgbClr val="7F7F7F"/>
                </a:solidFill>
                <a:latin typeface="Arial"/>
                <a:ea typeface="Arial"/>
                <a:cs typeface="Arial"/>
                <a:sym typeface="Arial"/>
              </a:rPr>
            </a:br>
            <a:endParaRPr sz="2400">
              <a:solidFill>
                <a:srgbClr val="7F7F7F"/>
              </a:solidFill>
              <a:latin typeface="Arial"/>
              <a:ea typeface="Arial"/>
              <a:cs typeface="Arial"/>
              <a:sym typeface="Arial"/>
            </a:endParaRPr>
          </a:p>
          <a:p>
            <a:pPr indent="0" lvl="0" marL="0" marR="0" rtl="0" algn="r">
              <a:spcBef>
                <a:spcPts val="0"/>
              </a:spcBef>
              <a:spcAft>
                <a:spcPts val="0"/>
              </a:spcAft>
              <a:buNone/>
            </a:pPr>
            <a:r>
              <a:rPr lang="en-US" sz="2400">
                <a:solidFill>
                  <a:srgbClr val="7F7F7F"/>
                </a:solidFill>
                <a:latin typeface="Arial"/>
                <a:ea typeface="Arial"/>
                <a:cs typeface="Arial"/>
                <a:sym typeface="Arial"/>
              </a:rPr>
              <a:t>C</a:t>
            </a:r>
            <a:endParaRPr/>
          </a:p>
        </p:txBody>
      </p:sp>
      <p:sp>
        <p:nvSpPr>
          <p:cNvPr id="483" name="Google Shape;483;p39"/>
          <p:cNvSpPr txBox="1"/>
          <p:nvPr/>
        </p:nvSpPr>
        <p:spPr>
          <a:xfrm>
            <a:off x="2036211" y="2386612"/>
            <a:ext cx="26581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7F7F7F"/>
                </a:solidFill>
                <a:latin typeface="Courier New"/>
                <a:ea typeface="Courier New"/>
                <a:cs typeface="Courier New"/>
                <a:sym typeface="Courier New"/>
              </a:rPr>
              <a:t>addi x3,x4,10</a:t>
            </a:r>
            <a:br>
              <a:rPr b="1" lang="en-US" sz="2400">
                <a:solidFill>
                  <a:srgbClr val="7F7F7F"/>
                </a:solidFill>
                <a:latin typeface="Courier New"/>
                <a:ea typeface="Courier New"/>
                <a:cs typeface="Courier New"/>
                <a:sym typeface="Courier New"/>
              </a:rPr>
            </a:br>
            <a:endParaRPr b="1" sz="2400">
              <a:solidFill>
                <a:srgbClr val="7F7F7F"/>
              </a:solidFill>
              <a:latin typeface="Courier New"/>
              <a:ea typeface="Courier New"/>
              <a:cs typeface="Courier New"/>
              <a:sym typeface="Courier New"/>
            </a:endParaRPr>
          </a:p>
          <a:p>
            <a:pPr indent="0" lvl="0" marL="0" marR="0" rtl="0" algn="l">
              <a:spcBef>
                <a:spcPts val="0"/>
              </a:spcBef>
              <a:spcAft>
                <a:spcPts val="0"/>
              </a:spcAft>
              <a:buNone/>
            </a:pPr>
            <a:r>
              <a:rPr b="1" lang="en-US" sz="2400">
                <a:solidFill>
                  <a:srgbClr val="7F7F7F"/>
                </a:solidFill>
                <a:latin typeface="Courier New"/>
                <a:ea typeface="Courier New"/>
                <a:cs typeface="Courier New"/>
                <a:sym typeface="Courier New"/>
              </a:rPr>
              <a:t>f = g </a:t>
            </a:r>
            <a:r>
              <a:rPr b="1" lang="en-US" sz="2400">
                <a:solidFill>
                  <a:schemeClr val="accent3"/>
                </a:solidFill>
                <a:latin typeface="Courier New"/>
                <a:ea typeface="Courier New"/>
                <a:cs typeface="Courier New"/>
                <a:sym typeface="Courier New"/>
              </a:rPr>
              <a:t>+ 10</a:t>
            </a:r>
            <a:r>
              <a:rPr b="1" lang="en-US" sz="2400">
                <a:solidFill>
                  <a:srgbClr val="7F7F7F"/>
                </a:solidFill>
                <a:latin typeface="Courier New"/>
                <a:ea typeface="Courier New"/>
                <a:cs typeface="Courier New"/>
                <a:sym typeface="Courier New"/>
              </a:rPr>
              <a:t>;</a:t>
            </a:r>
            <a:endParaRPr/>
          </a:p>
        </p:txBody>
      </p:sp>
      <p:sp>
        <p:nvSpPr>
          <p:cNvPr id="484" name="Google Shape;484;p39"/>
          <p:cNvSpPr/>
          <p:nvPr/>
        </p:nvSpPr>
        <p:spPr>
          <a:xfrm>
            <a:off x="2253030" y="2839131"/>
            <a:ext cx="917466" cy="326572"/>
          </a:xfrm>
          <a:custGeom>
            <a:rect b="b" l="l" r="r" t="t"/>
            <a:pathLst>
              <a:path extrusionOk="0" h="413657" w="816586">
                <a:moveTo>
                  <a:pt x="816586" y="0"/>
                </a:moveTo>
                <a:cubicBezTo>
                  <a:pt x="813925" y="13305"/>
                  <a:pt x="795769" y="115796"/>
                  <a:pt x="783929" y="119743"/>
                </a:cubicBezTo>
                <a:cubicBezTo>
                  <a:pt x="774523" y="122878"/>
                  <a:pt x="695177" y="151181"/>
                  <a:pt x="675072" y="152400"/>
                </a:cubicBezTo>
                <a:cubicBezTo>
                  <a:pt x="569974" y="158770"/>
                  <a:pt x="464615" y="159657"/>
                  <a:pt x="359386" y="163286"/>
                </a:cubicBezTo>
                <a:cubicBezTo>
                  <a:pt x="263565" y="182451"/>
                  <a:pt x="345787" y="167053"/>
                  <a:pt x="228758" y="185057"/>
                </a:cubicBezTo>
                <a:cubicBezTo>
                  <a:pt x="206943" y="188413"/>
                  <a:pt x="184857" y="190590"/>
                  <a:pt x="163444" y="195943"/>
                </a:cubicBezTo>
                <a:cubicBezTo>
                  <a:pt x="141180" y="201509"/>
                  <a:pt x="98129" y="217714"/>
                  <a:pt x="98129" y="217714"/>
                </a:cubicBezTo>
                <a:cubicBezTo>
                  <a:pt x="83615" y="232228"/>
                  <a:pt x="61077" y="241784"/>
                  <a:pt x="54586" y="261257"/>
                </a:cubicBezTo>
                <a:cubicBezTo>
                  <a:pt x="40456" y="303651"/>
                  <a:pt x="51815" y="285800"/>
                  <a:pt x="21929" y="315686"/>
                </a:cubicBezTo>
                <a:cubicBezTo>
                  <a:pt x="-3284" y="391327"/>
                  <a:pt x="158" y="358051"/>
                  <a:pt x="158" y="413657"/>
                </a:cubicBezTo>
              </a:path>
            </a:pathLst>
          </a:custGeom>
          <a:noFill/>
          <a:ln cap="flat" cmpd="sng" w="2857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Calibri"/>
              <a:ea typeface="Calibri"/>
              <a:cs typeface="Calibri"/>
              <a:sym typeface="Calibri"/>
            </a:endParaRPr>
          </a:p>
        </p:txBody>
      </p:sp>
      <p:sp>
        <p:nvSpPr>
          <p:cNvPr id="485" name="Google Shape;485;p39"/>
          <p:cNvSpPr/>
          <p:nvPr/>
        </p:nvSpPr>
        <p:spPr>
          <a:xfrm>
            <a:off x="3069459" y="2839131"/>
            <a:ext cx="699242" cy="326572"/>
          </a:xfrm>
          <a:custGeom>
            <a:rect b="b" l="l" r="r" t="t"/>
            <a:pathLst>
              <a:path extrusionOk="0" h="326572" w="391885">
                <a:moveTo>
                  <a:pt x="391885" y="0"/>
                </a:moveTo>
                <a:cubicBezTo>
                  <a:pt x="388257" y="18143"/>
                  <a:pt x="388288" y="37423"/>
                  <a:pt x="381000" y="54429"/>
                </a:cubicBezTo>
                <a:cubicBezTo>
                  <a:pt x="376957" y="63862"/>
                  <a:pt x="367242" y="69789"/>
                  <a:pt x="359228" y="76200"/>
                </a:cubicBezTo>
                <a:cubicBezTo>
                  <a:pt x="322260" y="105775"/>
                  <a:pt x="313052" y="102478"/>
                  <a:pt x="261257" y="119743"/>
                </a:cubicBezTo>
                <a:lnTo>
                  <a:pt x="163285" y="152400"/>
                </a:lnTo>
                <a:lnTo>
                  <a:pt x="130628" y="163286"/>
                </a:lnTo>
                <a:cubicBezTo>
                  <a:pt x="119742" y="166915"/>
                  <a:pt x="107518" y="167807"/>
                  <a:pt x="97971" y="174172"/>
                </a:cubicBezTo>
                <a:lnTo>
                  <a:pt x="65314" y="195943"/>
                </a:lnTo>
                <a:cubicBezTo>
                  <a:pt x="58057" y="206829"/>
                  <a:pt x="48856" y="216645"/>
                  <a:pt x="43543" y="228600"/>
                </a:cubicBezTo>
                <a:cubicBezTo>
                  <a:pt x="34222" y="249571"/>
                  <a:pt x="34501" y="274820"/>
                  <a:pt x="21771" y="293915"/>
                </a:cubicBezTo>
                <a:lnTo>
                  <a:pt x="0" y="326572"/>
                </a:lnTo>
              </a:path>
            </a:pathLst>
          </a:custGeom>
          <a:noFill/>
          <a:ln cap="flat" cmpd="sng" w="2857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Calibri"/>
              <a:ea typeface="Calibri"/>
              <a:cs typeface="Calibri"/>
              <a:sym typeface="Calibri"/>
            </a:endParaRPr>
          </a:p>
        </p:txBody>
      </p:sp>
      <p:sp>
        <p:nvSpPr>
          <p:cNvPr id="486" name="Google Shape;486;p39"/>
          <p:cNvSpPr txBox="1"/>
          <p:nvPr/>
        </p:nvSpPr>
        <p:spPr>
          <a:xfrm>
            <a:off x="5869196" y="2312429"/>
            <a:ext cx="6214558"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7F7F7F"/>
                </a:solidFill>
                <a:latin typeface="Arial"/>
                <a:ea typeface="Arial"/>
                <a:cs typeface="Arial"/>
                <a:sym typeface="Arial"/>
              </a:rPr>
              <a:t>Syntax similar to </a:t>
            </a:r>
            <a:r>
              <a:rPr b="1" lang="en-US" sz="2400">
                <a:solidFill>
                  <a:srgbClr val="7F7F7F"/>
                </a:solidFill>
                <a:latin typeface="Courier New"/>
                <a:ea typeface="Courier New"/>
                <a:cs typeface="Courier New"/>
                <a:sym typeface="Courier New"/>
              </a:rPr>
              <a:t>add</a:t>
            </a:r>
            <a:r>
              <a:rPr lang="en-US" sz="2400">
                <a:solidFill>
                  <a:srgbClr val="7F7F7F"/>
                </a:solidFill>
                <a:latin typeface="Arial"/>
                <a:ea typeface="Arial"/>
                <a:cs typeface="Arial"/>
                <a:sym typeface="Arial"/>
              </a:rPr>
              <a:t> instruction. But the</a:t>
            </a:r>
            <a:br>
              <a:rPr lang="en-US" sz="2400">
                <a:solidFill>
                  <a:srgbClr val="7F7F7F"/>
                </a:solidFill>
                <a:latin typeface="Arial"/>
                <a:ea typeface="Arial"/>
                <a:cs typeface="Arial"/>
                <a:sym typeface="Arial"/>
              </a:rPr>
            </a:br>
            <a:r>
              <a:rPr i="1" lang="en-US" sz="2400">
                <a:solidFill>
                  <a:srgbClr val="7F7F7F"/>
                </a:solidFill>
                <a:latin typeface="Arial"/>
                <a:ea typeface="Arial"/>
                <a:cs typeface="Arial"/>
                <a:sym typeface="Arial"/>
              </a:rPr>
              <a:t>last</a:t>
            </a:r>
            <a:r>
              <a:rPr lang="en-US" sz="2400">
                <a:solidFill>
                  <a:srgbClr val="7F7F7F"/>
                </a:solidFill>
                <a:latin typeface="Arial"/>
                <a:ea typeface="Arial"/>
                <a:cs typeface="Arial"/>
                <a:sym typeface="Arial"/>
              </a:rPr>
              <a:t> </a:t>
            </a:r>
            <a:r>
              <a:rPr i="1" lang="en-US" sz="2400">
                <a:solidFill>
                  <a:srgbClr val="7F7F7F"/>
                </a:solidFill>
                <a:latin typeface="Arial"/>
                <a:ea typeface="Arial"/>
                <a:cs typeface="Arial"/>
                <a:sym typeface="Arial"/>
              </a:rPr>
              <a:t>operand</a:t>
            </a:r>
            <a:r>
              <a:rPr lang="en-US" sz="2400">
                <a:solidFill>
                  <a:srgbClr val="7F7F7F"/>
                </a:solidFill>
                <a:latin typeface="Arial"/>
                <a:ea typeface="Arial"/>
                <a:cs typeface="Arial"/>
                <a:sym typeface="Arial"/>
              </a:rPr>
              <a:t> must be </a:t>
            </a:r>
            <a:r>
              <a:rPr i="1" lang="en-US" sz="2400">
                <a:solidFill>
                  <a:srgbClr val="7F7F7F"/>
                </a:solidFill>
                <a:latin typeface="Arial"/>
                <a:ea typeface="Arial"/>
                <a:cs typeface="Arial"/>
                <a:sym typeface="Arial"/>
              </a:rPr>
              <a:t>a number</a:t>
            </a:r>
            <a:r>
              <a:rPr lang="en-US" sz="2400">
                <a:solidFill>
                  <a:srgbClr val="7F7F7F"/>
                </a:solidFill>
                <a:latin typeface="Arial"/>
                <a:ea typeface="Arial"/>
                <a:cs typeface="Arial"/>
                <a:sym typeface="Arial"/>
              </a:rPr>
              <a:t>, not a register.</a:t>
            </a:r>
            <a:endParaRPr/>
          </a:p>
        </p:txBody>
      </p:sp>
      <p:sp>
        <p:nvSpPr>
          <p:cNvPr id="487" name="Google Shape;487;p39"/>
          <p:cNvSpPr txBox="1"/>
          <p:nvPr/>
        </p:nvSpPr>
        <p:spPr>
          <a:xfrm>
            <a:off x="730054" y="4539143"/>
            <a:ext cx="1018292" cy="1200329"/>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400">
                <a:solidFill>
                  <a:schemeClr val="accent2"/>
                </a:solidFill>
                <a:latin typeface="Arial"/>
                <a:ea typeface="Arial"/>
                <a:cs typeface="Arial"/>
                <a:sym typeface="Arial"/>
              </a:rPr>
              <a:t>RISC-V</a:t>
            </a:r>
            <a:br>
              <a:rPr lang="en-US" sz="2400">
                <a:solidFill>
                  <a:schemeClr val="accent1"/>
                </a:solidFill>
                <a:latin typeface="Arial"/>
                <a:ea typeface="Arial"/>
                <a:cs typeface="Arial"/>
                <a:sym typeface="Arial"/>
              </a:rPr>
            </a:br>
            <a:endParaRPr sz="2400">
              <a:solidFill>
                <a:schemeClr val="accent1"/>
              </a:solidFill>
              <a:latin typeface="Arial"/>
              <a:ea typeface="Arial"/>
              <a:cs typeface="Arial"/>
              <a:sym typeface="Arial"/>
            </a:endParaRPr>
          </a:p>
          <a:p>
            <a:pPr indent="0" lvl="0" marL="0" marR="0" rtl="0" algn="r">
              <a:spcBef>
                <a:spcPts val="0"/>
              </a:spcBef>
              <a:spcAft>
                <a:spcPts val="0"/>
              </a:spcAft>
              <a:buNone/>
            </a:pPr>
            <a:r>
              <a:rPr lang="en-US" sz="2400">
                <a:solidFill>
                  <a:schemeClr val="lt1"/>
                </a:solidFill>
                <a:latin typeface="Arial"/>
                <a:ea typeface="Arial"/>
                <a:cs typeface="Arial"/>
                <a:sym typeface="Arial"/>
              </a:rPr>
              <a:t>C</a:t>
            </a:r>
            <a:endParaRPr/>
          </a:p>
        </p:txBody>
      </p:sp>
      <p:sp>
        <p:nvSpPr>
          <p:cNvPr id="488" name="Google Shape;488;p39"/>
          <p:cNvSpPr txBox="1"/>
          <p:nvPr/>
        </p:nvSpPr>
        <p:spPr>
          <a:xfrm>
            <a:off x="2036211" y="4539143"/>
            <a:ext cx="2848857"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Courier New"/>
                <a:ea typeface="Courier New"/>
                <a:cs typeface="Courier New"/>
                <a:sym typeface="Courier New"/>
              </a:rPr>
              <a:t>addi x3,x4,</a:t>
            </a:r>
            <a:r>
              <a:rPr b="1" lang="en-US" sz="2400">
                <a:solidFill>
                  <a:schemeClr val="accent3"/>
                </a:solidFill>
                <a:latin typeface="Courier New"/>
                <a:ea typeface="Courier New"/>
                <a:cs typeface="Courier New"/>
                <a:sym typeface="Courier New"/>
              </a:rPr>
              <a:t>-10</a:t>
            </a:r>
            <a:br>
              <a:rPr b="1" lang="en-US" sz="2400">
                <a:solidFill>
                  <a:schemeClr val="accent1"/>
                </a:solidFill>
                <a:latin typeface="Courier New"/>
                <a:ea typeface="Courier New"/>
                <a:cs typeface="Courier New"/>
                <a:sym typeface="Courier New"/>
              </a:rPr>
            </a:br>
            <a:endParaRPr b="1" sz="2400">
              <a:solidFill>
                <a:schemeClr val="accent1"/>
              </a:solidFill>
              <a:latin typeface="Courier New"/>
              <a:ea typeface="Courier New"/>
              <a:cs typeface="Courier New"/>
              <a:sym typeface="Courier New"/>
            </a:endParaRPr>
          </a:p>
          <a:p>
            <a:pPr indent="0" lvl="0" marL="0" marR="0" rtl="0" algn="l">
              <a:spcBef>
                <a:spcPts val="0"/>
              </a:spcBef>
              <a:spcAft>
                <a:spcPts val="0"/>
              </a:spcAft>
              <a:buNone/>
            </a:pPr>
            <a:r>
              <a:rPr b="1" lang="en-US" sz="2400">
                <a:solidFill>
                  <a:schemeClr val="lt1"/>
                </a:solidFill>
                <a:latin typeface="Courier New"/>
                <a:ea typeface="Courier New"/>
                <a:cs typeface="Courier New"/>
                <a:sym typeface="Courier New"/>
              </a:rPr>
              <a:t>f = g </a:t>
            </a:r>
            <a:r>
              <a:rPr b="1" lang="en-US" sz="2400">
                <a:solidFill>
                  <a:schemeClr val="accent3"/>
                </a:solidFill>
                <a:latin typeface="Courier New"/>
                <a:ea typeface="Courier New"/>
                <a:cs typeface="Courier New"/>
                <a:sym typeface="Courier New"/>
              </a:rPr>
              <a:t>- 10</a:t>
            </a:r>
            <a:r>
              <a:rPr b="1" lang="en-US" sz="2400">
                <a:solidFill>
                  <a:schemeClr val="lt1"/>
                </a:solidFill>
                <a:latin typeface="Courier New"/>
                <a:ea typeface="Courier New"/>
                <a:cs typeface="Courier New"/>
                <a:sym typeface="Courier New"/>
              </a:rPr>
              <a:t>;</a:t>
            </a:r>
            <a:endParaRPr/>
          </a:p>
        </p:txBody>
      </p:sp>
      <p:sp>
        <p:nvSpPr>
          <p:cNvPr id="489" name="Google Shape;489;p39"/>
          <p:cNvSpPr/>
          <p:nvPr/>
        </p:nvSpPr>
        <p:spPr>
          <a:xfrm>
            <a:off x="2253030" y="4991662"/>
            <a:ext cx="917466" cy="326572"/>
          </a:xfrm>
          <a:custGeom>
            <a:rect b="b" l="l" r="r" t="t"/>
            <a:pathLst>
              <a:path extrusionOk="0" h="413657" w="816586">
                <a:moveTo>
                  <a:pt x="816586" y="0"/>
                </a:moveTo>
                <a:cubicBezTo>
                  <a:pt x="813925" y="13305"/>
                  <a:pt x="795769" y="115796"/>
                  <a:pt x="783929" y="119743"/>
                </a:cubicBezTo>
                <a:cubicBezTo>
                  <a:pt x="774523" y="122878"/>
                  <a:pt x="695177" y="151181"/>
                  <a:pt x="675072" y="152400"/>
                </a:cubicBezTo>
                <a:cubicBezTo>
                  <a:pt x="569974" y="158770"/>
                  <a:pt x="464615" y="159657"/>
                  <a:pt x="359386" y="163286"/>
                </a:cubicBezTo>
                <a:cubicBezTo>
                  <a:pt x="263565" y="182451"/>
                  <a:pt x="345787" y="167053"/>
                  <a:pt x="228758" y="185057"/>
                </a:cubicBezTo>
                <a:cubicBezTo>
                  <a:pt x="206943" y="188413"/>
                  <a:pt x="184857" y="190590"/>
                  <a:pt x="163444" y="195943"/>
                </a:cubicBezTo>
                <a:cubicBezTo>
                  <a:pt x="141180" y="201509"/>
                  <a:pt x="98129" y="217714"/>
                  <a:pt x="98129" y="217714"/>
                </a:cubicBezTo>
                <a:cubicBezTo>
                  <a:pt x="83615" y="232228"/>
                  <a:pt x="61077" y="241784"/>
                  <a:pt x="54586" y="261257"/>
                </a:cubicBezTo>
                <a:cubicBezTo>
                  <a:pt x="40456" y="303651"/>
                  <a:pt x="51815" y="285800"/>
                  <a:pt x="21929" y="315686"/>
                </a:cubicBezTo>
                <a:cubicBezTo>
                  <a:pt x="-3284" y="391327"/>
                  <a:pt x="158" y="358051"/>
                  <a:pt x="158" y="413657"/>
                </a:cubicBezTo>
              </a:path>
            </a:pathLst>
          </a:custGeom>
          <a:noFill/>
          <a:ln cap="flat" cmpd="sng" w="2857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Calibri"/>
              <a:ea typeface="Calibri"/>
              <a:cs typeface="Calibri"/>
              <a:sym typeface="Calibri"/>
            </a:endParaRPr>
          </a:p>
        </p:txBody>
      </p:sp>
      <p:sp>
        <p:nvSpPr>
          <p:cNvPr id="490" name="Google Shape;490;p39"/>
          <p:cNvSpPr/>
          <p:nvPr/>
        </p:nvSpPr>
        <p:spPr>
          <a:xfrm>
            <a:off x="3069459" y="4991662"/>
            <a:ext cx="699242" cy="326572"/>
          </a:xfrm>
          <a:custGeom>
            <a:rect b="b" l="l" r="r" t="t"/>
            <a:pathLst>
              <a:path extrusionOk="0" h="326572" w="391885">
                <a:moveTo>
                  <a:pt x="391885" y="0"/>
                </a:moveTo>
                <a:cubicBezTo>
                  <a:pt x="388257" y="18143"/>
                  <a:pt x="388288" y="37423"/>
                  <a:pt x="381000" y="54429"/>
                </a:cubicBezTo>
                <a:cubicBezTo>
                  <a:pt x="376957" y="63862"/>
                  <a:pt x="367242" y="69789"/>
                  <a:pt x="359228" y="76200"/>
                </a:cubicBezTo>
                <a:cubicBezTo>
                  <a:pt x="322260" y="105775"/>
                  <a:pt x="313052" y="102478"/>
                  <a:pt x="261257" y="119743"/>
                </a:cubicBezTo>
                <a:lnTo>
                  <a:pt x="163285" y="152400"/>
                </a:lnTo>
                <a:lnTo>
                  <a:pt x="130628" y="163286"/>
                </a:lnTo>
                <a:cubicBezTo>
                  <a:pt x="119742" y="166915"/>
                  <a:pt x="107518" y="167807"/>
                  <a:pt x="97971" y="174172"/>
                </a:cubicBezTo>
                <a:lnTo>
                  <a:pt x="65314" y="195943"/>
                </a:lnTo>
                <a:cubicBezTo>
                  <a:pt x="58057" y="206829"/>
                  <a:pt x="48856" y="216645"/>
                  <a:pt x="43543" y="228600"/>
                </a:cubicBezTo>
                <a:cubicBezTo>
                  <a:pt x="34222" y="249571"/>
                  <a:pt x="34501" y="274820"/>
                  <a:pt x="21771" y="293915"/>
                </a:cubicBezTo>
                <a:lnTo>
                  <a:pt x="0" y="326572"/>
                </a:lnTo>
              </a:path>
            </a:pathLst>
          </a:custGeom>
          <a:noFill/>
          <a:ln cap="flat" cmpd="sng" w="2857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Calibri"/>
              <a:ea typeface="Calibri"/>
              <a:cs typeface="Calibri"/>
              <a:sym typeface="Calibri"/>
            </a:endParaRPr>
          </a:p>
        </p:txBody>
      </p:sp>
      <p:sp>
        <p:nvSpPr>
          <p:cNvPr id="491" name="Google Shape;491;p39"/>
          <p:cNvSpPr/>
          <p:nvPr/>
        </p:nvSpPr>
        <p:spPr>
          <a:xfrm>
            <a:off x="4119078" y="2386612"/>
            <a:ext cx="498289" cy="452519"/>
          </a:xfrm>
          <a:prstGeom prst="rect">
            <a:avLst/>
          </a:prstGeom>
          <a:noFill/>
          <a:ln cap="flat" cmpd="sng" w="28575">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dk1"/>
              </a:solidFill>
              <a:latin typeface="Arial"/>
              <a:ea typeface="Arial"/>
              <a:cs typeface="Arial"/>
              <a:sym typeface="Arial"/>
            </a:endParaRPr>
          </a:p>
        </p:txBody>
      </p:sp>
      <p:sp>
        <p:nvSpPr>
          <p:cNvPr id="492" name="Google Shape;492;p39"/>
          <p:cNvSpPr/>
          <p:nvPr/>
        </p:nvSpPr>
        <p:spPr>
          <a:xfrm>
            <a:off x="4119078" y="4539143"/>
            <a:ext cx="699242" cy="452519"/>
          </a:xfrm>
          <a:prstGeom prst="rect">
            <a:avLst/>
          </a:prstGeom>
          <a:noFill/>
          <a:ln cap="flat" cmpd="sng" w="28575">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dk1"/>
              </a:solidFill>
              <a:latin typeface="Arial"/>
              <a:ea typeface="Arial"/>
              <a:cs typeface="Arial"/>
              <a:sym typeface="Arial"/>
            </a:endParaRPr>
          </a:p>
        </p:txBody>
      </p:sp>
      <p:sp>
        <p:nvSpPr>
          <p:cNvPr id="493" name="Google Shape;493;p39"/>
          <p:cNvSpPr/>
          <p:nvPr/>
        </p:nvSpPr>
        <p:spPr>
          <a:xfrm>
            <a:off x="5869195" y="4655688"/>
            <a:ext cx="6214557" cy="1601681"/>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Arial"/>
                <a:ea typeface="Arial"/>
                <a:cs typeface="Arial"/>
                <a:sym typeface="Arial"/>
              </a:rPr>
              <a:t>R</a:t>
            </a:r>
            <a:r>
              <a:rPr lang="en-US" sz="2400">
                <a:solidFill>
                  <a:schemeClr val="dk1"/>
                </a:solidFill>
                <a:latin typeface="Arial"/>
                <a:ea typeface="Arial"/>
                <a:cs typeface="Arial"/>
                <a:sym typeface="Arial"/>
              </a:rPr>
              <a:t>ISC Philosophy: </a:t>
            </a:r>
            <a:r>
              <a:rPr b="1" lang="en-US" sz="2400">
                <a:solidFill>
                  <a:schemeClr val="dk1"/>
                </a:solidFill>
                <a:latin typeface="Arial"/>
                <a:ea typeface="Arial"/>
                <a:cs typeface="Arial"/>
                <a:sym typeface="Arial"/>
              </a:rPr>
              <a:t>Reduce</a:t>
            </a:r>
            <a:r>
              <a:rPr lang="en-US" sz="2400">
                <a:solidFill>
                  <a:schemeClr val="dk1"/>
                </a:solidFill>
                <a:latin typeface="Arial"/>
                <a:ea typeface="Arial"/>
                <a:cs typeface="Arial"/>
                <a:sym typeface="Arial"/>
              </a:rPr>
              <a:t> the possible types of operations to an absolute minimum.</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If an operation can be decomposed into a simpler operation, don’t include it in the ISA.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7">
                                            <p:txEl>
                                              <p:pRg end="1" st="1"/>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8">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40"/>
          <p:cNvSpPr txBox="1"/>
          <p:nvPr>
            <p:ph type="title"/>
          </p:nvPr>
        </p:nvSpPr>
        <p:spPr>
          <a:xfrm>
            <a:off x="1104901" y="76199"/>
            <a:ext cx="10509504" cy="76809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2"/>
              </a:buClr>
              <a:buSzPts val="4200"/>
              <a:buFont typeface="Arial"/>
              <a:buNone/>
            </a:pPr>
            <a:r>
              <a:rPr lang="en-US"/>
              <a:t>Register Zero</a:t>
            </a:r>
            <a:endParaRPr/>
          </a:p>
        </p:txBody>
      </p:sp>
      <p:sp>
        <p:nvSpPr>
          <p:cNvPr id="500" name="Google Shape;500;p40"/>
          <p:cNvSpPr txBox="1"/>
          <p:nvPr>
            <p:ph idx="1" type="body"/>
          </p:nvPr>
        </p:nvSpPr>
        <p:spPr>
          <a:xfrm>
            <a:off x="288413" y="916710"/>
            <a:ext cx="11332079" cy="5287965"/>
          </a:xfrm>
          <a:prstGeom prst="rect">
            <a:avLst/>
          </a:prstGeom>
          <a:noFill/>
          <a:ln>
            <a:noFill/>
          </a:ln>
        </p:spPr>
        <p:txBody>
          <a:bodyPr anchorCtr="0" anchor="t" bIns="45700" lIns="91425" spcFirstLastPara="1" rIns="91425" wrap="square" tIns="45700">
            <a:noAutofit/>
          </a:bodyPr>
          <a:lstStyle/>
          <a:p>
            <a:pPr indent="-382588" lvl="0" marL="468313" rtl="0" algn="l">
              <a:lnSpc>
                <a:spcPct val="100000"/>
              </a:lnSpc>
              <a:spcBef>
                <a:spcPts val="0"/>
              </a:spcBef>
              <a:spcAft>
                <a:spcPts val="0"/>
              </a:spcAft>
              <a:buClr>
                <a:schemeClr val="lt1"/>
              </a:buClr>
              <a:buSzPts val="2660"/>
              <a:buChar char="▪"/>
            </a:pPr>
            <a:r>
              <a:rPr lang="en-US" sz="2800"/>
              <a:t>One particular immediate, the number zero (</a:t>
            </a:r>
            <a:r>
              <a:rPr lang="en-US" sz="2800">
                <a:solidFill>
                  <a:schemeClr val="accent3"/>
                </a:solidFill>
                <a:latin typeface="Courier New"/>
                <a:ea typeface="Courier New"/>
                <a:cs typeface="Courier New"/>
                <a:sym typeface="Courier New"/>
              </a:rPr>
              <a:t>0</a:t>
            </a:r>
            <a:r>
              <a:rPr lang="en-US" sz="2800"/>
              <a:t>),</a:t>
            </a:r>
            <a:br>
              <a:rPr lang="en-US" sz="2800"/>
            </a:br>
            <a:r>
              <a:rPr lang="en-US" sz="2800"/>
              <a:t>appears very often in code.</a:t>
            </a:r>
            <a:endParaRPr/>
          </a:p>
          <a:p>
            <a:pPr indent="-382588" lvl="0" marL="468313" rtl="0" algn="l">
              <a:lnSpc>
                <a:spcPct val="100000"/>
              </a:lnSpc>
              <a:spcBef>
                <a:spcPts val="1000"/>
              </a:spcBef>
              <a:spcAft>
                <a:spcPts val="0"/>
              </a:spcAft>
              <a:buClr>
                <a:schemeClr val="lt1"/>
              </a:buClr>
              <a:buSzPts val="2660"/>
              <a:buChar char="▪"/>
            </a:pPr>
            <a:r>
              <a:rPr lang="en-US" sz="2800"/>
              <a:t>RISC-V hardwires the register zero (</a:t>
            </a:r>
            <a:r>
              <a:rPr lang="en-US" sz="2800">
                <a:solidFill>
                  <a:schemeClr val="accent3"/>
                </a:solidFill>
                <a:latin typeface="Courier"/>
                <a:ea typeface="Courier"/>
                <a:cs typeface="Courier"/>
                <a:sym typeface="Courier"/>
              </a:rPr>
              <a:t>x0</a:t>
            </a:r>
            <a:r>
              <a:rPr lang="en-US" sz="2800"/>
              <a:t>) to value </a:t>
            </a:r>
            <a:r>
              <a:rPr lang="en-US" sz="2800">
                <a:solidFill>
                  <a:schemeClr val="accent3"/>
                </a:solidFill>
                <a:latin typeface="Courier New"/>
                <a:ea typeface="Courier New"/>
                <a:cs typeface="Courier New"/>
                <a:sym typeface="Courier New"/>
              </a:rPr>
              <a:t>0</a:t>
            </a:r>
            <a:r>
              <a:rPr lang="en-US" sz="2800"/>
              <a:t>:</a:t>
            </a:r>
            <a:endParaRPr/>
          </a:p>
          <a:p>
            <a:pPr indent="-213678" lvl="0" marL="468313" rtl="0" algn="l">
              <a:lnSpc>
                <a:spcPct val="85000"/>
              </a:lnSpc>
              <a:spcBef>
                <a:spcPts val="1000"/>
              </a:spcBef>
              <a:spcAft>
                <a:spcPts val="0"/>
              </a:spcAft>
              <a:buClr>
                <a:schemeClr val="lt1"/>
              </a:buClr>
              <a:buSzPts val="2660"/>
              <a:buNone/>
            </a:pPr>
            <a:r>
              <a:t/>
            </a:r>
            <a:endParaRPr sz="2800"/>
          </a:p>
          <a:p>
            <a:pPr indent="-213678" lvl="0" marL="468313" rtl="0" algn="l">
              <a:lnSpc>
                <a:spcPct val="85000"/>
              </a:lnSpc>
              <a:spcBef>
                <a:spcPts val="1000"/>
              </a:spcBef>
              <a:spcAft>
                <a:spcPts val="0"/>
              </a:spcAft>
              <a:buClr>
                <a:schemeClr val="lt1"/>
              </a:buClr>
              <a:buSzPts val="2660"/>
              <a:buNone/>
            </a:pPr>
            <a:r>
              <a:t/>
            </a:r>
            <a:endParaRPr sz="2800"/>
          </a:p>
          <a:p>
            <a:pPr indent="-213678" lvl="0" marL="468313" rtl="0" algn="l">
              <a:lnSpc>
                <a:spcPct val="85000"/>
              </a:lnSpc>
              <a:spcBef>
                <a:spcPts val="1000"/>
              </a:spcBef>
              <a:spcAft>
                <a:spcPts val="0"/>
              </a:spcAft>
              <a:buClr>
                <a:schemeClr val="lt1"/>
              </a:buClr>
              <a:buSzPts val="2660"/>
              <a:buNone/>
            </a:pPr>
            <a:r>
              <a:t/>
            </a:r>
            <a:endParaRPr sz="2800"/>
          </a:p>
          <a:p>
            <a:pPr indent="-213678" lvl="0" marL="468313" rtl="0" algn="l">
              <a:lnSpc>
                <a:spcPct val="85000"/>
              </a:lnSpc>
              <a:spcBef>
                <a:spcPts val="1000"/>
              </a:spcBef>
              <a:spcAft>
                <a:spcPts val="0"/>
              </a:spcAft>
              <a:buClr>
                <a:schemeClr val="lt1"/>
              </a:buClr>
              <a:buSzPts val="2660"/>
              <a:buNone/>
            </a:pPr>
            <a:r>
              <a:t/>
            </a:r>
            <a:endParaRPr sz="2800"/>
          </a:p>
          <a:p>
            <a:pPr indent="-213678" lvl="0" marL="468313" rtl="0" algn="l">
              <a:lnSpc>
                <a:spcPct val="85000"/>
              </a:lnSpc>
              <a:spcBef>
                <a:spcPts val="1000"/>
              </a:spcBef>
              <a:spcAft>
                <a:spcPts val="0"/>
              </a:spcAft>
              <a:buClr>
                <a:schemeClr val="lt1"/>
              </a:buClr>
              <a:buSzPts val="2660"/>
              <a:buNone/>
            </a:pPr>
            <a:r>
              <a:t/>
            </a:r>
            <a:endParaRPr sz="2800"/>
          </a:p>
          <a:p>
            <a:pPr indent="-213678" lvl="0" marL="468313" rtl="0" algn="l">
              <a:lnSpc>
                <a:spcPct val="85000"/>
              </a:lnSpc>
              <a:spcBef>
                <a:spcPts val="1000"/>
              </a:spcBef>
              <a:spcAft>
                <a:spcPts val="0"/>
              </a:spcAft>
              <a:buClr>
                <a:schemeClr val="lt1"/>
              </a:buClr>
              <a:buSzPts val="2660"/>
              <a:buNone/>
            </a:pPr>
            <a:r>
              <a:t/>
            </a:r>
            <a:endParaRPr sz="2800"/>
          </a:p>
          <a:p>
            <a:pPr indent="-382588" lvl="0" marL="468313" rtl="0" algn="l">
              <a:lnSpc>
                <a:spcPct val="85000"/>
              </a:lnSpc>
              <a:spcBef>
                <a:spcPts val="1000"/>
              </a:spcBef>
              <a:spcAft>
                <a:spcPts val="0"/>
              </a:spcAft>
              <a:buClr>
                <a:schemeClr val="lt1"/>
              </a:buClr>
              <a:buSzPts val="2660"/>
              <a:buChar char="▪"/>
            </a:pPr>
            <a:r>
              <a:rPr lang="en-US" sz="2800"/>
              <a:t>Defined in hardware, so an instruction     </a:t>
            </a:r>
            <a:r>
              <a:rPr lang="en-US" sz="2800">
                <a:solidFill>
                  <a:schemeClr val="accent2"/>
                </a:solidFill>
                <a:latin typeface="Courier New"/>
                <a:ea typeface="Courier New"/>
                <a:cs typeface="Courier New"/>
                <a:sym typeface="Courier New"/>
              </a:rPr>
              <a:t>add x0,x3,x4 </a:t>
            </a:r>
            <a:br>
              <a:rPr lang="en-US" sz="2800"/>
            </a:br>
            <a:r>
              <a:rPr lang="en-US" sz="2800"/>
              <a:t>will not do anything!</a:t>
            </a:r>
            <a:endParaRPr sz="2400"/>
          </a:p>
        </p:txBody>
      </p:sp>
      <p:sp>
        <p:nvSpPr>
          <p:cNvPr id="501" name="Google Shape;501;p40"/>
          <p:cNvSpPr txBox="1"/>
          <p:nvPr/>
        </p:nvSpPr>
        <p:spPr>
          <a:xfrm>
            <a:off x="730054" y="2468291"/>
            <a:ext cx="1018200" cy="10467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900">
                <a:solidFill>
                  <a:schemeClr val="accent2"/>
                </a:solidFill>
                <a:latin typeface="Arial"/>
                <a:ea typeface="Arial"/>
                <a:cs typeface="Arial"/>
                <a:sym typeface="Arial"/>
              </a:rPr>
              <a:t>RISC-V</a:t>
            </a:r>
            <a:br>
              <a:rPr lang="en-US" sz="1900">
                <a:solidFill>
                  <a:schemeClr val="accent1"/>
                </a:solidFill>
                <a:latin typeface="Arial"/>
                <a:ea typeface="Arial"/>
                <a:cs typeface="Arial"/>
                <a:sym typeface="Arial"/>
              </a:rPr>
            </a:br>
            <a:endParaRPr sz="1900">
              <a:solidFill>
                <a:schemeClr val="accent1"/>
              </a:solidFill>
              <a:latin typeface="Arial"/>
              <a:ea typeface="Arial"/>
              <a:cs typeface="Arial"/>
              <a:sym typeface="Arial"/>
            </a:endParaRPr>
          </a:p>
          <a:p>
            <a:pPr indent="0" lvl="0" marL="0" marR="0" rtl="0" algn="r">
              <a:spcBef>
                <a:spcPts val="0"/>
              </a:spcBef>
              <a:spcAft>
                <a:spcPts val="0"/>
              </a:spcAft>
              <a:buNone/>
            </a:pPr>
            <a:r>
              <a:rPr lang="en-US" sz="2400">
                <a:solidFill>
                  <a:schemeClr val="lt1"/>
                </a:solidFill>
                <a:latin typeface="Arial"/>
                <a:ea typeface="Arial"/>
                <a:cs typeface="Arial"/>
                <a:sym typeface="Arial"/>
              </a:rPr>
              <a:t>C</a:t>
            </a:r>
            <a:endParaRPr/>
          </a:p>
        </p:txBody>
      </p:sp>
      <p:sp>
        <p:nvSpPr>
          <p:cNvPr id="502" name="Google Shape;502;p40"/>
          <p:cNvSpPr txBox="1"/>
          <p:nvPr/>
        </p:nvSpPr>
        <p:spPr>
          <a:xfrm>
            <a:off x="2036211" y="2468291"/>
            <a:ext cx="2651688"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Courier New"/>
                <a:ea typeface="Courier New"/>
                <a:cs typeface="Courier New"/>
                <a:sym typeface="Courier New"/>
              </a:rPr>
              <a:t>add  x3,x4,</a:t>
            </a:r>
            <a:r>
              <a:rPr b="1" lang="en-US" sz="2400">
                <a:solidFill>
                  <a:schemeClr val="accent3"/>
                </a:solidFill>
                <a:latin typeface="Courier New"/>
                <a:ea typeface="Courier New"/>
                <a:cs typeface="Courier New"/>
                <a:sym typeface="Courier New"/>
              </a:rPr>
              <a:t>x0</a:t>
            </a:r>
            <a:br>
              <a:rPr b="1" lang="en-US" sz="2400">
                <a:solidFill>
                  <a:schemeClr val="accent1"/>
                </a:solidFill>
                <a:latin typeface="Courier New"/>
                <a:ea typeface="Courier New"/>
                <a:cs typeface="Courier New"/>
                <a:sym typeface="Courier New"/>
              </a:rPr>
            </a:br>
            <a:endParaRPr b="1" sz="2400">
              <a:solidFill>
                <a:schemeClr val="accent1"/>
              </a:solidFill>
              <a:latin typeface="Courier New"/>
              <a:ea typeface="Courier New"/>
              <a:cs typeface="Courier New"/>
              <a:sym typeface="Courier New"/>
            </a:endParaRPr>
          </a:p>
          <a:p>
            <a:pPr indent="0" lvl="0" marL="0" marR="0" rtl="0" algn="l">
              <a:spcBef>
                <a:spcPts val="0"/>
              </a:spcBef>
              <a:spcAft>
                <a:spcPts val="0"/>
              </a:spcAft>
              <a:buNone/>
            </a:pPr>
            <a:r>
              <a:rPr b="1" lang="en-US" sz="2400">
                <a:solidFill>
                  <a:schemeClr val="lt1"/>
                </a:solidFill>
                <a:latin typeface="Courier New"/>
                <a:ea typeface="Courier New"/>
                <a:cs typeface="Courier New"/>
                <a:sym typeface="Courier New"/>
              </a:rPr>
              <a:t>f = g;</a:t>
            </a:r>
            <a:endParaRPr/>
          </a:p>
        </p:txBody>
      </p:sp>
      <p:sp>
        <p:nvSpPr>
          <p:cNvPr id="503" name="Google Shape;503;p40"/>
          <p:cNvSpPr/>
          <p:nvPr/>
        </p:nvSpPr>
        <p:spPr>
          <a:xfrm>
            <a:off x="2253030" y="2920810"/>
            <a:ext cx="917466" cy="326572"/>
          </a:xfrm>
          <a:custGeom>
            <a:rect b="b" l="l" r="r" t="t"/>
            <a:pathLst>
              <a:path extrusionOk="0" h="413657" w="816586">
                <a:moveTo>
                  <a:pt x="816586" y="0"/>
                </a:moveTo>
                <a:cubicBezTo>
                  <a:pt x="813925" y="13305"/>
                  <a:pt x="795769" y="115796"/>
                  <a:pt x="783929" y="119743"/>
                </a:cubicBezTo>
                <a:cubicBezTo>
                  <a:pt x="774523" y="122878"/>
                  <a:pt x="695177" y="151181"/>
                  <a:pt x="675072" y="152400"/>
                </a:cubicBezTo>
                <a:cubicBezTo>
                  <a:pt x="569974" y="158770"/>
                  <a:pt x="464615" y="159657"/>
                  <a:pt x="359386" y="163286"/>
                </a:cubicBezTo>
                <a:cubicBezTo>
                  <a:pt x="263565" y="182451"/>
                  <a:pt x="345787" y="167053"/>
                  <a:pt x="228758" y="185057"/>
                </a:cubicBezTo>
                <a:cubicBezTo>
                  <a:pt x="206943" y="188413"/>
                  <a:pt x="184857" y="190590"/>
                  <a:pt x="163444" y="195943"/>
                </a:cubicBezTo>
                <a:cubicBezTo>
                  <a:pt x="141180" y="201509"/>
                  <a:pt x="98129" y="217714"/>
                  <a:pt x="98129" y="217714"/>
                </a:cubicBezTo>
                <a:cubicBezTo>
                  <a:pt x="83615" y="232228"/>
                  <a:pt x="61077" y="241784"/>
                  <a:pt x="54586" y="261257"/>
                </a:cubicBezTo>
                <a:cubicBezTo>
                  <a:pt x="40456" y="303651"/>
                  <a:pt x="51815" y="285800"/>
                  <a:pt x="21929" y="315686"/>
                </a:cubicBezTo>
                <a:cubicBezTo>
                  <a:pt x="-3284" y="391327"/>
                  <a:pt x="158" y="358051"/>
                  <a:pt x="158" y="413657"/>
                </a:cubicBezTo>
              </a:path>
            </a:pathLst>
          </a:custGeom>
          <a:noFill/>
          <a:ln cap="flat" cmpd="sng" w="2857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Calibri"/>
              <a:ea typeface="Calibri"/>
              <a:cs typeface="Calibri"/>
              <a:sym typeface="Calibri"/>
            </a:endParaRPr>
          </a:p>
        </p:txBody>
      </p:sp>
      <p:sp>
        <p:nvSpPr>
          <p:cNvPr id="504" name="Google Shape;504;p40"/>
          <p:cNvSpPr/>
          <p:nvPr/>
        </p:nvSpPr>
        <p:spPr>
          <a:xfrm>
            <a:off x="3069459" y="2920810"/>
            <a:ext cx="699242" cy="326572"/>
          </a:xfrm>
          <a:custGeom>
            <a:rect b="b" l="l" r="r" t="t"/>
            <a:pathLst>
              <a:path extrusionOk="0" h="326572" w="391885">
                <a:moveTo>
                  <a:pt x="391885" y="0"/>
                </a:moveTo>
                <a:cubicBezTo>
                  <a:pt x="388257" y="18143"/>
                  <a:pt x="388288" y="37423"/>
                  <a:pt x="381000" y="54429"/>
                </a:cubicBezTo>
                <a:cubicBezTo>
                  <a:pt x="376957" y="63862"/>
                  <a:pt x="367242" y="69789"/>
                  <a:pt x="359228" y="76200"/>
                </a:cubicBezTo>
                <a:cubicBezTo>
                  <a:pt x="322260" y="105775"/>
                  <a:pt x="313052" y="102478"/>
                  <a:pt x="261257" y="119743"/>
                </a:cubicBezTo>
                <a:lnTo>
                  <a:pt x="163285" y="152400"/>
                </a:lnTo>
                <a:lnTo>
                  <a:pt x="130628" y="163286"/>
                </a:lnTo>
                <a:cubicBezTo>
                  <a:pt x="119742" y="166915"/>
                  <a:pt x="107518" y="167807"/>
                  <a:pt x="97971" y="174172"/>
                </a:cubicBezTo>
                <a:lnTo>
                  <a:pt x="65314" y="195943"/>
                </a:lnTo>
                <a:cubicBezTo>
                  <a:pt x="58057" y="206829"/>
                  <a:pt x="48856" y="216645"/>
                  <a:pt x="43543" y="228600"/>
                </a:cubicBezTo>
                <a:cubicBezTo>
                  <a:pt x="34222" y="249571"/>
                  <a:pt x="34501" y="274820"/>
                  <a:pt x="21771" y="293915"/>
                </a:cubicBezTo>
                <a:lnTo>
                  <a:pt x="0" y="326572"/>
                </a:lnTo>
              </a:path>
            </a:pathLst>
          </a:custGeom>
          <a:noFill/>
          <a:ln cap="flat" cmpd="sng" w="2857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Calibri"/>
              <a:ea typeface="Calibri"/>
              <a:cs typeface="Calibri"/>
              <a:sym typeface="Calibri"/>
            </a:endParaRPr>
          </a:p>
        </p:txBody>
      </p:sp>
      <p:sp>
        <p:nvSpPr>
          <p:cNvPr id="505" name="Google Shape;505;p40"/>
          <p:cNvSpPr txBox="1"/>
          <p:nvPr/>
        </p:nvSpPr>
        <p:spPr>
          <a:xfrm>
            <a:off x="730054" y="4013904"/>
            <a:ext cx="1018200" cy="10467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900">
                <a:solidFill>
                  <a:schemeClr val="accent2"/>
                </a:solidFill>
                <a:latin typeface="Arial"/>
                <a:ea typeface="Arial"/>
                <a:cs typeface="Arial"/>
                <a:sym typeface="Arial"/>
              </a:rPr>
              <a:t>RISC-V</a:t>
            </a:r>
            <a:br>
              <a:rPr lang="en-US" sz="1900">
                <a:solidFill>
                  <a:schemeClr val="accent1"/>
                </a:solidFill>
                <a:latin typeface="Arial"/>
                <a:ea typeface="Arial"/>
                <a:cs typeface="Arial"/>
                <a:sym typeface="Arial"/>
              </a:rPr>
            </a:br>
            <a:endParaRPr sz="1900">
              <a:solidFill>
                <a:schemeClr val="accent1"/>
              </a:solidFill>
              <a:latin typeface="Arial"/>
              <a:ea typeface="Arial"/>
              <a:cs typeface="Arial"/>
              <a:sym typeface="Arial"/>
            </a:endParaRPr>
          </a:p>
          <a:p>
            <a:pPr indent="0" lvl="0" marL="0" marR="0" rtl="0" algn="r">
              <a:spcBef>
                <a:spcPts val="0"/>
              </a:spcBef>
              <a:spcAft>
                <a:spcPts val="0"/>
              </a:spcAft>
              <a:buNone/>
            </a:pPr>
            <a:r>
              <a:rPr lang="en-US" sz="2400">
                <a:solidFill>
                  <a:schemeClr val="lt1"/>
                </a:solidFill>
                <a:latin typeface="Arial"/>
                <a:ea typeface="Arial"/>
                <a:cs typeface="Arial"/>
                <a:sym typeface="Arial"/>
              </a:rPr>
              <a:t>C</a:t>
            </a:r>
            <a:endParaRPr/>
          </a:p>
        </p:txBody>
      </p:sp>
      <p:sp>
        <p:nvSpPr>
          <p:cNvPr id="506" name="Google Shape;506;p40"/>
          <p:cNvSpPr txBox="1"/>
          <p:nvPr/>
        </p:nvSpPr>
        <p:spPr>
          <a:xfrm>
            <a:off x="2036211" y="4013904"/>
            <a:ext cx="3039615"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Courier New"/>
                <a:ea typeface="Courier New"/>
                <a:cs typeface="Courier New"/>
                <a:sym typeface="Courier New"/>
              </a:rPr>
              <a:t>addi x3,</a:t>
            </a:r>
            <a:r>
              <a:rPr b="1" lang="en-US" sz="2400">
                <a:solidFill>
                  <a:schemeClr val="accent3"/>
                </a:solidFill>
                <a:latin typeface="Courier New"/>
                <a:ea typeface="Courier New"/>
                <a:cs typeface="Courier New"/>
                <a:sym typeface="Courier New"/>
              </a:rPr>
              <a:t>x0</a:t>
            </a:r>
            <a:r>
              <a:rPr b="1" lang="en-US" sz="2400">
                <a:solidFill>
                  <a:schemeClr val="accent2"/>
                </a:solidFill>
                <a:latin typeface="Courier New"/>
                <a:ea typeface="Courier New"/>
                <a:cs typeface="Courier New"/>
                <a:sym typeface="Courier New"/>
              </a:rPr>
              <a:t>,0xff</a:t>
            </a:r>
            <a:br>
              <a:rPr b="1" lang="en-US" sz="2400">
                <a:solidFill>
                  <a:schemeClr val="accent1"/>
                </a:solidFill>
                <a:latin typeface="Courier New"/>
                <a:ea typeface="Courier New"/>
                <a:cs typeface="Courier New"/>
                <a:sym typeface="Courier New"/>
              </a:rPr>
            </a:br>
            <a:endParaRPr b="1" sz="2400">
              <a:solidFill>
                <a:schemeClr val="accent1"/>
              </a:solidFill>
              <a:latin typeface="Courier New"/>
              <a:ea typeface="Courier New"/>
              <a:cs typeface="Courier New"/>
              <a:sym typeface="Courier New"/>
            </a:endParaRPr>
          </a:p>
          <a:p>
            <a:pPr indent="0" lvl="0" marL="0" marR="0" rtl="0" algn="l">
              <a:spcBef>
                <a:spcPts val="0"/>
              </a:spcBef>
              <a:spcAft>
                <a:spcPts val="0"/>
              </a:spcAft>
              <a:buNone/>
            </a:pPr>
            <a:r>
              <a:rPr b="1" lang="en-US" sz="2400">
                <a:solidFill>
                  <a:schemeClr val="lt1"/>
                </a:solidFill>
                <a:latin typeface="Courier New"/>
                <a:ea typeface="Courier New"/>
                <a:cs typeface="Courier New"/>
                <a:sym typeface="Courier New"/>
              </a:rPr>
              <a:t>f = 0xff;</a:t>
            </a:r>
            <a:endParaRPr/>
          </a:p>
        </p:txBody>
      </p:sp>
      <p:sp>
        <p:nvSpPr>
          <p:cNvPr id="507" name="Google Shape;507;p40"/>
          <p:cNvSpPr/>
          <p:nvPr/>
        </p:nvSpPr>
        <p:spPr>
          <a:xfrm>
            <a:off x="2253030" y="4466423"/>
            <a:ext cx="917466" cy="326572"/>
          </a:xfrm>
          <a:custGeom>
            <a:rect b="b" l="l" r="r" t="t"/>
            <a:pathLst>
              <a:path extrusionOk="0" h="413657" w="816586">
                <a:moveTo>
                  <a:pt x="816586" y="0"/>
                </a:moveTo>
                <a:cubicBezTo>
                  <a:pt x="813925" y="13305"/>
                  <a:pt x="795769" y="115796"/>
                  <a:pt x="783929" y="119743"/>
                </a:cubicBezTo>
                <a:cubicBezTo>
                  <a:pt x="774523" y="122878"/>
                  <a:pt x="695177" y="151181"/>
                  <a:pt x="675072" y="152400"/>
                </a:cubicBezTo>
                <a:cubicBezTo>
                  <a:pt x="569974" y="158770"/>
                  <a:pt x="464615" y="159657"/>
                  <a:pt x="359386" y="163286"/>
                </a:cubicBezTo>
                <a:cubicBezTo>
                  <a:pt x="263565" y="182451"/>
                  <a:pt x="345787" y="167053"/>
                  <a:pt x="228758" y="185057"/>
                </a:cubicBezTo>
                <a:cubicBezTo>
                  <a:pt x="206943" y="188413"/>
                  <a:pt x="184857" y="190590"/>
                  <a:pt x="163444" y="195943"/>
                </a:cubicBezTo>
                <a:cubicBezTo>
                  <a:pt x="141180" y="201509"/>
                  <a:pt x="98129" y="217714"/>
                  <a:pt x="98129" y="217714"/>
                </a:cubicBezTo>
                <a:cubicBezTo>
                  <a:pt x="83615" y="232228"/>
                  <a:pt x="61077" y="241784"/>
                  <a:pt x="54586" y="261257"/>
                </a:cubicBezTo>
                <a:cubicBezTo>
                  <a:pt x="40456" y="303651"/>
                  <a:pt x="51815" y="285800"/>
                  <a:pt x="21929" y="315686"/>
                </a:cubicBezTo>
                <a:cubicBezTo>
                  <a:pt x="-3284" y="391327"/>
                  <a:pt x="158" y="358051"/>
                  <a:pt x="158" y="413657"/>
                </a:cubicBezTo>
              </a:path>
            </a:pathLst>
          </a:custGeom>
          <a:noFill/>
          <a:ln cap="flat" cmpd="sng" w="2857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41"/>
          <p:cNvSpPr txBox="1"/>
          <p:nvPr>
            <p:ph type="title"/>
          </p:nvPr>
        </p:nvSpPr>
        <p:spPr>
          <a:xfrm>
            <a:off x="1104901" y="76199"/>
            <a:ext cx="10509504" cy="76809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2"/>
              </a:buClr>
              <a:buSzPts val="4200"/>
              <a:buFont typeface="Arial"/>
              <a:buNone/>
            </a:pPr>
            <a:r>
              <a:rPr lang="en-US"/>
              <a:t>Concept Check: True or False?</a:t>
            </a:r>
            <a:endParaRPr/>
          </a:p>
        </p:txBody>
      </p:sp>
      <p:sp>
        <p:nvSpPr>
          <p:cNvPr id="514" name="Google Shape;514;p41"/>
          <p:cNvSpPr txBox="1"/>
          <p:nvPr>
            <p:ph idx="1" type="body"/>
          </p:nvPr>
        </p:nvSpPr>
        <p:spPr>
          <a:xfrm>
            <a:off x="288413" y="916710"/>
            <a:ext cx="11332079" cy="5287965"/>
          </a:xfrm>
          <a:prstGeom prst="rect">
            <a:avLst/>
          </a:prstGeom>
          <a:noFill/>
          <a:ln>
            <a:noFill/>
          </a:ln>
        </p:spPr>
        <p:txBody>
          <a:bodyPr anchorCtr="0" anchor="t" bIns="45700" lIns="91425" spcFirstLastPara="1" rIns="91425" wrap="square" tIns="45700">
            <a:normAutofit/>
          </a:bodyPr>
          <a:lstStyle/>
          <a:p>
            <a:pPr indent="-742950" lvl="0" marL="827614" rtl="0" algn="l">
              <a:lnSpc>
                <a:spcPct val="100000"/>
              </a:lnSpc>
              <a:spcBef>
                <a:spcPts val="0"/>
              </a:spcBef>
              <a:spcAft>
                <a:spcPts val="0"/>
              </a:spcAft>
              <a:buClr>
                <a:schemeClr val="accent4"/>
              </a:buClr>
              <a:buSzPts val="2660"/>
              <a:buFont typeface="Calibri"/>
              <a:buAutoNum type="arabicPeriod"/>
            </a:pPr>
            <a:r>
              <a:rPr lang="en-US" sz="2800">
                <a:solidFill>
                  <a:schemeClr val="accent4"/>
                </a:solidFill>
              </a:rPr>
              <a:t>Types</a:t>
            </a:r>
            <a:r>
              <a:rPr lang="en-US" sz="2800"/>
              <a:t> are associated with </a:t>
            </a:r>
            <a:r>
              <a:rPr lang="en-US" sz="2800">
                <a:solidFill>
                  <a:schemeClr val="accent4"/>
                </a:solidFill>
              </a:rPr>
              <a:t>declaration in C </a:t>
            </a:r>
            <a:r>
              <a:rPr lang="en-US" sz="2800"/>
              <a:t>(normally), but are associated with </a:t>
            </a:r>
            <a:r>
              <a:rPr lang="en-US" sz="2800">
                <a:solidFill>
                  <a:schemeClr val="accent4"/>
                </a:solidFill>
              </a:rPr>
              <a:t>instructions</a:t>
            </a:r>
            <a:r>
              <a:rPr lang="en-US" sz="2800"/>
              <a:t> (operators) in RISC-V.</a:t>
            </a:r>
            <a:endParaRPr/>
          </a:p>
          <a:p>
            <a:pPr indent="-742950" lvl="0" marL="827614" rtl="0" algn="l">
              <a:lnSpc>
                <a:spcPct val="100000"/>
              </a:lnSpc>
              <a:spcBef>
                <a:spcPts val="1000"/>
              </a:spcBef>
              <a:spcAft>
                <a:spcPts val="0"/>
              </a:spcAft>
              <a:buClr>
                <a:schemeClr val="lt1"/>
              </a:buClr>
              <a:buSzPts val="2660"/>
              <a:buFont typeface="Calibri"/>
              <a:buAutoNum type="arabicPeriod"/>
            </a:pPr>
            <a:r>
              <a:rPr lang="en-US" sz="2800"/>
              <a:t>Since there are only </a:t>
            </a:r>
            <a:r>
              <a:rPr b="0" lang="en-US" sz="2800">
                <a:solidFill>
                  <a:srgbClr val="BCC424"/>
                </a:solidFill>
                <a:latin typeface="Arial"/>
                <a:ea typeface="Arial"/>
                <a:cs typeface="Arial"/>
                <a:sym typeface="Arial"/>
              </a:rPr>
              <a:t>32 registers</a:t>
            </a:r>
            <a:r>
              <a:rPr lang="en-US" sz="2800"/>
              <a:t>, we can’t write RISC-V for C expressions that contain &gt; 32 variables.</a:t>
            </a:r>
            <a:endParaRPr/>
          </a:p>
          <a:p>
            <a:pPr indent="-742950" lvl="0" marL="827614" rtl="0" algn="l">
              <a:lnSpc>
                <a:spcPct val="100000"/>
              </a:lnSpc>
              <a:spcBef>
                <a:spcPts val="1000"/>
              </a:spcBef>
              <a:spcAft>
                <a:spcPts val="0"/>
              </a:spcAft>
              <a:buClr>
                <a:schemeClr val="lt1"/>
              </a:buClr>
              <a:buSzPts val="2660"/>
              <a:buFont typeface="Calibri"/>
              <a:buAutoNum type="arabicPeriod"/>
            </a:pPr>
            <a:r>
              <a:rPr lang="en-US" sz="2800"/>
              <a:t>If </a:t>
            </a:r>
            <a:r>
              <a:rPr lang="en-US" sz="2800">
                <a:solidFill>
                  <a:schemeClr val="accent3"/>
                </a:solidFill>
                <a:latin typeface="Courier New"/>
                <a:ea typeface="Courier New"/>
                <a:cs typeface="Courier New"/>
                <a:sym typeface="Courier New"/>
              </a:rPr>
              <a:t>p</a:t>
            </a:r>
            <a:r>
              <a:rPr lang="en-US" sz="2800"/>
              <a:t> (stored in </a:t>
            </a:r>
            <a:r>
              <a:rPr lang="en-US" sz="2800">
                <a:latin typeface="Courier New"/>
                <a:ea typeface="Courier New"/>
                <a:cs typeface="Courier New"/>
                <a:sym typeface="Courier New"/>
              </a:rPr>
              <a:t>x9</a:t>
            </a:r>
            <a:r>
              <a:rPr lang="en-US" sz="2800"/>
              <a:t>) were a pointer to an array of </a:t>
            </a:r>
            <a:r>
              <a:rPr lang="en-US" sz="2800">
                <a:latin typeface="Courier New"/>
                <a:ea typeface="Courier New"/>
                <a:cs typeface="Courier New"/>
                <a:sym typeface="Courier New"/>
              </a:rPr>
              <a:t>int</a:t>
            </a:r>
            <a:r>
              <a:rPr lang="en-US" sz="2800"/>
              <a:t>s,</a:t>
            </a:r>
            <a:br>
              <a:rPr lang="en-US" sz="2800"/>
            </a:br>
            <a:r>
              <a:rPr lang="en-US" sz="2800"/>
              <a:t>then </a:t>
            </a:r>
            <a:r>
              <a:rPr lang="en-US" sz="2800">
                <a:latin typeface="Courier New"/>
                <a:ea typeface="Courier New"/>
                <a:cs typeface="Courier New"/>
                <a:sym typeface="Courier New"/>
              </a:rPr>
              <a:t>p++;</a:t>
            </a:r>
            <a:r>
              <a:rPr lang="en-US" sz="2800"/>
              <a:t> would be</a:t>
            </a:r>
            <a:br>
              <a:rPr lang="en-US" sz="2800"/>
            </a:br>
            <a:r>
              <a:rPr lang="en-US" sz="2800">
                <a:solidFill>
                  <a:schemeClr val="accent2"/>
                </a:solidFill>
                <a:latin typeface="Courier New"/>
                <a:ea typeface="Courier New"/>
                <a:cs typeface="Courier New"/>
                <a:sym typeface="Courier New"/>
              </a:rPr>
              <a:t>addi x9 x9 1</a:t>
            </a:r>
            <a:endParaRPr/>
          </a:p>
          <a:p>
            <a:pPr indent="-214197" lvl="0" marL="467771" rtl="0" algn="l">
              <a:lnSpc>
                <a:spcPct val="100000"/>
              </a:lnSpc>
              <a:spcBef>
                <a:spcPts val="1000"/>
              </a:spcBef>
              <a:spcAft>
                <a:spcPts val="0"/>
              </a:spcAft>
              <a:buClr>
                <a:schemeClr val="lt1"/>
              </a:buClr>
              <a:buSzPts val="2660"/>
              <a:buNone/>
            </a:pPr>
            <a:r>
              <a:t/>
            </a:r>
            <a:endParaRPr sz="28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42"/>
          <p:cNvSpPr txBox="1"/>
          <p:nvPr>
            <p:ph type="title"/>
          </p:nvPr>
        </p:nvSpPr>
        <p:spPr>
          <a:xfrm>
            <a:off x="1104901" y="76199"/>
            <a:ext cx="10509600" cy="768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2"/>
              </a:buClr>
              <a:buSzPts val="4200"/>
              <a:buFont typeface="Arial"/>
              <a:buNone/>
            </a:pPr>
            <a:r>
              <a:rPr lang="en-US"/>
              <a:t>Concept Check: True or False?</a:t>
            </a:r>
            <a:endParaRPr/>
          </a:p>
        </p:txBody>
      </p:sp>
      <p:sp>
        <p:nvSpPr>
          <p:cNvPr id="521" name="Google Shape;521;p42"/>
          <p:cNvSpPr txBox="1"/>
          <p:nvPr>
            <p:ph idx="1" type="body"/>
          </p:nvPr>
        </p:nvSpPr>
        <p:spPr>
          <a:xfrm>
            <a:off x="288413" y="916710"/>
            <a:ext cx="11332200" cy="5288100"/>
          </a:xfrm>
          <a:prstGeom prst="rect">
            <a:avLst/>
          </a:prstGeom>
          <a:noFill/>
          <a:ln>
            <a:noFill/>
          </a:ln>
        </p:spPr>
        <p:txBody>
          <a:bodyPr anchorCtr="0" anchor="t" bIns="45700" lIns="91425" spcFirstLastPara="1" rIns="91425" wrap="square" tIns="45700">
            <a:normAutofit/>
          </a:bodyPr>
          <a:lstStyle/>
          <a:p>
            <a:pPr indent="-742949" lvl="0" marL="827614" rtl="0" algn="l">
              <a:lnSpc>
                <a:spcPct val="100000"/>
              </a:lnSpc>
              <a:spcBef>
                <a:spcPts val="0"/>
              </a:spcBef>
              <a:spcAft>
                <a:spcPts val="0"/>
              </a:spcAft>
              <a:buClr>
                <a:schemeClr val="accent4"/>
              </a:buClr>
              <a:buSzPts val="2660"/>
              <a:buFont typeface="Calibri"/>
              <a:buAutoNum type="arabicPeriod"/>
            </a:pPr>
            <a:r>
              <a:rPr lang="en-US" sz="2800">
                <a:solidFill>
                  <a:schemeClr val="accent4"/>
                </a:solidFill>
              </a:rPr>
              <a:t>Types</a:t>
            </a:r>
            <a:r>
              <a:rPr lang="en-US" sz="2800"/>
              <a:t> are associated with </a:t>
            </a:r>
            <a:r>
              <a:rPr lang="en-US" sz="2800">
                <a:solidFill>
                  <a:schemeClr val="accent4"/>
                </a:solidFill>
              </a:rPr>
              <a:t>declaration in C </a:t>
            </a:r>
            <a:r>
              <a:rPr lang="en-US" sz="2800"/>
              <a:t>(normally), but are associated with </a:t>
            </a:r>
            <a:r>
              <a:rPr lang="en-US" sz="2800">
                <a:solidFill>
                  <a:schemeClr val="accent4"/>
                </a:solidFill>
              </a:rPr>
              <a:t>instructions</a:t>
            </a:r>
            <a:r>
              <a:rPr lang="en-US" sz="2800"/>
              <a:t> (operators) in RISC-V.</a:t>
            </a:r>
            <a:endParaRPr/>
          </a:p>
          <a:p>
            <a:pPr indent="-742949" lvl="0" marL="827614" rtl="0" algn="l">
              <a:lnSpc>
                <a:spcPct val="100000"/>
              </a:lnSpc>
              <a:spcBef>
                <a:spcPts val="1000"/>
              </a:spcBef>
              <a:spcAft>
                <a:spcPts val="0"/>
              </a:spcAft>
              <a:buClr>
                <a:schemeClr val="lt1"/>
              </a:buClr>
              <a:buSzPts val="2660"/>
              <a:buFont typeface="Calibri"/>
              <a:buAutoNum type="arabicPeriod"/>
            </a:pPr>
            <a:r>
              <a:rPr lang="en-US" sz="2800"/>
              <a:t>Since there are only </a:t>
            </a:r>
            <a:r>
              <a:rPr b="0" lang="en-US" sz="2800">
                <a:solidFill>
                  <a:srgbClr val="BCC424"/>
                </a:solidFill>
                <a:latin typeface="Arial"/>
                <a:ea typeface="Arial"/>
                <a:cs typeface="Arial"/>
                <a:sym typeface="Arial"/>
              </a:rPr>
              <a:t>32 registers</a:t>
            </a:r>
            <a:r>
              <a:rPr lang="en-US" sz="2800"/>
              <a:t>, we can’t write RISC-V for C expressions that contain &gt; 32 variables.</a:t>
            </a:r>
            <a:endParaRPr/>
          </a:p>
          <a:p>
            <a:pPr indent="-742949" lvl="0" marL="827614" rtl="0" algn="l">
              <a:lnSpc>
                <a:spcPct val="100000"/>
              </a:lnSpc>
              <a:spcBef>
                <a:spcPts val="1000"/>
              </a:spcBef>
              <a:spcAft>
                <a:spcPts val="0"/>
              </a:spcAft>
              <a:buClr>
                <a:schemeClr val="lt1"/>
              </a:buClr>
              <a:buSzPts val="2660"/>
              <a:buFont typeface="Calibri"/>
              <a:buAutoNum type="arabicPeriod"/>
            </a:pPr>
            <a:r>
              <a:rPr lang="en-US" sz="2800"/>
              <a:t>If </a:t>
            </a:r>
            <a:r>
              <a:rPr lang="en-US" sz="2800">
                <a:solidFill>
                  <a:schemeClr val="accent3"/>
                </a:solidFill>
                <a:latin typeface="Courier New"/>
                <a:ea typeface="Courier New"/>
                <a:cs typeface="Courier New"/>
                <a:sym typeface="Courier New"/>
              </a:rPr>
              <a:t>p</a:t>
            </a:r>
            <a:r>
              <a:rPr lang="en-US" sz="2800"/>
              <a:t> (stored in </a:t>
            </a:r>
            <a:r>
              <a:rPr lang="en-US" sz="2800">
                <a:latin typeface="Courier New"/>
                <a:ea typeface="Courier New"/>
                <a:cs typeface="Courier New"/>
                <a:sym typeface="Courier New"/>
              </a:rPr>
              <a:t>x9</a:t>
            </a:r>
            <a:r>
              <a:rPr lang="en-US" sz="2800"/>
              <a:t>) were a pointer to an array of </a:t>
            </a:r>
            <a:r>
              <a:rPr lang="en-US" sz="2800">
                <a:latin typeface="Courier New"/>
                <a:ea typeface="Courier New"/>
                <a:cs typeface="Courier New"/>
                <a:sym typeface="Courier New"/>
              </a:rPr>
              <a:t>int</a:t>
            </a:r>
            <a:r>
              <a:rPr lang="en-US" sz="2800"/>
              <a:t>s,</a:t>
            </a:r>
            <a:br>
              <a:rPr lang="en-US" sz="2800"/>
            </a:br>
            <a:r>
              <a:rPr lang="en-US" sz="2800"/>
              <a:t>then </a:t>
            </a:r>
            <a:r>
              <a:rPr lang="en-US" sz="2800">
                <a:latin typeface="Courier New"/>
                <a:ea typeface="Courier New"/>
                <a:cs typeface="Courier New"/>
                <a:sym typeface="Courier New"/>
              </a:rPr>
              <a:t>p++;</a:t>
            </a:r>
            <a:r>
              <a:rPr lang="en-US" sz="2800"/>
              <a:t> would be</a:t>
            </a:r>
            <a:br>
              <a:rPr lang="en-US" sz="2800"/>
            </a:br>
            <a:r>
              <a:rPr lang="en-US" sz="2800">
                <a:solidFill>
                  <a:schemeClr val="accent2"/>
                </a:solidFill>
                <a:latin typeface="Courier New"/>
                <a:ea typeface="Courier New"/>
                <a:cs typeface="Courier New"/>
                <a:sym typeface="Courier New"/>
              </a:rPr>
              <a:t>addi x9 x9 1</a:t>
            </a:r>
            <a:endParaRPr/>
          </a:p>
          <a:p>
            <a:pPr indent="-214196" lvl="0" marL="467771" rtl="0" algn="l">
              <a:lnSpc>
                <a:spcPct val="100000"/>
              </a:lnSpc>
              <a:spcBef>
                <a:spcPts val="1000"/>
              </a:spcBef>
              <a:spcAft>
                <a:spcPts val="0"/>
              </a:spcAft>
              <a:buClr>
                <a:schemeClr val="lt1"/>
              </a:buClr>
              <a:buSzPts val="2660"/>
              <a:buNone/>
            </a:pPr>
            <a:r>
              <a:t/>
            </a:r>
            <a:endParaRPr sz="2800"/>
          </a:p>
        </p:txBody>
      </p:sp>
      <p:sp>
        <p:nvSpPr>
          <p:cNvPr id="522" name="Google Shape;522;p42"/>
          <p:cNvSpPr txBox="1"/>
          <p:nvPr/>
        </p:nvSpPr>
        <p:spPr>
          <a:xfrm>
            <a:off x="10525575" y="3184153"/>
            <a:ext cx="1441500" cy="293160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chemeClr val="dk1"/>
              </a:buClr>
              <a:buSzPts val="2400"/>
              <a:buFont typeface="Times"/>
              <a:buNone/>
            </a:pPr>
            <a:r>
              <a:rPr b="1" lang="en-US" sz="2400">
                <a:solidFill>
                  <a:schemeClr val="dk1"/>
                </a:solidFill>
                <a:latin typeface="Courier New"/>
                <a:ea typeface="Courier New"/>
                <a:cs typeface="Courier New"/>
                <a:sym typeface="Courier New"/>
              </a:rPr>
              <a:t>   </a:t>
            </a:r>
            <a:r>
              <a:rPr b="1" lang="en-US" sz="2400">
                <a:solidFill>
                  <a:schemeClr val="accent1"/>
                </a:solidFill>
                <a:latin typeface="Courier New"/>
                <a:ea typeface="Courier New"/>
                <a:cs typeface="Courier New"/>
                <a:sym typeface="Courier New"/>
              </a:rPr>
              <a:t>123</a:t>
            </a:r>
            <a:endParaRPr/>
          </a:p>
          <a:p>
            <a:pPr indent="-514350" lvl="0" marL="514350" marR="0" rtl="0" algn="l">
              <a:lnSpc>
                <a:spcPct val="85000"/>
              </a:lnSpc>
              <a:spcBef>
                <a:spcPts val="0"/>
              </a:spcBef>
              <a:spcAft>
                <a:spcPts val="0"/>
              </a:spcAft>
              <a:buClr>
                <a:srgbClr val="7F7F7F"/>
              </a:buClr>
              <a:buSzPts val="2400"/>
              <a:buFont typeface="Calibri"/>
              <a:buAutoNum type="alphaUcPeriod"/>
            </a:pPr>
            <a:r>
              <a:rPr b="1" lang="en-US" sz="2400">
                <a:solidFill>
                  <a:srgbClr val="7F7F7F"/>
                </a:solidFill>
                <a:latin typeface="Courier New"/>
                <a:ea typeface="Courier New"/>
                <a:cs typeface="Courier New"/>
                <a:sym typeface="Courier New"/>
              </a:rPr>
              <a:t>FFF</a:t>
            </a:r>
            <a:endParaRPr/>
          </a:p>
          <a:p>
            <a:pPr indent="-514350" lvl="0" marL="514350" marR="0" rtl="0" algn="l">
              <a:lnSpc>
                <a:spcPct val="85000"/>
              </a:lnSpc>
              <a:spcBef>
                <a:spcPts val="0"/>
              </a:spcBef>
              <a:spcAft>
                <a:spcPts val="0"/>
              </a:spcAft>
              <a:buClr>
                <a:srgbClr val="7F7F7F"/>
              </a:buClr>
              <a:buSzPts val="2400"/>
              <a:buFont typeface="Calibri"/>
              <a:buAutoNum type="alphaUcPeriod"/>
            </a:pPr>
            <a:r>
              <a:rPr b="1" lang="en-US" sz="2400">
                <a:solidFill>
                  <a:srgbClr val="7F7F7F"/>
                </a:solidFill>
                <a:latin typeface="Courier New"/>
                <a:ea typeface="Courier New"/>
                <a:cs typeface="Courier New"/>
                <a:sym typeface="Courier New"/>
              </a:rPr>
              <a:t>FFT </a:t>
            </a:r>
            <a:endParaRPr/>
          </a:p>
          <a:p>
            <a:pPr indent="-514350" lvl="0" marL="514350" marR="0" rtl="0" algn="l">
              <a:lnSpc>
                <a:spcPct val="85000"/>
              </a:lnSpc>
              <a:spcBef>
                <a:spcPts val="0"/>
              </a:spcBef>
              <a:spcAft>
                <a:spcPts val="0"/>
              </a:spcAft>
              <a:buClr>
                <a:srgbClr val="7F7F7F"/>
              </a:buClr>
              <a:buSzPts val="2400"/>
              <a:buFont typeface="Calibri"/>
              <a:buAutoNum type="alphaUcPeriod"/>
            </a:pPr>
            <a:r>
              <a:rPr b="1" lang="en-US" sz="2400">
                <a:solidFill>
                  <a:srgbClr val="7F7F7F"/>
                </a:solidFill>
                <a:latin typeface="Courier New"/>
                <a:ea typeface="Courier New"/>
                <a:cs typeface="Courier New"/>
                <a:sym typeface="Courier New"/>
              </a:rPr>
              <a:t>FTF</a:t>
            </a:r>
            <a:endParaRPr/>
          </a:p>
          <a:p>
            <a:pPr indent="-514350" lvl="0" marL="514350" marR="0" rtl="0" algn="l">
              <a:lnSpc>
                <a:spcPct val="85000"/>
              </a:lnSpc>
              <a:spcBef>
                <a:spcPts val="0"/>
              </a:spcBef>
              <a:spcAft>
                <a:spcPts val="0"/>
              </a:spcAft>
              <a:buClr>
                <a:srgbClr val="7F7F7F"/>
              </a:buClr>
              <a:buSzPts val="2400"/>
              <a:buFont typeface="Calibri"/>
              <a:buAutoNum type="alphaUcPeriod"/>
            </a:pPr>
            <a:r>
              <a:rPr b="1" lang="en-US" sz="2400">
                <a:solidFill>
                  <a:srgbClr val="7F7F7F"/>
                </a:solidFill>
                <a:latin typeface="Courier New"/>
                <a:ea typeface="Courier New"/>
                <a:cs typeface="Courier New"/>
                <a:sym typeface="Courier New"/>
              </a:rPr>
              <a:t>FTT</a:t>
            </a:r>
            <a:endParaRPr/>
          </a:p>
          <a:p>
            <a:pPr indent="-514350" lvl="0" marL="514350" marR="0" rtl="0" algn="l">
              <a:lnSpc>
                <a:spcPct val="85000"/>
              </a:lnSpc>
              <a:spcBef>
                <a:spcPts val="0"/>
              </a:spcBef>
              <a:spcAft>
                <a:spcPts val="0"/>
              </a:spcAft>
              <a:buClr>
                <a:schemeClr val="accent3"/>
              </a:buClr>
              <a:buSzPts val="2400"/>
              <a:buFont typeface="Calibri"/>
              <a:buAutoNum type="alphaUcPeriod"/>
            </a:pPr>
            <a:r>
              <a:rPr b="1" lang="en-US" sz="2400">
                <a:solidFill>
                  <a:schemeClr val="accent3"/>
                </a:solidFill>
                <a:latin typeface="Courier New"/>
                <a:ea typeface="Courier New"/>
                <a:cs typeface="Courier New"/>
                <a:sym typeface="Courier New"/>
              </a:rPr>
              <a:t>T</a:t>
            </a:r>
            <a:r>
              <a:rPr b="1" lang="en-US" sz="2400">
                <a:solidFill>
                  <a:schemeClr val="accent2"/>
                </a:solidFill>
                <a:latin typeface="Courier New"/>
                <a:ea typeface="Courier New"/>
                <a:cs typeface="Courier New"/>
                <a:sym typeface="Courier New"/>
              </a:rPr>
              <a:t>FF</a:t>
            </a:r>
            <a:endParaRPr/>
          </a:p>
          <a:p>
            <a:pPr indent="-514350" lvl="0" marL="514350" marR="0" rtl="0" algn="l">
              <a:lnSpc>
                <a:spcPct val="85000"/>
              </a:lnSpc>
              <a:spcBef>
                <a:spcPts val="0"/>
              </a:spcBef>
              <a:spcAft>
                <a:spcPts val="0"/>
              </a:spcAft>
              <a:buClr>
                <a:srgbClr val="7F7F7F"/>
              </a:buClr>
              <a:buSzPts val="2400"/>
              <a:buFont typeface="Calibri"/>
              <a:buAutoNum type="alphaUcPeriod"/>
            </a:pPr>
            <a:r>
              <a:rPr b="1" lang="en-US" sz="2400">
                <a:solidFill>
                  <a:srgbClr val="7F7F7F"/>
                </a:solidFill>
                <a:latin typeface="Courier New"/>
                <a:ea typeface="Courier New"/>
                <a:cs typeface="Courier New"/>
                <a:sym typeface="Courier New"/>
              </a:rPr>
              <a:t>TFT</a:t>
            </a:r>
            <a:endParaRPr/>
          </a:p>
          <a:p>
            <a:pPr indent="-514350" lvl="0" marL="514350" marR="0" rtl="0" algn="l">
              <a:lnSpc>
                <a:spcPct val="85000"/>
              </a:lnSpc>
              <a:spcBef>
                <a:spcPts val="0"/>
              </a:spcBef>
              <a:spcAft>
                <a:spcPts val="0"/>
              </a:spcAft>
              <a:buClr>
                <a:srgbClr val="7F7F7F"/>
              </a:buClr>
              <a:buSzPts val="2400"/>
              <a:buFont typeface="Calibri"/>
              <a:buAutoNum type="alphaUcPeriod"/>
            </a:pPr>
            <a:r>
              <a:rPr b="1" lang="en-US" sz="2400">
                <a:solidFill>
                  <a:srgbClr val="7F7F7F"/>
                </a:solidFill>
                <a:latin typeface="Courier New"/>
                <a:ea typeface="Courier New"/>
                <a:cs typeface="Courier New"/>
                <a:sym typeface="Courier New"/>
              </a:rPr>
              <a:t>TTF</a:t>
            </a:r>
            <a:endParaRPr/>
          </a:p>
          <a:p>
            <a:pPr indent="-514350" lvl="0" marL="514350" marR="0" rtl="0" algn="l">
              <a:lnSpc>
                <a:spcPct val="85000"/>
              </a:lnSpc>
              <a:spcBef>
                <a:spcPts val="0"/>
              </a:spcBef>
              <a:spcAft>
                <a:spcPts val="0"/>
              </a:spcAft>
              <a:buClr>
                <a:srgbClr val="7F7F7F"/>
              </a:buClr>
              <a:buSzPts val="2400"/>
              <a:buFont typeface="Calibri"/>
              <a:buAutoNum type="alphaUcPeriod"/>
            </a:pPr>
            <a:r>
              <a:rPr b="1" lang="en-US" sz="2400">
                <a:solidFill>
                  <a:srgbClr val="7F7F7F"/>
                </a:solidFill>
                <a:latin typeface="Courier New"/>
                <a:ea typeface="Courier New"/>
                <a:cs typeface="Courier New"/>
                <a:sym typeface="Courier New"/>
              </a:rPr>
              <a:t>TTT</a:t>
            </a:r>
            <a:endParaRPr b="1" sz="2400">
              <a:solidFill>
                <a:srgbClr val="7F7F7F"/>
              </a:solidFill>
              <a:latin typeface="Courier New"/>
              <a:ea typeface="Courier New"/>
              <a:cs typeface="Courier New"/>
              <a:sym typeface="Courier New"/>
            </a:endParaRPr>
          </a:p>
        </p:txBody>
      </p:sp>
      <p:sp>
        <p:nvSpPr>
          <p:cNvPr id="523" name="Google Shape;523;p42"/>
          <p:cNvSpPr/>
          <p:nvPr/>
        </p:nvSpPr>
        <p:spPr>
          <a:xfrm>
            <a:off x="10406951" y="4731572"/>
            <a:ext cx="594900" cy="391800"/>
          </a:xfrm>
          <a:prstGeom prst="ellipse">
            <a:avLst/>
          </a:prstGeom>
          <a:noFill/>
          <a:ln cap="flat" cmpd="sng" w="381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dk1"/>
              </a:solidFill>
              <a:latin typeface="Arial"/>
              <a:ea typeface="Arial"/>
              <a:cs typeface="Arial"/>
              <a:sym typeface="Arial"/>
            </a:endParaRPr>
          </a:p>
        </p:txBody>
      </p:sp>
      <p:sp>
        <p:nvSpPr>
          <p:cNvPr id="524" name="Google Shape;524;p42"/>
          <p:cNvSpPr txBox="1"/>
          <p:nvPr/>
        </p:nvSpPr>
        <p:spPr>
          <a:xfrm>
            <a:off x="409039" y="4478830"/>
            <a:ext cx="10116600" cy="193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accent1"/>
                </a:solidFill>
                <a:latin typeface="Arial"/>
                <a:ea typeface="Arial"/>
                <a:cs typeface="Arial"/>
                <a:sym typeface="Arial"/>
              </a:rPr>
              <a:t>1. True, we saw that on an earlier slide.</a:t>
            </a:r>
            <a:endParaRPr/>
          </a:p>
          <a:p>
            <a:pPr indent="0" lvl="0" marL="0" marR="0" rtl="0" algn="l">
              <a:spcBef>
                <a:spcPts val="0"/>
              </a:spcBef>
              <a:spcAft>
                <a:spcPts val="0"/>
              </a:spcAft>
              <a:buNone/>
            </a:pPr>
            <a:r>
              <a:rPr lang="en-US" sz="2400">
                <a:solidFill>
                  <a:schemeClr val="accent1"/>
                </a:solidFill>
                <a:latin typeface="Arial"/>
                <a:ea typeface="Arial"/>
                <a:cs typeface="Arial"/>
                <a:sym typeface="Arial"/>
              </a:rPr>
              <a:t>2. False. we saw how to break up longer equations to smaller ones already.</a:t>
            </a:r>
            <a:endParaRPr/>
          </a:p>
          <a:p>
            <a:pPr indent="0" lvl="0" marL="0" marR="0" rtl="0" algn="l">
              <a:spcBef>
                <a:spcPts val="0"/>
              </a:spcBef>
              <a:spcAft>
                <a:spcPts val="0"/>
              </a:spcAft>
              <a:buNone/>
            </a:pPr>
            <a:r>
              <a:rPr lang="en-US" sz="2400">
                <a:solidFill>
                  <a:schemeClr val="accent1"/>
                </a:solidFill>
                <a:latin typeface="Arial"/>
                <a:ea typeface="Arial"/>
                <a:cs typeface="Arial"/>
                <a:sym typeface="Arial"/>
              </a:rPr>
              <a:t>3. False. Don’t forget that ints are (usually) 4 bytes wide, so instruction would be </a:t>
            </a:r>
            <a:r>
              <a:rPr b="1" lang="en-US" sz="2400">
                <a:solidFill>
                  <a:schemeClr val="accent1"/>
                </a:solidFill>
                <a:latin typeface="Courier New"/>
                <a:ea typeface="Courier New"/>
                <a:cs typeface="Courier New"/>
                <a:sym typeface="Courier New"/>
              </a:rPr>
              <a:t>addi x9, x9, 4</a:t>
            </a:r>
            <a:r>
              <a:rPr lang="en-US" sz="2400">
                <a:solidFill>
                  <a:schemeClr val="accent1"/>
                </a:solidFill>
                <a:latin typeface="Arial"/>
                <a:ea typeface="Arial"/>
                <a:cs typeface="Arial"/>
                <a:sym typeface="Arial"/>
              </a:rPr>
              <a: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43"/>
          <p:cNvSpPr txBox="1"/>
          <p:nvPr>
            <p:ph type="title"/>
          </p:nvPr>
        </p:nvSpPr>
        <p:spPr>
          <a:xfrm>
            <a:off x="1104901" y="76199"/>
            <a:ext cx="10509504" cy="76809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2"/>
              </a:buClr>
              <a:buSzPts val="4200"/>
              <a:buFont typeface="Arial"/>
              <a:buNone/>
            </a:pPr>
            <a:r>
              <a:rPr lang="en-US"/>
              <a:t>In Conclusion…</a:t>
            </a:r>
            <a:endParaRPr/>
          </a:p>
        </p:txBody>
      </p:sp>
      <p:sp>
        <p:nvSpPr>
          <p:cNvPr id="531" name="Google Shape;531;p43"/>
          <p:cNvSpPr txBox="1"/>
          <p:nvPr>
            <p:ph idx="1" type="body"/>
          </p:nvPr>
        </p:nvSpPr>
        <p:spPr>
          <a:xfrm>
            <a:off x="288413" y="916710"/>
            <a:ext cx="11332079" cy="5287965"/>
          </a:xfrm>
          <a:prstGeom prst="rect">
            <a:avLst/>
          </a:prstGeom>
          <a:noFill/>
          <a:ln>
            <a:noFill/>
          </a:ln>
        </p:spPr>
        <p:txBody>
          <a:bodyPr anchorCtr="0" anchor="t" bIns="45700" lIns="91425" spcFirstLastPara="1" rIns="91425" wrap="square" tIns="45700">
            <a:normAutofit fontScale="92500" lnSpcReduction="10000"/>
          </a:bodyPr>
          <a:lstStyle/>
          <a:p>
            <a:pPr indent="-383107" lvl="0" marL="467771" rtl="0" algn="l">
              <a:lnSpc>
                <a:spcPct val="100000"/>
              </a:lnSpc>
              <a:spcBef>
                <a:spcPts val="0"/>
              </a:spcBef>
              <a:spcAft>
                <a:spcPts val="0"/>
              </a:spcAft>
              <a:buClr>
                <a:schemeClr val="lt1"/>
              </a:buClr>
              <a:buSzPct val="95000"/>
              <a:buChar char="▪"/>
            </a:pPr>
            <a:r>
              <a:rPr lang="en-US"/>
              <a:t>In RISC-V Assembly Language:</a:t>
            </a:r>
            <a:endParaRPr/>
          </a:p>
          <a:p>
            <a:pPr indent="-311143" lvl="1" marL="768331" rtl="0" algn="l">
              <a:lnSpc>
                <a:spcPct val="100000"/>
              </a:lnSpc>
              <a:spcBef>
                <a:spcPts val="500"/>
              </a:spcBef>
              <a:spcAft>
                <a:spcPts val="0"/>
              </a:spcAft>
              <a:buClr>
                <a:schemeClr val="accent2"/>
              </a:buClr>
              <a:buSzPct val="90000"/>
              <a:buChar char="▫"/>
            </a:pPr>
            <a:r>
              <a:rPr lang="en-US"/>
              <a:t>Registers replace C variables</a:t>
            </a:r>
            <a:endParaRPr/>
          </a:p>
          <a:p>
            <a:pPr indent="-311143" lvl="1" marL="768331" rtl="0" algn="l">
              <a:lnSpc>
                <a:spcPct val="100000"/>
              </a:lnSpc>
              <a:spcBef>
                <a:spcPts val="500"/>
              </a:spcBef>
              <a:spcAft>
                <a:spcPts val="0"/>
              </a:spcAft>
              <a:buClr>
                <a:schemeClr val="accent2"/>
              </a:buClr>
              <a:buSzPct val="90000"/>
              <a:buChar char="▫"/>
            </a:pPr>
            <a:r>
              <a:rPr lang="en-US"/>
              <a:t>One instruction (simple operation) per line</a:t>
            </a:r>
            <a:endParaRPr/>
          </a:p>
          <a:p>
            <a:pPr indent="-311143" lvl="1" marL="768331" rtl="0" algn="l">
              <a:lnSpc>
                <a:spcPct val="100000"/>
              </a:lnSpc>
              <a:spcBef>
                <a:spcPts val="500"/>
              </a:spcBef>
              <a:spcAft>
                <a:spcPts val="0"/>
              </a:spcAft>
              <a:buClr>
                <a:schemeClr val="accent2"/>
              </a:buClr>
              <a:buSzPct val="90000"/>
              <a:buChar char="▫"/>
            </a:pPr>
            <a:r>
              <a:rPr lang="en-US"/>
              <a:t>Simpler is Better, Smaller is Faster</a:t>
            </a:r>
            <a:endParaRPr/>
          </a:p>
          <a:p>
            <a:pPr indent="-383107" lvl="0" marL="467771" rtl="0" algn="l">
              <a:lnSpc>
                <a:spcPct val="100000"/>
              </a:lnSpc>
              <a:spcBef>
                <a:spcPts val="1000"/>
              </a:spcBef>
              <a:spcAft>
                <a:spcPts val="0"/>
              </a:spcAft>
              <a:buClr>
                <a:schemeClr val="lt1"/>
              </a:buClr>
              <a:buSzPct val="95000"/>
              <a:buChar char="▪"/>
            </a:pPr>
            <a:r>
              <a:rPr lang="en-US"/>
              <a:t> In RV32, words are 32b</a:t>
            </a:r>
            <a:endParaRPr/>
          </a:p>
          <a:p>
            <a:pPr indent="-383107" lvl="0" marL="467771" rtl="0" algn="l">
              <a:lnSpc>
                <a:spcPct val="100000"/>
              </a:lnSpc>
              <a:spcBef>
                <a:spcPts val="1000"/>
              </a:spcBef>
              <a:spcAft>
                <a:spcPts val="0"/>
              </a:spcAft>
              <a:buClr>
                <a:schemeClr val="lt1"/>
              </a:buClr>
              <a:buSzPct val="95000"/>
              <a:buChar char="▪"/>
            </a:pPr>
            <a:r>
              <a:rPr lang="en-US"/>
              <a:t> Instructions:</a:t>
            </a:r>
            <a:endParaRPr/>
          </a:p>
          <a:p>
            <a:pPr indent="0" lvl="0" marL="84664" rtl="0" algn="l">
              <a:lnSpc>
                <a:spcPct val="100000"/>
              </a:lnSpc>
              <a:spcBef>
                <a:spcPts val="1000"/>
              </a:spcBef>
              <a:spcAft>
                <a:spcPts val="0"/>
              </a:spcAft>
              <a:buClr>
                <a:schemeClr val="lt1"/>
              </a:buClr>
              <a:buSzPct val="95000"/>
              <a:buNone/>
            </a:pPr>
            <a:r>
              <a:rPr lang="en-US"/>
              <a:t>	</a:t>
            </a:r>
            <a:r>
              <a:rPr lang="en-US">
                <a:solidFill>
                  <a:schemeClr val="accent2"/>
                </a:solidFill>
                <a:latin typeface="Courier New"/>
                <a:ea typeface="Courier New"/>
                <a:cs typeface="Courier New"/>
                <a:sym typeface="Courier New"/>
              </a:rPr>
              <a:t>add, addi, sub</a:t>
            </a:r>
            <a:endParaRPr/>
          </a:p>
          <a:p>
            <a:pPr indent="-383107" lvl="0" marL="467771" rtl="0" algn="l">
              <a:lnSpc>
                <a:spcPct val="100000"/>
              </a:lnSpc>
              <a:spcBef>
                <a:spcPts val="1000"/>
              </a:spcBef>
              <a:spcAft>
                <a:spcPts val="0"/>
              </a:spcAft>
              <a:buClr>
                <a:schemeClr val="lt1"/>
              </a:buClr>
              <a:buSzPct val="95000"/>
              <a:buChar char="▪"/>
            </a:pPr>
            <a:r>
              <a:rPr lang="en-US"/>
              <a:t> Registers:</a:t>
            </a:r>
            <a:endParaRPr/>
          </a:p>
          <a:p>
            <a:pPr indent="-311143" lvl="1" marL="768331" rtl="0" algn="l">
              <a:lnSpc>
                <a:spcPct val="100000"/>
              </a:lnSpc>
              <a:spcBef>
                <a:spcPts val="500"/>
              </a:spcBef>
              <a:spcAft>
                <a:spcPts val="0"/>
              </a:spcAft>
              <a:buClr>
                <a:schemeClr val="accent2"/>
              </a:buClr>
              <a:buSzPct val="90000"/>
              <a:buChar char="▫"/>
            </a:pPr>
            <a:r>
              <a:rPr lang="en-US"/>
              <a:t>32 registers, referred to as </a:t>
            </a:r>
            <a:r>
              <a:rPr b="1" lang="en-US">
                <a:latin typeface="Courier New"/>
                <a:ea typeface="Courier New"/>
                <a:cs typeface="Courier New"/>
                <a:sym typeface="Courier New"/>
              </a:rPr>
              <a:t>x0 – x31</a:t>
            </a:r>
            <a:endParaRPr/>
          </a:p>
          <a:p>
            <a:pPr indent="-311143" lvl="1" marL="768331" rtl="0" algn="l">
              <a:lnSpc>
                <a:spcPct val="100000"/>
              </a:lnSpc>
              <a:spcBef>
                <a:spcPts val="500"/>
              </a:spcBef>
              <a:spcAft>
                <a:spcPts val="0"/>
              </a:spcAft>
              <a:buClr>
                <a:schemeClr val="accent2"/>
              </a:buClr>
              <a:buSzPct val="90000"/>
              <a:buChar char="▫"/>
            </a:pPr>
            <a:r>
              <a:rPr lang="en-US"/>
              <a:t>Zero: </a:t>
            </a:r>
            <a:r>
              <a:rPr b="1" lang="en-US">
                <a:latin typeface="Courier New"/>
                <a:ea typeface="Courier New"/>
                <a:cs typeface="Courier New"/>
                <a:sym typeface="Courier New"/>
              </a:rPr>
              <a:t>x0</a:t>
            </a:r>
            <a:endParaRPr/>
          </a:p>
          <a:p>
            <a:pPr indent="-182225" lvl="0" marL="467771" rtl="0" algn="l">
              <a:lnSpc>
                <a:spcPct val="100000"/>
              </a:lnSpc>
              <a:spcBef>
                <a:spcPts val="1000"/>
              </a:spcBef>
              <a:spcAft>
                <a:spcPts val="0"/>
              </a:spcAft>
              <a:buClr>
                <a:schemeClr val="lt1"/>
              </a:buClr>
              <a:buSzPct val="950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S61C-ly-new">
  <a:themeElements>
    <a:clrScheme name="CS61C New">
      <a:dk1>
        <a:srgbClr val="000000"/>
      </a:dk1>
      <a:lt1>
        <a:srgbClr val="FFFFFF"/>
      </a:lt1>
      <a:dk2>
        <a:srgbClr val="002E5D"/>
      </a:dk2>
      <a:lt2>
        <a:srgbClr val="E5DCD1"/>
      </a:lt2>
      <a:accent1>
        <a:srgbClr val="00BDE2"/>
      </a:accent1>
      <a:accent2>
        <a:srgbClr val="C6DAC3"/>
      </a:accent2>
      <a:accent3>
        <a:srgbClr val="FEC016"/>
      </a:accent3>
      <a:accent4>
        <a:srgbClr val="D9E056"/>
      </a:accent4>
      <a:accent5>
        <a:srgbClr val="EB1379"/>
      </a:accent5>
      <a:accent6>
        <a:srgbClr val="A97EFA"/>
      </a:accent6>
      <a:hlink>
        <a:srgbClr val="7E7E7E"/>
      </a:hlink>
      <a:folHlink>
        <a:srgbClr val="E5DCD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