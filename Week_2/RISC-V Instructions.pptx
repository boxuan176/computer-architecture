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Oswald"/>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Oswald-regular.fntdata"/><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swald-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43db8a3f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43db8a3f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3aaf244ca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3aaf244ca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3aaf244ca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3aaf244ca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202e32ef3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202e32ef3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aaf244ca4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3aaf244ca4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3aaf244ca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3aaf244ca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02e32ef3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02e32ef3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3aaf244ca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3aaf244ca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3aaf244ca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3aaf244ca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02e32ef3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02e32ef3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aaf244ca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aaf244ca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02e32ef3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202e32ef3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02e32ef3e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02e32ef3e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02e32ef3e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02e32ef3e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02e32ef3e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02e32ef3e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02e32ef3e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02e32ef3e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02e32ef3e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02e32ef3e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02e32ef3e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02e32ef3e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aaf244ca4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3aaf244ca4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202e32ef3e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202e32ef3e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202e32ef3e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202e32ef3e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202e32ef3e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202e32ef3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3aaf244ca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3aaf244ca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3aaf244ca4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3aaf244ca4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3aaf244ca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3aaf244ca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aaf244ca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3aaf244ca4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3aaf244ca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3aaf244ca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202e32ef3e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202e32ef3e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02e32ef3e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02e32ef3e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3aaf244ca4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3aaf244ca4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aaf244ca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aaf244ca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202e32ef3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202e32ef3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02e32ef3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02e32ef3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202e32ef3e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202e32ef3e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3aaf244ca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3aaf244ca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3aaf244ca4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3aaf244ca4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3aaf244ca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3aaf244ca4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02e32ef3e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202e32ef3e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3aaf244ca4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3aaf244ca4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202e32ef3e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202e32ef3e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3aaf244ca4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3aaf244ca4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3aaf244ca4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3aaf244ca4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3aaf244ca4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3aaf244ca4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3aaf244ca4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3aaf244ca4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3aaf244ca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3aaf244ca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3aaf244ca4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3aaf244ca4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ubtitl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8" name="Google Shape;58;p14"/>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
        <p:nvSpPr>
          <p:cNvPr id="60" name="Google Shape;60;p14"/>
          <p:cNvSpPr txBox="1"/>
          <p:nvPr>
            <p:ph idx="2" type="subTitle"/>
          </p:nvPr>
        </p:nvSpPr>
        <p:spPr>
          <a:xfrm>
            <a:off x="1473000" y="3788500"/>
            <a:ext cx="6198000" cy="479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9E9E9E"/>
              </a:buClr>
              <a:buSzPts val="1800"/>
              <a:buNone/>
              <a:defRPr>
                <a:solidFill>
                  <a:srgbClr val="9E9E9E"/>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o subtitle)">
  <p:cSld name="TITLE_1">
    <p:spTree>
      <p:nvGrpSpPr>
        <p:cNvPr id="61" name="Shape 61"/>
        <p:cNvGrpSpPr/>
        <p:nvPr/>
      </p:nvGrpSpPr>
      <p:grpSpPr>
        <a:xfrm>
          <a:off x="0" y="0"/>
          <a:ext cx="0" cy="0"/>
          <a:chOff x="0" y="0"/>
          <a:chExt cx="0" cy="0"/>
        </a:xfrm>
      </p:grpSpPr>
      <p:sp>
        <p:nvSpPr>
          <p:cNvPr id="62" name="Google Shape;62;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3" name="Google Shape;63;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1" name="Google Shape;7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sp>
        <p:nvSpPr>
          <p:cNvPr id="73" name="Google Shape;73;p1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8"/>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8"/>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9"/>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2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20"/>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84" name="Shape 84"/>
        <p:cNvGrpSpPr/>
        <p:nvPr/>
      </p:nvGrpSpPr>
      <p:grpSpPr>
        <a:xfrm>
          <a:off x="0" y="0"/>
          <a:ext cx="0" cy="0"/>
          <a:chOff x="0" y="0"/>
          <a:chExt cx="0" cy="0"/>
        </a:xfrm>
      </p:grpSpPr>
      <p:sp>
        <p:nvSpPr>
          <p:cNvPr id="85" name="Google Shape;85;p2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21"/>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87" name="Google Shape;8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D9EAD3"/>
        </a:solidFill>
      </p:bgPr>
    </p:bg>
    <p:spTree>
      <p:nvGrpSpPr>
        <p:cNvPr id="88" name="Shape 88"/>
        <p:cNvGrpSpPr/>
        <p:nvPr/>
      </p:nvGrpSpPr>
      <p:grpSpPr>
        <a:xfrm>
          <a:off x="0" y="0"/>
          <a:ext cx="0" cy="0"/>
          <a:chOff x="0" y="0"/>
          <a:chExt cx="0" cy="0"/>
        </a:xfrm>
      </p:grpSpPr>
      <p:sp>
        <p:nvSpPr>
          <p:cNvPr id="89" name="Google Shape;89;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0" name="Google Shape;9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D9EAD3"/>
        </a:solidFill>
      </p:bgPr>
    </p:bg>
    <p:spTree>
      <p:nvGrpSpPr>
        <p:cNvPr id="91" name="Shape 91"/>
        <p:cNvGrpSpPr/>
        <p:nvPr/>
      </p:nvGrpSpPr>
      <p:grpSpPr>
        <a:xfrm>
          <a:off x="0" y="0"/>
          <a:ext cx="0" cy="0"/>
          <a:chOff x="0" y="0"/>
          <a:chExt cx="0" cy="0"/>
        </a:xfrm>
      </p:grpSpPr>
      <p:sp>
        <p:nvSpPr>
          <p:cNvPr id="92" name="Google Shape;92;p2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3" name="Google Shape;9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D9EAD3"/>
        </a:solidFill>
      </p:bgPr>
    </p:bg>
    <p:spTree>
      <p:nvGrpSpPr>
        <p:cNvPr id="95" name="Shape 95"/>
        <p:cNvGrpSpPr/>
        <p:nvPr/>
      </p:nvGrpSpPr>
      <p:grpSpPr>
        <a:xfrm>
          <a:off x="0" y="0"/>
          <a:ext cx="0" cy="0"/>
          <a:chOff x="0" y="0"/>
          <a:chExt cx="0" cy="0"/>
        </a:xfrm>
      </p:grpSpPr>
      <p:sp>
        <p:nvSpPr>
          <p:cNvPr id="96" name="Google Shape;96;p2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 name="Google Shape;9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4"/>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9" name="Google Shape;99;p24"/>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D9EAD3"/>
        </a:solidFill>
      </p:bgPr>
    </p:bg>
    <p:spTree>
      <p:nvGrpSpPr>
        <p:cNvPr id="100" name="Shape 100"/>
        <p:cNvGrpSpPr/>
        <p:nvPr/>
      </p:nvGrpSpPr>
      <p:grpSpPr>
        <a:xfrm>
          <a:off x="0" y="0"/>
          <a:ext cx="0" cy="0"/>
          <a:chOff x="0" y="0"/>
          <a:chExt cx="0" cy="0"/>
        </a:xfrm>
      </p:grpSpPr>
      <p:sp>
        <p:nvSpPr>
          <p:cNvPr id="101" name="Google Shape;101;p2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D9EAD3"/>
        </a:solidFill>
      </p:bgPr>
    </p:bg>
    <p:spTree>
      <p:nvGrpSpPr>
        <p:cNvPr id="103" name="Shape 103"/>
        <p:cNvGrpSpPr/>
        <p:nvPr/>
      </p:nvGrpSpPr>
      <p:grpSpPr>
        <a:xfrm>
          <a:off x="0" y="0"/>
          <a:ext cx="0" cy="0"/>
          <a:chOff x="0" y="0"/>
          <a:chExt cx="0" cy="0"/>
        </a:xfrm>
      </p:grpSpPr>
      <p:sp>
        <p:nvSpPr>
          <p:cNvPr id="104" name="Google Shape;10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2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D9EAD3"/>
        </a:solidFill>
      </p:bgPr>
    </p:bg>
    <p:spTree>
      <p:nvGrpSpPr>
        <p:cNvPr id="107" name="Shape 107"/>
        <p:cNvGrpSpPr/>
        <p:nvPr/>
      </p:nvGrpSpPr>
      <p:grpSpPr>
        <a:xfrm>
          <a:off x="0" y="0"/>
          <a:ext cx="0" cy="0"/>
          <a:chOff x="0" y="0"/>
          <a:chExt cx="0" cy="0"/>
        </a:xfrm>
      </p:grpSpPr>
      <p:sp>
        <p:nvSpPr>
          <p:cNvPr id="108" name="Google Shape;108;p2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27"/>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n Scope">
  <p:cSld name="SECTION_HEADER_1_1">
    <p:bg>
      <p:bgPr>
        <a:solidFill>
          <a:srgbClr val="FCE5CD"/>
        </a:solidFill>
      </p:bgPr>
    </p:bg>
    <p:spTree>
      <p:nvGrpSpPr>
        <p:cNvPr id="111" name="Shape 111"/>
        <p:cNvGrpSpPr/>
        <p:nvPr/>
      </p:nvGrpSpPr>
      <p:grpSpPr>
        <a:xfrm>
          <a:off x="0" y="0"/>
          <a:ext cx="0" cy="0"/>
          <a:chOff x="0" y="0"/>
          <a:chExt cx="0" cy="0"/>
        </a:xfrm>
      </p:grpSpPr>
      <p:sp>
        <p:nvSpPr>
          <p:cNvPr id="112" name="Google Shape;112;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3" name="Google Shape;11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Dan Scope">
  <p:cSld name="TITLE_AND_BODY_1_1">
    <p:bg>
      <p:bgPr>
        <a:solidFill>
          <a:srgbClr val="FCE5CD"/>
        </a:solidFill>
      </p:bgPr>
    </p:bg>
    <p:spTree>
      <p:nvGrpSpPr>
        <p:cNvPr id="114" name="Shape 114"/>
        <p:cNvGrpSpPr/>
        <p:nvPr/>
      </p:nvGrpSpPr>
      <p:grpSpPr>
        <a:xfrm>
          <a:off x="0" y="0"/>
          <a:ext cx="0" cy="0"/>
          <a:chOff x="0" y="0"/>
          <a:chExt cx="0" cy="0"/>
        </a:xfrm>
      </p:grpSpPr>
      <p:sp>
        <p:nvSpPr>
          <p:cNvPr id="115" name="Google Shape;115;p29"/>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Dan Scope">
  <p:cSld name="TITLE_AND_TWO_COLUMNS_1_1">
    <p:bg>
      <p:bgPr>
        <a:solidFill>
          <a:srgbClr val="FCE5CD"/>
        </a:solidFill>
      </p:bgPr>
    </p:bg>
    <p:spTree>
      <p:nvGrpSpPr>
        <p:cNvPr id="118" name="Shape 118"/>
        <p:cNvGrpSpPr/>
        <p:nvPr/>
      </p:nvGrpSpPr>
      <p:grpSpPr>
        <a:xfrm>
          <a:off x="0" y="0"/>
          <a:ext cx="0" cy="0"/>
          <a:chOff x="0" y="0"/>
          <a:chExt cx="0" cy="0"/>
        </a:xfrm>
      </p:grpSpPr>
      <p:sp>
        <p:nvSpPr>
          <p:cNvPr id="119" name="Google Shape;119;p3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 name="Google Shape;12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30"/>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2" name="Google Shape;122;p30"/>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Dan Scope">
  <p:cSld name="TITLE_ONLY_1_1">
    <p:bg>
      <p:bgPr>
        <a:solidFill>
          <a:srgbClr val="FCE5CD"/>
        </a:solidFill>
      </p:bgPr>
    </p:bg>
    <p:spTree>
      <p:nvGrpSpPr>
        <p:cNvPr id="123" name="Shape 123"/>
        <p:cNvGrpSpPr/>
        <p:nvPr/>
      </p:nvGrpSpPr>
      <p:grpSpPr>
        <a:xfrm>
          <a:off x="0" y="0"/>
          <a:ext cx="0" cy="0"/>
          <a:chOff x="0" y="0"/>
          <a:chExt cx="0" cy="0"/>
        </a:xfrm>
      </p:grpSpPr>
      <p:sp>
        <p:nvSpPr>
          <p:cNvPr id="124" name="Google Shape;124;p3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 name="Google Shape;12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Dan Scope">
  <p:cSld name="ONE_COLUMN_TEXT_1_1">
    <p:bg>
      <p:bgPr>
        <a:solidFill>
          <a:srgbClr val="FCE5CD"/>
        </a:solidFill>
      </p:bgPr>
    </p:bg>
    <p:spTree>
      <p:nvGrpSpPr>
        <p:cNvPr id="126" name="Shape 126"/>
        <p:cNvGrpSpPr/>
        <p:nvPr/>
      </p:nvGrpSpPr>
      <p:grpSpPr>
        <a:xfrm>
          <a:off x="0" y="0"/>
          <a:ext cx="0" cy="0"/>
          <a:chOff x="0" y="0"/>
          <a:chExt cx="0" cy="0"/>
        </a:xfrm>
      </p:grpSpPr>
      <p:sp>
        <p:nvSpPr>
          <p:cNvPr id="127" name="Google Shape;12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3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32"/>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n Scope">
  <p:cSld name="CUSTOM_1_1">
    <p:bg>
      <p:bgPr>
        <a:solidFill>
          <a:srgbClr val="FCE5CD"/>
        </a:solidFill>
      </p:bgPr>
    </p:bg>
    <p:spTree>
      <p:nvGrpSpPr>
        <p:cNvPr id="130" name="Shape 130"/>
        <p:cNvGrpSpPr/>
        <p:nvPr/>
      </p:nvGrpSpPr>
      <p:grpSpPr>
        <a:xfrm>
          <a:off x="0" y="0"/>
          <a:ext cx="0" cy="0"/>
          <a:chOff x="0" y="0"/>
          <a:chExt cx="0" cy="0"/>
        </a:xfrm>
      </p:grpSpPr>
      <p:sp>
        <p:nvSpPr>
          <p:cNvPr id="131" name="Google Shape;131;p3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33"/>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33" name="Google Shape;13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134" name="Shape 134"/>
        <p:cNvGrpSpPr/>
        <p:nvPr/>
      </p:nvGrpSpPr>
      <p:grpSpPr>
        <a:xfrm>
          <a:off x="0" y="0"/>
          <a:ext cx="0" cy="0"/>
          <a:chOff x="0" y="0"/>
          <a:chExt cx="0" cy="0"/>
        </a:xfrm>
      </p:grpSpPr>
      <p:grpSp>
        <p:nvGrpSpPr>
          <p:cNvPr id="135" name="Google Shape;135;p34"/>
          <p:cNvGrpSpPr/>
          <p:nvPr/>
        </p:nvGrpSpPr>
        <p:grpSpPr>
          <a:xfrm>
            <a:off x="6098378" y="5"/>
            <a:ext cx="3045625" cy="2030570"/>
            <a:chOff x="6098378" y="5"/>
            <a:chExt cx="3045625" cy="2030570"/>
          </a:xfrm>
        </p:grpSpPr>
        <p:sp>
          <p:nvSpPr>
            <p:cNvPr id="136" name="Google Shape;136;p34"/>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4"/>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4"/>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4"/>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4"/>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34"/>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2" name="Google Shape;142;p3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
        <p:nvSpPr>
          <p:cNvPr id="54" name="Google Shape;54;p13"/>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 61C</a:t>
            </a:r>
            <a:endParaRPr b="1" sz="600">
              <a:solidFill>
                <a:schemeClr val="lt1"/>
              </a:solidFill>
            </a:endParaRPr>
          </a:p>
        </p:txBody>
      </p:sp>
      <p:sp>
        <p:nvSpPr>
          <p:cNvPr id="55" name="Google Shape;55;p13"/>
          <p:cNvSpPr/>
          <p:nvPr/>
        </p:nvSpPr>
        <p:spPr>
          <a:xfrm>
            <a:off x="7628700" y="1017725"/>
            <a:ext cx="1515300" cy="111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600">
                <a:solidFill>
                  <a:schemeClr val="lt1"/>
                </a:solidFill>
              </a:rPr>
              <a:t>Summer 2022</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github.com/sysprog21/rv32em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latin typeface="Oswald"/>
                <a:ea typeface="Oswald"/>
                <a:cs typeface="Oswald"/>
                <a:sym typeface="Oswald"/>
              </a:rPr>
              <a:t>RISC-V Instructions</a:t>
            </a:r>
            <a:endParaRPr sz="4200">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Agenda</a:t>
            </a:r>
            <a:endParaRPr>
              <a:latin typeface="Oswald"/>
              <a:ea typeface="Oswald"/>
              <a:cs typeface="Oswald"/>
              <a:sym typeface="Oswald"/>
            </a:endParaRPr>
          </a:p>
        </p:txBody>
      </p:sp>
      <p:sp>
        <p:nvSpPr>
          <p:cNvPr id="153" name="Google Shape;153;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 to Assembly Languages</a:t>
            </a:r>
            <a:endParaRPr/>
          </a:p>
          <a:p>
            <a:pPr indent="-342900" lvl="0" marL="457200" rtl="0" algn="l">
              <a:spcBef>
                <a:spcPts val="0"/>
              </a:spcBef>
              <a:spcAft>
                <a:spcPts val="0"/>
              </a:spcAft>
              <a:buSzPts val="1800"/>
              <a:buChar char="●"/>
            </a:pPr>
            <a:r>
              <a:rPr lang="en"/>
              <a:t>RISC-V Programming Paradigm</a:t>
            </a:r>
            <a:endParaRPr/>
          </a:p>
          <a:p>
            <a:pPr indent="-342900" lvl="0" marL="457200" rtl="0" algn="l">
              <a:spcBef>
                <a:spcPts val="0"/>
              </a:spcBef>
              <a:spcAft>
                <a:spcPts val="0"/>
              </a:spcAft>
              <a:buSzPts val="1800"/>
              <a:buChar char="●"/>
            </a:pPr>
            <a:r>
              <a:rPr lang="en"/>
              <a:t>List of RISC-V Instructions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Agenda</a:t>
            </a:r>
            <a:endParaRPr>
              <a:latin typeface="Oswald"/>
              <a:ea typeface="Oswald"/>
              <a:cs typeface="Oswald"/>
              <a:sym typeface="Oswald"/>
            </a:endParaRPr>
          </a:p>
        </p:txBody>
      </p:sp>
      <p:sp>
        <p:nvSpPr>
          <p:cNvPr id="159" name="Google Shape;159;p3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6AA84F"/>
              </a:buClr>
              <a:buSzPts val="1800"/>
              <a:buChar char="●"/>
            </a:pPr>
            <a:r>
              <a:rPr b="1" lang="en">
                <a:solidFill>
                  <a:srgbClr val="6AA84F"/>
                </a:solidFill>
              </a:rPr>
              <a:t>Intro to Assembly Languages</a:t>
            </a:r>
            <a:endParaRPr b="1">
              <a:solidFill>
                <a:srgbClr val="6AA84F"/>
              </a:solidFill>
            </a:endParaRPr>
          </a:p>
          <a:p>
            <a:pPr indent="-342900" lvl="0" marL="457200" rtl="0" algn="l">
              <a:spcBef>
                <a:spcPts val="0"/>
              </a:spcBef>
              <a:spcAft>
                <a:spcPts val="0"/>
              </a:spcAft>
              <a:buSzPts val="1800"/>
              <a:buChar char="●"/>
            </a:pPr>
            <a:r>
              <a:rPr lang="en"/>
              <a:t>RISC-V Programming Paradigm</a:t>
            </a:r>
            <a:endParaRPr/>
          </a:p>
          <a:p>
            <a:pPr indent="-342900" lvl="0" marL="457200" rtl="0" algn="l">
              <a:spcBef>
                <a:spcPts val="0"/>
              </a:spcBef>
              <a:spcAft>
                <a:spcPts val="0"/>
              </a:spcAft>
              <a:buSzPts val="1800"/>
              <a:buChar char="●"/>
            </a:pPr>
            <a:r>
              <a:rPr lang="en"/>
              <a:t>List of RISC-V Instructions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Building a computer from the ground up</a:t>
            </a:r>
            <a:endParaRPr>
              <a:latin typeface="Oswald"/>
              <a:ea typeface="Oswald"/>
              <a:cs typeface="Oswald"/>
              <a:sym typeface="Oswald"/>
            </a:endParaRPr>
          </a:p>
        </p:txBody>
      </p:sp>
      <p:sp>
        <p:nvSpPr>
          <p:cNvPr id="165" name="Google Shape;165;p3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Ultimately, any program we write needs to run on a circuit in order to be useful.</a:t>
            </a:r>
            <a:endParaRPr/>
          </a:p>
          <a:p>
            <a:pPr indent="-334327" lvl="0" marL="457200" rtl="0" algn="l">
              <a:spcBef>
                <a:spcPts val="0"/>
              </a:spcBef>
              <a:spcAft>
                <a:spcPts val="0"/>
              </a:spcAft>
              <a:buSzPct val="100000"/>
              <a:buChar char="●"/>
            </a:pPr>
            <a:r>
              <a:rPr lang="en"/>
              <a:t>However, circuit-level programming is highly restrictive. </a:t>
            </a:r>
            <a:endParaRPr/>
          </a:p>
          <a:p>
            <a:pPr indent="-310832" lvl="1" marL="914400" rtl="0" algn="l">
              <a:spcBef>
                <a:spcPts val="0"/>
              </a:spcBef>
              <a:spcAft>
                <a:spcPts val="0"/>
              </a:spcAft>
              <a:buSzPct val="100000"/>
              <a:buChar char="○"/>
            </a:pPr>
            <a:r>
              <a:rPr lang="en"/>
              <a:t>With C, someone designed the programming language, so that person had full control over the operators allowed, and thus could choose how those operators were defined to be useful: the primitive components were defined to reflect the demands of the language.</a:t>
            </a:r>
            <a:endParaRPr/>
          </a:p>
          <a:p>
            <a:pPr indent="-310832" lvl="1" marL="914400" rtl="0" algn="l">
              <a:spcBef>
                <a:spcPts val="0"/>
              </a:spcBef>
              <a:spcAft>
                <a:spcPts val="0"/>
              </a:spcAft>
              <a:buSzPct val="100000"/>
              <a:buChar char="○"/>
            </a:pPr>
            <a:r>
              <a:rPr lang="en"/>
              <a:t>Once you get to the circuit level, every primitive component we use is a piece of silicon that happens to </a:t>
            </a:r>
            <a:r>
              <a:rPr lang="en"/>
              <a:t>behave</a:t>
            </a:r>
            <a:r>
              <a:rPr lang="en"/>
              <a:t> in predictable and useful ways: the language needs to be defined to reflect the available components.</a:t>
            </a:r>
            <a:endParaRPr/>
          </a:p>
          <a:p>
            <a:pPr indent="-334327" lvl="0" marL="457200" rtl="0" algn="l">
              <a:spcBef>
                <a:spcPts val="0"/>
              </a:spcBef>
              <a:spcAft>
                <a:spcPts val="0"/>
              </a:spcAft>
              <a:buSzPct val="100000"/>
              <a:buChar char="●"/>
            </a:pPr>
            <a:r>
              <a:rPr lang="en"/>
              <a:t>Early computers essentially had to be rebuilt for every program you wanted to run, since different computations required different circuits.</a:t>
            </a:r>
            <a:endParaRPr/>
          </a:p>
          <a:p>
            <a:pPr indent="-334327" lvl="0" marL="457200" rtl="0" algn="l">
              <a:spcBef>
                <a:spcPts val="0"/>
              </a:spcBef>
              <a:spcAft>
                <a:spcPts val="0"/>
              </a:spcAft>
              <a:buSzPct val="100000"/>
              <a:buChar char="●"/>
            </a:pPr>
            <a:r>
              <a:rPr lang="en"/>
              <a:t>One major advancement in computer science was the creation of software-based languages. Instead of making a new circuit for every problem you want to solve, make a circuit (called a CPU) that solves the problem “Carry out a sequence of instructions stored as binary data”. Then solve your </a:t>
            </a:r>
            <a:r>
              <a:rPr lang="en"/>
              <a:t>problem by writing instructions in binary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Assembly Language</a:t>
            </a:r>
            <a:endParaRPr>
              <a:latin typeface="Oswald"/>
              <a:ea typeface="Oswald"/>
              <a:cs typeface="Oswald"/>
              <a:sym typeface="Oswald"/>
            </a:endParaRPr>
          </a:p>
        </p:txBody>
      </p:sp>
      <p:sp>
        <p:nvSpPr>
          <p:cNvPr id="171" name="Google Shape;171;p3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don’t want to change the CPU after we build it, so when designing our CPU, we need to decide on a specific set of instructions that will be supported by the CPU, along with a way to translate each instruction to a binary form.</a:t>
            </a:r>
            <a:endParaRPr/>
          </a:p>
          <a:p>
            <a:pPr indent="-342900" lvl="0" marL="457200" rtl="0" algn="l">
              <a:spcBef>
                <a:spcPts val="0"/>
              </a:spcBef>
              <a:spcAft>
                <a:spcPts val="0"/>
              </a:spcAft>
              <a:buSzPts val="1800"/>
              <a:buChar char="●"/>
            </a:pPr>
            <a:r>
              <a:rPr lang="en"/>
              <a:t>Different CPUs implement different sets of instructions.  The set of instructions a particular CPU implements is an Instruction Set Architecture (ISA), and the programming language defined by the ISA is commonly known as an assembly language.</a:t>
            </a:r>
            <a:endParaRPr/>
          </a:p>
          <a:p>
            <a:pPr indent="-317500" lvl="1" marL="914400" rtl="0" algn="l">
              <a:spcBef>
                <a:spcPts val="0"/>
              </a:spcBef>
              <a:spcAft>
                <a:spcPts val="0"/>
              </a:spcAft>
              <a:buSzPts val="1400"/>
              <a:buChar char="○"/>
            </a:pPr>
            <a:r>
              <a:rPr lang="en"/>
              <a:t>e.g., Arm (mobile devices), Intel x86 (Core i9, i7, i5, i3), IBM/Motorola PowerPC (old Macs), MIPS/LoongArch, RISC-V,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Assembly Language</a:t>
            </a:r>
            <a:endParaRPr>
              <a:latin typeface="Oswald"/>
              <a:ea typeface="Oswald"/>
              <a:cs typeface="Oswald"/>
              <a:sym typeface="Oswald"/>
            </a:endParaRPr>
          </a:p>
        </p:txBody>
      </p:sp>
      <p:sp>
        <p:nvSpPr>
          <p:cNvPr id="177" name="Google Shape;177;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 is generally considered a “lower-level” language than Java or Python, because it’s “closer” to the underlying CPU</a:t>
            </a:r>
            <a:endParaRPr/>
          </a:p>
          <a:p>
            <a:pPr indent="-317500" lvl="1" marL="914400" rtl="0" algn="l">
              <a:spcBef>
                <a:spcPts val="0"/>
              </a:spcBef>
              <a:spcAft>
                <a:spcPts val="0"/>
              </a:spcAft>
              <a:buSzPts val="1400"/>
              <a:buChar char="○"/>
            </a:pPr>
            <a:r>
              <a:rPr lang="en"/>
              <a:t>Less is automated by the language, so you get faster runtimes, but have to keep track of more things</a:t>
            </a:r>
            <a:endParaRPr/>
          </a:p>
          <a:p>
            <a:pPr indent="-342900" lvl="0" marL="457200" rtl="0" algn="l">
              <a:spcBef>
                <a:spcPts val="0"/>
              </a:spcBef>
              <a:spcAft>
                <a:spcPts val="0"/>
              </a:spcAft>
              <a:buSzPts val="1800"/>
              <a:buChar char="●"/>
            </a:pPr>
            <a:r>
              <a:rPr lang="en"/>
              <a:t>Ultimately, though, C is still considered a high-level language, because there is still a lot done for you. </a:t>
            </a:r>
            <a:endParaRPr/>
          </a:p>
          <a:p>
            <a:pPr indent="-317500" lvl="1" marL="914400" rtl="0" algn="l">
              <a:spcBef>
                <a:spcPts val="0"/>
              </a:spcBef>
              <a:spcAft>
                <a:spcPts val="0"/>
              </a:spcAft>
              <a:buSzPts val="1400"/>
              <a:buChar char="○"/>
            </a:pPr>
            <a:r>
              <a:rPr lang="en"/>
              <a:t>C lets you write a bunch of operations in a single line of code, and splits it up for you</a:t>
            </a:r>
            <a:endParaRPr/>
          </a:p>
          <a:p>
            <a:pPr indent="-317500" lvl="1" marL="914400" rtl="0" algn="l">
              <a:spcBef>
                <a:spcPts val="0"/>
              </a:spcBef>
              <a:spcAft>
                <a:spcPts val="0"/>
              </a:spcAft>
              <a:buSzPts val="1400"/>
              <a:buChar char="○"/>
            </a:pPr>
            <a:r>
              <a:rPr lang="en"/>
              <a:t>C sets up the stack for you and keeps track of where it stored local variables</a:t>
            </a:r>
            <a:endParaRPr/>
          </a:p>
          <a:p>
            <a:pPr indent="-317500" lvl="1" marL="914400" rtl="0" algn="l">
              <a:spcBef>
                <a:spcPts val="0"/>
              </a:spcBef>
              <a:spcAft>
                <a:spcPts val="0"/>
              </a:spcAft>
              <a:buSzPts val="1400"/>
              <a:buChar char="○"/>
            </a:pPr>
            <a:r>
              <a:rPr lang="en"/>
              <a:t>C lets you just call a function, and you can expect that calling functions won’t affect any local variables you have.</a:t>
            </a:r>
            <a:endParaRPr/>
          </a:p>
          <a:p>
            <a:pPr indent="-317500" lvl="1" marL="914400" rtl="0" algn="l">
              <a:spcBef>
                <a:spcPts val="0"/>
              </a:spcBef>
              <a:spcAft>
                <a:spcPts val="0"/>
              </a:spcAft>
              <a:buSzPts val="1400"/>
              <a:buChar char="○"/>
            </a:pPr>
            <a:r>
              <a:rPr lang="en"/>
              <a:t>C lets you name variables, and will keep track of that name, and even the type of variable that name refers to.</a:t>
            </a:r>
            <a:endParaRPr/>
          </a:p>
          <a:p>
            <a:pPr indent="-342900" lvl="0" marL="457200" rtl="0" algn="l">
              <a:spcBef>
                <a:spcPts val="0"/>
              </a:spcBef>
              <a:spcAft>
                <a:spcPts val="0"/>
              </a:spcAft>
              <a:buSzPts val="1800"/>
              <a:buChar char="●"/>
            </a:pPr>
            <a:r>
              <a:rPr lang="en"/>
              <a:t>Once you start working with assembly languages, almost everything is the result of an explicit instruction by the programmer.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Set Architectures</a:t>
            </a:r>
            <a:endParaRPr>
              <a:latin typeface="Oswald"/>
              <a:ea typeface="Oswald"/>
              <a:cs typeface="Oswald"/>
              <a:sym typeface="Oswald"/>
            </a:endParaRPr>
          </a:p>
        </p:txBody>
      </p:sp>
      <p:sp>
        <p:nvSpPr>
          <p:cNvPr id="183" name="Google Shape;183;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Early trend in ISA design was to add more and more instructions to new CPUs to do elaborate operations</a:t>
            </a:r>
            <a:endParaRPr/>
          </a:p>
          <a:p>
            <a:pPr indent="-317500" lvl="1" marL="914400" rtl="0" algn="l">
              <a:spcBef>
                <a:spcPts val="0"/>
              </a:spcBef>
              <a:spcAft>
                <a:spcPts val="0"/>
              </a:spcAft>
              <a:buSzPts val="1400"/>
              <a:buChar char="○"/>
            </a:pPr>
            <a:r>
              <a:rPr lang="en"/>
              <a:t>VAX architecture had an instruction to multiply polynomials!</a:t>
            </a:r>
            <a:endParaRPr/>
          </a:p>
          <a:p>
            <a:pPr indent="-342900" lvl="0" marL="457200" rtl="0" algn="l">
              <a:spcBef>
                <a:spcPts val="0"/>
              </a:spcBef>
              <a:spcAft>
                <a:spcPts val="0"/>
              </a:spcAft>
              <a:buSzPts val="1800"/>
              <a:buChar char="●"/>
            </a:pPr>
            <a:r>
              <a:rPr lang="en"/>
              <a:t>RISC philosophy (Cocke IBM, Patterson, Hennessy, 1980s) – Reduced Instruction Set Computing</a:t>
            </a:r>
            <a:endParaRPr/>
          </a:p>
          <a:p>
            <a:pPr indent="-317500" lvl="1" marL="914400" rtl="0" algn="l">
              <a:spcBef>
                <a:spcPts val="0"/>
              </a:spcBef>
              <a:spcAft>
                <a:spcPts val="0"/>
              </a:spcAft>
              <a:buSzPts val="1400"/>
              <a:buChar char="○"/>
            </a:pPr>
            <a:r>
              <a:rPr lang="en"/>
              <a:t>Keep the instruction set small and simple.</a:t>
            </a:r>
            <a:endParaRPr/>
          </a:p>
          <a:p>
            <a:pPr indent="-317500" lvl="1" marL="914400" rtl="0" algn="l">
              <a:spcBef>
                <a:spcPts val="0"/>
              </a:spcBef>
              <a:spcAft>
                <a:spcPts val="0"/>
              </a:spcAft>
              <a:buSzPts val="1400"/>
              <a:buChar char="○"/>
            </a:pPr>
            <a:r>
              <a:rPr lang="en"/>
              <a:t>Let software do complicated operations by composing simpler ones.</a:t>
            </a:r>
            <a:endParaRPr/>
          </a:p>
          <a:p>
            <a:pPr indent="-317500" lvl="1" marL="914400" rtl="0" algn="l">
              <a:spcBef>
                <a:spcPts val="0"/>
              </a:spcBef>
              <a:spcAft>
                <a:spcPts val="0"/>
              </a:spcAft>
              <a:buSzPts val="1400"/>
              <a:buChar char="○"/>
            </a:pPr>
            <a:r>
              <a:rPr lang="en"/>
              <a:t>A simpler CPU is easier to iterate on (allowing for faster development), and can generally be made faster than a complex CPU (we’re often limited by the slowest instruction we decide to implement)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RISC-V</a:t>
            </a:r>
            <a:endParaRPr>
              <a:latin typeface="Oswald"/>
              <a:ea typeface="Oswald"/>
              <a:cs typeface="Oswald"/>
              <a:sym typeface="Oswald"/>
            </a:endParaRPr>
          </a:p>
        </p:txBody>
      </p:sp>
      <p:sp>
        <p:nvSpPr>
          <p:cNvPr id="189" name="Google Shape;189;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the purposes of this class, we’ll be learning RISC-V as our assembly language</a:t>
            </a:r>
            <a:endParaRPr/>
          </a:p>
          <a:p>
            <a:pPr indent="-342900" lvl="0" marL="457200" rtl="0" algn="l">
              <a:spcBef>
                <a:spcPts val="0"/>
              </a:spcBef>
              <a:spcAft>
                <a:spcPts val="0"/>
              </a:spcAft>
              <a:buSzPts val="1800"/>
              <a:buChar char="●"/>
            </a:pPr>
            <a:r>
              <a:rPr lang="en"/>
              <a:t>Why?</a:t>
            </a:r>
            <a:endParaRPr/>
          </a:p>
          <a:p>
            <a:pPr indent="-317500" lvl="1" marL="914400" rtl="0" algn="l">
              <a:spcBef>
                <a:spcPts val="0"/>
              </a:spcBef>
              <a:spcAft>
                <a:spcPts val="0"/>
              </a:spcAft>
              <a:buSzPts val="1400"/>
              <a:buChar char="○"/>
            </a:pPr>
            <a:r>
              <a:rPr lang="en"/>
              <a:t>RISC-V is relatively simple, in that there’s only a few instructions in the base instruction set, and that instructions themselves follow a consistent format.</a:t>
            </a:r>
            <a:endParaRPr/>
          </a:p>
          <a:p>
            <a:pPr indent="-317500" lvl="2" marL="1371600" rtl="0" algn="l">
              <a:spcBef>
                <a:spcPts val="0"/>
              </a:spcBef>
              <a:spcAft>
                <a:spcPts val="0"/>
              </a:spcAft>
              <a:buSzPts val="1400"/>
              <a:buChar char="■"/>
            </a:pPr>
            <a:r>
              <a:rPr lang="en"/>
              <a:t>x</a:t>
            </a:r>
            <a:r>
              <a:rPr lang="en"/>
              <a:t>86 is a more popular language (base CPU for most laptops/desktops), but is a CISC language that Huffman encodes its instructions</a:t>
            </a:r>
            <a:endParaRPr/>
          </a:p>
          <a:p>
            <a:pPr indent="-317500" lvl="1" marL="914400" rtl="0" algn="l">
              <a:spcBef>
                <a:spcPts val="0"/>
              </a:spcBef>
              <a:spcAft>
                <a:spcPts val="0"/>
              </a:spcAft>
              <a:buSzPts val="1400"/>
              <a:buChar char="○"/>
            </a:pPr>
            <a:r>
              <a:rPr lang="en"/>
              <a:t>RISC-V is relatively popular, open-source, and growing in popularity</a:t>
            </a:r>
            <a:endParaRPr/>
          </a:p>
          <a:p>
            <a:pPr indent="-317500" lvl="1" marL="914400" rtl="0" algn="l">
              <a:spcBef>
                <a:spcPts val="0"/>
              </a:spcBef>
              <a:spcAft>
                <a:spcPts val="0"/>
              </a:spcAft>
              <a:buSzPts val="1400"/>
              <a:buChar char="○"/>
            </a:pPr>
            <a:r>
              <a:rPr lang="en"/>
              <a:t>RISC-V was invented in Berkeley in 2010. </a:t>
            </a:r>
            <a:r>
              <a:rPr lang="en">
                <a:solidFill>
                  <a:srgbClr val="FFFFFF"/>
                </a:solidFill>
              </a:rPr>
              <a:t>If we teach students RISC-V, they’re more likely to use a RISC-V architecture in the future, thus allowing RISC-V to keep growing in popularity.</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Agenda</a:t>
            </a:r>
            <a:endParaRPr>
              <a:latin typeface="Oswald"/>
              <a:ea typeface="Oswald"/>
              <a:cs typeface="Oswald"/>
              <a:sym typeface="Oswald"/>
            </a:endParaRPr>
          </a:p>
        </p:txBody>
      </p:sp>
      <p:sp>
        <p:nvSpPr>
          <p:cNvPr id="195" name="Google Shape;195;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 to Assembly Languages</a:t>
            </a:r>
            <a:endParaRPr/>
          </a:p>
          <a:p>
            <a:pPr indent="-342900" lvl="0" marL="457200" rtl="0" algn="l">
              <a:spcBef>
                <a:spcPts val="0"/>
              </a:spcBef>
              <a:spcAft>
                <a:spcPts val="0"/>
              </a:spcAft>
              <a:buClr>
                <a:srgbClr val="6AA84F"/>
              </a:buClr>
              <a:buSzPts val="1800"/>
              <a:buChar char="●"/>
            </a:pPr>
            <a:r>
              <a:rPr b="1" lang="en">
                <a:solidFill>
                  <a:srgbClr val="6AA84F"/>
                </a:solidFill>
              </a:rPr>
              <a:t>RISC-V Programming Paradigm</a:t>
            </a:r>
            <a:endParaRPr b="1">
              <a:solidFill>
                <a:srgbClr val="6AA84F"/>
              </a:solidFill>
            </a:endParaRPr>
          </a:p>
          <a:p>
            <a:pPr indent="-342900" lvl="0" marL="457200" rtl="0" algn="l">
              <a:spcBef>
                <a:spcPts val="0"/>
              </a:spcBef>
              <a:spcAft>
                <a:spcPts val="0"/>
              </a:spcAft>
              <a:buSzPts val="1800"/>
              <a:buChar char="●"/>
            </a:pPr>
            <a:r>
              <a:rPr lang="en"/>
              <a:t>List of RISC-V Instructions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Overarching view of RISC-V</a:t>
            </a:r>
            <a:endParaRPr>
              <a:latin typeface="Oswald"/>
              <a:ea typeface="Oswald"/>
              <a:cs typeface="Oswald"/>
              <a:sym typeface="Oswald"/>
            </a:endParaRPr>
          </a:p>
        </p:txBody>
      </p:sp>
      <p:sp>
        <p:nvSpPr>
          <p:cNvPr id="201" name="Google Shape;201;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RISC-V system is composed of two main parts:</a:t>
            </a:r>
            <a:endParaRPr/>
          </a:p>
          <a:p>
            <a:pPr indent="-317500" lvl="1" marL="914400" rtl="0" algn="l">
              <a:spcBef>
                <a:spcPts val="0"/>
              </a:spcBef>
              <a:spcAft>
                <a:spcPts val="0"/>
              </a:spcAft>
              <a:buSzPts val="1400"/>
              <a:buChar char="○"/>
            </a:pPr>
            <a:r>
              <a:rPr lang="en"/>
              <a:t>The CPU, which is responsible for computing</a:t>
            </a:r>
            <a:endParaRPr/>
          </a:p>
          <a:p>
            <a:pPr indent="-317500" lvl="1" marL="914400" rtl="0" algn="l">
              <a:spcBef>
                <a:spcPts val="0"/>
              </a:spcBef>
              <a:spcAft>
                <a:spcPts val="0"/>
              </a:spcAft>
              <a:buSzPts val="1400"/>
              <a:buChar char="○"/>
            </a:pPr>
            <a:r>
              <a:rPr lang="en"/>
              <a:t>Main memory, which is responsible for long-term data storage</a:t>
            </a:r>
            <a:endParaRPr/>
          </a:p>
          <a:p>
            <a:pPr indent="-342900" lvl="0" marL="457200" rtl="0" algn="l">
              <a:spcBef>
                <a:spcPts val="0"/>
              </a:spcBef>
              <a:spcAft>
                <a:spcPts val="0"/>
              </a:spcAft>
              <a:buSzPts val="1800"/>
              <a:buChar char="●"/>
            </a:pPr>
            <a:r>
              <a:rPr lang="en"/>
              <a:t>The CPU is designed to be extremely fast, often completing one instruction every nanosecond or faster</a:t>
            </a:r>
            <a:endParaRPr/>
          </a:p>
          <a:p>
            <a:pPr indent="-317500" lvl="1" marL="914400" rtl="0" algn="l">
              <a:spcBef>
                <a:spcPts val="0"/>
              </a:spcBef>
              <a:spcAft>
                <a:spcPts val="0"/>
              </a:spcAft>
              <a:buSzPts val="1400"/>
              <a:buChar char="○"/>
            </a:pPr>
            <a:r>
              <a:rPr lang="en"/>
              <a:t>Note: Light travels 30 cm in 1 nanosecond. In other words, it takes longer for light to travel from one end of my laptop to the other, than it does for a CPU to finish one instruction.</a:t>
            </a:r>
            <a:endParaRPr/>
          </a:p>
          <a:p>
            <a:pPr indent="-342900" lvl="0" marL="457200" rtl="0" algn="l">
              <a:spcBef>
                <a:spcPts val="0"/>
              </a:spcBef>
              <a:spcAft>
                <a:spcPts val="0"/>
              </a:spcAft>
              <a:buSzPts val="1800"/>
              <a:buChar char="●"/>
            </a:pPr>
            <a:r>
              <a:rPr lang="en"/>
              <a:t>Going to main memory often takes hundreds or even thousands of times longer.</a:t>
            </a:r>
            <a:endParaRPr/>
          </a:p>
          <a:p>
            <a:pPr indent="-342900" lvl="0" marL="457200" rtl="0" algn="l">
              <a:spcBef>
                <a:spcPts val="0"/>
              </a:spcBef>
              <a:spcAft>
                <a:spcPts val="0"/>
              </a:spcAft>
              <a:buSzPts val="1800"/>
              <a:buChar char="●"/>
            </a:pPr>
            <a:r>
              <a:rPr lang="en"/>
              <a:t>The CPU can store a small amount of memory, through components called registers.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Registers</a:t>
            </a:r>
            <a:endParaRPr>
              <a:latin typeface="Oswald"/>
              <a:ea typeface="Oswald"/>
              <a:cs typeface="Oswald"/>
              <a:sym typeface="Oswald"/>
            </a:endParaRPr>
          </a:p>
        </p:txBody>
      </p:sp>
      <p:sp>
        <p:nvSpPr>
          <p:cNvPr id="207" name="Google Shape;207;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register is a CPU component specifically designed to store a small amount of data. Each register stores 32 bits of data (for a 32-bit system) or 64 bits of data (for a 64-bit system). For the purposes of this class, we consider RV32 only (which uses 32-bit registers)</a:t>
            </a:r>
            <a:endParaRPr/>
          </a:p>
          <a:p>
            <a:pPr indent="-342900" lvl="0" marL="457200" rtl="0" algn="l">
              <a:spcBef>
                <a:spcPts val="0"/>
              </a:spcBef>
              <a:spcAft>
                <a:spcPts val="0"/>
              </a:spcAft>
              <a:buSzPts val="1800"/>
              <a:buChar char="●"/>
            </a:pPr>
            <a:r>
              <a:rPr lang="en"/>
              <a:t>This data is purely binary; types do not exist at the assembly level, so if we use a register to store something, it’s the programmer’s responsibility to keep track of that register and its intended use.</a:t>
            </a:r>
            <a:endParaRPr/>
          </a:p>
          <a:p>
            <a:pPr indent="-342900" lvl="0" marL="457200" rtl="0" algn="l">
              <a:spcBef>
                <a:spcPts val="0"/>
              </a:spcBef>
              <a:spcAft>
                <a:spcPts val="0"/>
              </a:spcAft>
              <a:buSzPts val="1800"/>
              <a:buChar char="●"/>
            </a:pPr>
            <a:r>
              <a:rPr lang="en"/>
              <a:t>Registers are a hardware component, so once you make the CPU, you can’t change the number of registers available.</a:t>
            </a:r>
            <a:endParaRPr/>
          </a:p>
          <a:p>
            <a:pPr indent="-342900" lvl="0" marL="457200" rtl="0" algn="l">
              <a:spcBef>
                <a:spcPts val="0"/>
              </a:spcBef>
              <a:spcAft>
                <a:spcPts val="0"/>
              </a:spcAft>
              <a:buSzPts val="1800"/>
              <a:buChar char="●"/>
            </a:pPr>
            <a:r>
              <a:rPr lang="en"/>
              <a:t>RISC-V gives access to 32 integer registers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Aside: Registers are Inside the Processor</a:t>
            </a:r>
            <a:endParaRPr>
              <a:latin typeface="Oswald"/>
              <a:ea typeface="Oswald"/>
              <a:cs typeface="Oswald"/>
              <a:sym typeface="Oswald"/>
            </a:endParaRPr>
          </a:p>
        </p:txBody>
      </p:sp>
      <p:pic>
        <p:nvPicPr>
          <p:cNvPr id="213" name="Google Shape;213;p46"/>
          <p:cNvPicPr preferRelativeResize="0"/>
          <p:nvPr/>
        </p:nvPicPr>
        <p:blipFill>
          <a:blip r:embed="rId3">
            <a:alphaModFix/>
          </a:blip>
          <a:stretch>
            <a:fillRect/>
          </a:stretch>
        </p:blipFill>
        <p:spPr>
          <a:xfrm>
            <a:off x="438838" y="1148375"/>
            <a:ext cx="7848325" cy="39951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Great Idea #3: Principle of Locality / Memory Hierarchy</a:t>
            </a:r>
            <a:endParaRPr>
              <a:latin typeface="Oswald"/>
              <a:ea typeface="Oswald"/>
              <a:cs typeface="Oswald"/>
              <a:sym typeface="Oswald"/>
            </a:endParaRPr>
          </a:p>
        </p:txBody>
      </p:sp>
      <p:pic>
        <p:nvPicPr>
          <p:cNvPr id="219" name="Google Shape;219;p47"/>
          <p:cNvPicPr preferRelativeResize="0"/>
          <p:nvPr/>
        </p:nvPicPr>
        <p:blipFill>
          <a:blip r:embed="rId3">
            <a:alphaModFix/>
          </a:blip>
          <a:stretch>
            <a:fillRect/>
          </a:stretch>
        </p:blipFill>
        <p:spPr>
          <a:xfrm>
            <a:off x="102700" y="1308600"/>
            <a:ext cx="8839201" cy="102662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Registers</a:t>
            </a:r>
            <a:endParaRPr>
              <a:latin typeface="Oswald"/>
              <a:ea typeface="Oswald"/>
              <a:cs typeface="Oswald"/>
              <a:sym typeface="Oswald"/>
            </a:endParaRPr>
          </a:p>
        </p:txBody>
      </p:sp>
      <p:sp>
        <p:nvSpPr>
          <p:cNvPr id="225" name="Google Shape;225;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999999"/>
              </a:buClr>
              <a:buSzPts val="1800"/>
              <a:buChar char="●"/>
            </a:pPr>
            <a:r>
              <a:rPr lang="en">
                <a:solidFill>
                  <a:srgbClr val="999999"/>
                </a:solidFill>
              </a:rPr>
              <a:t>Registers are a hardware component, so once you make the CPU, you can’t change the number of registers available.</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RISC-V gives access to 32 integer registers</a:t>
            </a:r>
            <a:endParaRPr>
              <a:solidFill>
                <a:srgbClr val="999999"/>
              </a:solidFill>
            </a:endParaRPr>
          </a:p>
          <a:p>
            <a:pPr indent="-342900" lvl="0" marL="457200" rtl="0" algn="l">
              <a:spcBef>
                <a:spcPts val="0"/>
              </a:spcBef>
              <a:spcAft>
                <a:spcPts val="0"/>
              </a:spcAft>
              <a:buSzPts val="1800"/>
              <a:buChar char="●"/>
            </a:pPr>
            <a:r>
              <a:rPr lang="en"/>
              <a:t>Registers are numbered from 0 to 31</a:t>
            </a:r>
            <a:endParaRPr/>
          </a:p>
          <a:p>
            <a:pPr indent="-317500" lvl="1" marL="914400" rtl="0" algn="l">
              <a:spcBef>
                <a:spcPts val="0"/>
              </a:spcBef>
              <a:spcAft>
                <a:spcPts val="0"/>
              </a:spcAft>
              <a:buSzPts val="1400"/>
              <a:buChar char="○"/>
            </a:pPr>
            <a:r>
              <a:rPr lang="en"/>
              <a:t>Referred to by number: x0 – x31</a:t>
            </a:r>
            <a:endParaRPr/>
          </a:p>
          <a:p>
            <a:pPr indent="-342900" lvl="0" marL="457200" rtl="0" algn="l">
              <a:spcBef>
                <a:spcPts val="0"/>
              </a:spcBef>
              <a:spcAft>
                <a:spcPts val="0"/>
              </a:spcAft>
              <a:buSzPts val="1800"/>
              <a:buChar char="●"/>
            </a:pPr>
            <a:r>
              <a:rPr lang="en"/>
              <a:t>The register x0 is special and always stores 0 (trying to write data to that register results in the write being ignored). As such, we have 31 registers available for data storage</a:t>
            </a:r>
            <a:endParaRPr/>
          </a:p>
          <a:p>
            <a:pPr indent="-342900" lvl="0" marL="457200" rtl="0" algn="l">
              <a:spcBef>
                <a:spcPts val="0"/>
              </a:spcBef>
              <a:spcAft>
                <a:spcPts val="0"/>
              </a:spcAft>
              <a:buSzPts val="1800"/>
              <a:buChar char="●"/>
            </a:pPr>
            <a:r>
              <a:rPr lang="en"/>
              <a:t>The other 31 registers are all identical in behavior; the only difference between different registers is the conventions we follow when using them.</a:t>
            </a:r>
            <a:endParaRPr/>
          </a:p>
          <a:p>
            <a:pPr indent="-342900" lvl="0" marL="457200" rtl="0" algn="l">
              <a:spcBef>
                <a:spcPts val="0"/>
              </a:spcBef>
              <a:spcAft>
                <a:spcPts val="0"/>
              </a:spcAft>
              <a:buSzPts val="1800"/>
              <a:buChar char="●"/>
            </a:pPr>
            <a:r>
              <a:rPr lang="en"/>
              <a:t>Later, we’ll give them names to hint at what conventions get used on which registers.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Instructions</a:t>
            </a:r>
            <a:endParaRPr>
              <a:latin typeface="Oswald"/>
              <a:ea typeface="Oswald"/>
              <a:cs typeface="Oswald"/>
              <a:sym typeface="Oswald"/>
            </a:endParaRPr>
          </a:p>
        </p:txBody>
      </p:sp>
      <p:sp>
        <p:nvSpPr>
          <p:cNvPr id="231" name="Google Shape;231;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56521"/>
              <a:buChar char="●"/>
            </a:pPr>
            <a:r>
              <a:rPr lang="en"/>
              <a:t>Each line of RISC-V code is a single instruction, which executes a simple operation on registers. ⇒ </a:t>
            </a:r>
            <a:r>
              <a:rPr lang="en" sz="1750"/>
              <a:t>Check the source code of </a:t>
            </a:r>
            <a:r>
              <a:rPr lang="en" sz="1750">
                <a:solidFill>
                  <a:schemeClr val="hlink"/>
                </a:solidFill>
                <a:highlight>
                  <a:srgbClr val="F6F8FA"/>
                </a:highlight>
                <a:uFill>
                  <a:noFill/>
                </a:uFill>
                <a:hlinkClick r:id="rId3"/>
              </a:rPr>
              <a:t>rv32emu</a:t>
            </a:r>
            <a:r>
              <a:rPr lang="en" sz="1750"/>
              <a:t> </a:t>
            </a:r>
            <a:r>
              <a:rPr lang="en" sz="1150"/>
              <a:t>(src/</a:t>
            </a:r>
            <a:r>
              <a:rPr lang="en" sz="1150">
                <a:solidFill>
                  <a:srgbClr val="1F2328"/>
                </a:solidFill>
                <a:highlight>
                  <a:srgbClr val="FFFFFF"/>
                </a:highlight>
              </a:rPr>
              <a:t>rv32_template.c)</a:t>
            </a:r>
            <a:endParaRPr sz="1150"/>
          </a:p>
          <a:p>
            <a:pPr indent="-334327" lvl="0" marL="457200" rtl="0" algn="l">
              <a:spcBef>
                <a:spcPts val="0"/>
              </a:spcBef>
              <a:spcAft>
                <a:spcPts val="0"/>
              </a:spcAft>
              <a:buSzPct val="100000"/>
              <a:buChar char="●"/>
            </a:pPr>
            <a:r>
              <a:rPr lang="en"/>
              <a:t>Instructi</a:t>
            </a:r>
            <a:r>
              <a:rPr lang="en"/>
              <a:t>ons are generally written in the format</a:t>
            </a:r>
            <a:endParaRPr/>
          </a:p>
          <a:p>
            <a:pPr indent="-310832" lvl="1" marL="914400" rtl="0" algn="l">
              <a:spcBef>
                <a:spcPts val="0"/>
              </a:spcBef>
              <a:spcAft>
                <a:spcPts val="0"/>
              </a:spcAft>
              <a:buSzPct val="100000"/>
              <a:buChar char="○"/>
            </a:pPr>
            <a:r>
              <a:rPr lang="en"/>
              <a:t>&lt;instruction name&gt; &lt;destination register&gt; &lt;operands&gt;</a:t>
            </a:r>
            <a:endParaRPr/>
          </a:p>
          <a:p>
            <a:pPr indent="-310832" lvl="1" marL="914400" rtl="0" algn="l">
              <a:spcBef>
                <a:spcPts val="0"/>
              </a:spcBef>
              <a:spcAft>
                <a:spcPts val="0"/>
              </a:spcAft>
              <a:buSzPct val="100000"/>
              <a:buChar char="○"/>
            </a:pPr>
            <a:r>
              <a:rPr lang="en"/>
              <a:t>e.g, “</a:t>
            </a:r>
            <a:r>
              <a:rPr b="1" lang="en">
                <a:latin typeface="Courier New"/>
                <a:ea typeface="Courier New"/>
                <a:cs typeface="Courier New"/>
                <a:sym typeface="Courier New"/>
              </a:rPr>
              <a:t>add x5,x6,x7</a:t>
            </a:r>
            <a:r>
              <a:rPr lang="en"/>
              <a:t>” means “Add the values stored in x6 and x7, and store the result in x5”</a:t>
            </a:r>
            <a:endParaRPr/>
          </a:p>
          <a:p>
            <a:pPr indent="-310832" lvl="1" marL="914400" rtl="0" algn="l">
              <a:spcBef>
                <a:spcPts val="0"/>
              </a:spcBef>
              <a:spcAft>
                <a:spcPts val="0"/>
              </a:spcAft>
              <a:buSzPct val="100000"/>
              <a:buChar char="○"/>
            </a:pPr>
            <a:r>
              <a:rPr lang="en"/>
              <a:t>Commas can be added between registers (“</a:t>
            </a:r>
            <a:r>
              <a:rPr b="1" lang="en">
                <a:latin typeface="Courier New"/>
                <a:ea typeface="Courier New"/>
                <a:cs typeface="Courier New"/>
                <a:sym typeface="Courier New"/>
              </a:rPr>
              <a:t>add x5,x6,x7</a:t>
            </a:r>
            <a:r>
              <a:rPr lang="en"/>
              <a:t>”), but this is optional.</a:t>
            </a:r>
            <a:endParaRPr/>
          </a:p>
          <a:p>
            <a:pPr indent="-334327" lvl="0" marL="457200" rtl="0" algn="l">
              <a:spcBef>
                <a:spcPts val="0"/>
              </a:spcBef>
              <a:spcAft>
                <a:spcPts val="0"/>
              </a:spcAft>
              <a:buSzPct val="100000"/>
              <a:buChar char="●"/>
            </a:pPr>
            <a:r>
              <a:rPr lang="en"/>
              <a:t>Comments are written using the # symbol.</a:t>
            </a:r>
            <a:endParaRPr/>
          </a:p>
          <a:p>
            <a:pPr indent="-310832" lvl="1" marL="914400" rtl="0" algn="l">
              <a:spcBef>
                <a:spcPts val="0"/>
              </a:spcBef>
              <a:spcAft>
                <a:spcPts val="0"/>
              </a:spcAft>
              <a:buSzPct val="100000"/>
              <a:buChar char="○"/>
            </a:pPr>
            <a:r>
              <a:rPr lang="en"/>
              <a:t>Anything written after a # on a line gets ignored</a:t>
            </a:r>
            <a:endParaRPr/>
          </a:p>
          <a:p>
            <a:pPr indent="-310832" lvl="1" marL="914400" rtl="0" algn="l">
              <a:spcBef>
                <a:spcPts val="0"/>
              </a:spcBef>
              <a:spcAft>
                <a:spcPts val="0"/>
              </a:spcAft>
              <a:buSzPct val="100000"/>
              <a:buChar char="○"/>
            </a:pPr>
            <a:r>
              <a:rPr lang="en"/>
              <a:t>Similar to Python comment syntax</a:t>
            </a:r>
            <a:endParaRPr/>
          </a:p>
          <a:p>
            <a:pPr indent="-334327" lvl="0" marL="457200" rtl="0" algn="l">
              <a:spcBef>
                <a:spcPts val="0"/>
              </a:spcBef>
              <a:spcAft>
                <a:spcPts val="0"/>
              </a:spcAft>
              <a:buSzPct val="100000"/>
              <a:buChar char="●"/>
            </a:pPr>
            <a:r>
              <a:rPr lang="en"/>
              <a:t>Important: Comments are far more important in RISC-V than in other languages. In a higher level language, you can sometimes get away with choosing variable names so that the code is self-documenting. </a:t>
            </a:r>
            <a:r>
              <a:rPr b="1" lang="en"/>
              <a:t>In RISC-V, we don’t have variable names!</a:t>
            </a:r>
            <a:endParaRPr/>
          </a:p>
          <a:p>
            <a:pPr indent="-334327" lvl="0" marL="457200" rtl="0" algn="l">
              <a:spcBef>
                <a:spcPts val="0"/>
              </a:spcBef>
              <a:spcAft>
                <a:spcPts val="0"/>
              </a:spcAft>
              <a:buSzPct val="100000"/>
              <a:buChar char="●"/>
            </a:pPr>
            <a:r>
              <a:rPr lang="en"/>
              <a:t>Uncommented RISC-V code is practically impossible to debug properly. If you don’t comment your code, we may not be able to help debug in office hours.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Addition and Subtraction of Integers</a:t>
            </a:r>
            <a:endParaRPr>
              <a:latin typeface="Oswald"/>
              <a:ea typeface="Oswald"/>
              <a:cs typeface="Oswald"/>
              <a:sym typeface="Oswald"/>
            </a:endParaRPr>
          </a:p>
        </p:txBody>
      </p:sp>
      <p:sp>
        <p:nvSpPr>
          <p:cNvPr id="237" name="Google Shape;237;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Addition in Assembly</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add x1,x2,x3</a:t>
            </a:r>
            <a:r>
              <a:rPr lang="en"/>
              <a:t> (in RISC-V)</a:t>
            </a:r>
            <a:endParaRPr/>
          </a:p>
          <a:p>
            <a:pPr indent="-342900" lvl="0" marL="457200" rtl="0" algn="l">
              <a:spcBef>
                <a:spcPts val="0"/>
              </a:spcBef>
              <a:spcAft>
                <a:spcPts val="0"/>
              </a:spcAft>
              <a:buSzPts val="1800"/>
              <a:buChar char="●"/>
            </a:pPr>
            <a:r>
              <a:rPr lang="en"/>
              <a:t>Equivalent to: </a:t>
            </a:r>
            <a:r>
              <a:rPr b="1" lang="en">
                <a:latin typeface="Courier New"/>
                <a:ea typeface="Courier New"/>
                <a:cs typeface="Courier New"/>
                <a:sym typeface="Courier New"/>
              </a:rPr>
              <a:t>a</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b</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c</a:t>
            </a:r>
            <a:r>
              <a:rPr lang="en"/>
              <a:t>     (in C)</a:t>
            </a:r>
            <a:endParaRPr/>
          </a:p>
          <a:p>
            <a:pPr indent="-342900" lvl="0" marL="457200" rtl="0" algn="l">
              <a:spcBef>
                <a:spcPts val="0"/>
              </a:spcBef>
              <a:spcAft>
                <a:spcPts val="0"/>
              </a:spcAft>
              <a:buSzPts val="1800"/>
              <a:buChar char="●"/>
            </a:pPr>
            <a:r>
              <a:rPr lang="en"/>
              <a:t>where  C variables ⇔ RISC-V registers are:</a:t>
            </a:r>
            <a:br>
              <a:rPr lang="en"/>
            </a:br>
            <a:r>
              <a:rPr lang="en"/>
              <a:t>                              	</a:t>
            </a:r>
            <a:r>
              <a:rPr b="1" lang="en">
                <a:latin typeface="Courier New"/>
                <a:ea typeface="Courier New"/>
                <a:cs typeface="Courier New"/>
                <a:sym typeface="Courier New"/>
              </a:rPr>
              <a:t>a</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x1, b</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x2, c</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x3</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Subtraction</a:t>
            </a:r>
            <a:r>
              <a:rPr lang="en"/>
              <a:t> in Assembly</a:t>
            </a:r>
            <a:endParaRPr/>
          </a:p>
          <a:p>
            <a:pPr indent="-342900" lvl="0" marL="457200" rtl="0" algn="l">
              <a:spcBef>
                <a:spcPts val="0"/>
              </a:spcBef>
              <a:spcAft>
                <a:spcPts val="0"/>
              </a:spcAft>
              <a:buSzPts val="1800"/>
              <a:buChar char="●"/>
            </a:pPr>
            <a:r>
              <a:rPr lang="en"/>
              <a:t>Example: </a:t>
            </a:r>
            <a:r>
              <a:rPr b="1" lang="en">
                <a:latin typeface="Courier New"/>
                <a:ea typeface="Courier New"/>
                <a:cs typeface="Courier New"/>
                <a:sym typeface="Courier New"/>
              </a:rPr>
              <a:t>sub x3,x4,x5</a:t>
            </a:r>
            <a:r>
              <a:rPr lang="en"/>
              <a:t> (in RISC-V)</a:t>
            </a:r>
            <a:endParaRPr/>
          </a:p>
          <a:p>
            <a:pPr indent="-342900" lvl="0" marL="457200" rtl="0" algn="l">
              <a:spcBef>
                <a:spcPts val="0"/>
              </a:spcBef>
              <a:spcAft>
                <a:spcPts val="0"/>
              </a:spcAft>
              <a:buSzPts val="1800"/>
              <a:buChar char="●"/>
            </a:pPr>
            <a:r>
              <a:rPr lang="en"/>
              <a:t>Equivalent to: </a:t>
            </a:r>
            <a:r>
              <a:rPr b="1" lang="en">
                <a:latin typeface="Courier New"/>
                <a:ea typeface="Courier New"/>
                <a:cs typeface="Courier New"/>
                <a:sym typeface="Courier New"/>
              </a:rPr>
              <a:t>d</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e</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f</a:t>
            </a:r>
            <a:r>
              <a:rPr lang="en"/>
              <a:t>     (in C)</a:t>
            </a:r>
            <a:endParaRPr/>
          </a:p>
          <a:p>
            <a:pPr indent="-342900" lvl="0" marL="457200" rtl="0" algn="l">
              <a:spcBef>
                <a:spcPts val="0"/>
              </a:spcBef>
              <a:spcAft>
                <a:spcPts val="0"/>
              </a:spcAft>
              <a:buSzPts val="1800"/>
              <a:buChar char="●"/>
            </a:pPr>
            <a:r>
              <a:rPr lang="en"/>
              <a:t>where  C variables ⇔ RISC-V registers are:</a:t>
            </a:r>
            <a:br>
              <a:rPr lang="en"/>
            </a:br>
            <a:r>
              <a:rPr lang="en"/>
              <a:t>                              	</a:t>
            </a:r>
            <a:r>
              <a:rPr b="1" lang="en">
                <a:latin typeface="Courier New"/>
                <a:ea typeface="Courier New"/>
                <a:cs typeface="Courier New"/>
                <a:sym typeface="Courier New"/>
              </a:rPr>
              <a:t>d</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x3, e</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x4, f</a:t>
            </a:r>
            <a:r>
              <a:rPr b="1" lang="en"/>
              <a:t> </a:t>
            </a:r>
            <a:r>
              <a:rPr b="1" lang="en">
                <a:latin typeface="Courier New"/>
                <a:ea typeface="Courier New"/>
                <a:cs typeface="Courier New"/>
                <a:sym typeface="Courier New"/>
              </a:rPr>
              <a:t>⇔</a:t>
            </a:r>
            <a:r>
              <a:rPr b="1" lang="en"/>
              <a:t> </a:t>
            </a:r>
            <a:r>
              <a:rPr b="1" lang="en">
                <a:latin typeface="Courier New"/>
                <a:ea typeface="Courier New"/>
                <a:cs typeface="Courier New"/>
                <a:sym typeface="Courier New"/>
              </a:rPr>
              <a:t>x5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Addition and Subtraction of Integers</a:t>
            </a:r>
            <a:endParaRPr>
              <a:latin typeface="Oswald"/>
              <a:ea typeface="Oswald"/>
              <a:cs typeface="Oswald"/>
              <a:sym typeface="Oswald"/>
            </a:endParaRPr>
          </a:p>
        </p:txBody>
      </p:sp>
      <p:sp>
        <p:nvSpPr>
          <p:cNvPr id="243" name="Google Shape;243;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to do the following C statement?</a:t>
            </a:r>
            <a:br>
              <a:rPr lang="en"/>
            </a:br>
            <a:r>
              <a:rPr lang="en"/>
              <a:t>	</a:t>
            </a:r>
            <a:r>
              <a:rPr b="1" lang="en">
                <a:latin typeface="Courier New"/>
                <a:ea typeface="Courier New"/>
                <a:cs typeface="Courier New"/>
                <a:sym typeface="Courier New"/>
              </a:rPr>
              <a:t>a = b + c + d - e;</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Break into multiple instructions</a:t>
            </a:r>
            <a:br>
              <a:rPr lang="en"/>
            </a:br>
            <a:r>
              <a:rPr b="1" lang="en">
                <a:latin typeface="Courier New"/>
                <a:ea typeface="Courier New"/>
                <a:cs typeface="Courier New"/>
                <a:sym typeface="Courier New"/>
              </a:rPr>
              <a:t>add x10,x1, x2 # a_temp = b + c</a:t>
            </a:r>
            <a:br>
              <a:rPr b="1" lang="en">
                <a:latin typeface="Courier New"/>
                <a:ea typeface="Courier New"/>
                <a:cs typeface="Courier New"/>
                <a:sym typeface="Courier New"/>
              </a:rPr>
            </a:br>
            <a:r>
              <a:rPr b="1" lang="en">
                <a:latin typeface="Courier New"/>
                <a:ea typeface="Courier New"/>
                <a:cs typeface="Courier New"/>
                <a:sym typeface="Courier New"/>
              </a:rPr>
              <a:t>add x10,x10,x3 # a_temp = a_temp + d</a:t>
            </a:r>
            <a:br>
              <a:rPr b="1" lang="en">
                <a:latin typeface="Courier New"/>
                <a:ea typeface="Courier New"/>
                <a:cs typeface="Courier New"/>
                <a:sym typeface="Courier New"/>
              </a:rPr>
            </a:br>
            <a:r>
              <a:rPr b="1" lang="en">
                <a:latin typeface="Courier New"/>
                <a:ea typeface="Courier New"/>
                <a:cs typeface="Courier New"/>
                <a:sym typeface="Courier New"/>
              </a:rPr>
              <a:t>sub x10,x10,x4 # a = a_temp - e</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Notice: A single line of C may break up into several lines of RISC-V.</a:t>
            </a:r>
            <a:endParaRPr/>
          </a:p>
          <a:p>
            <a:pPr indent="-342900" lvl="0" marL="457200" rtl="0" algn="l">
              <a:spcBef>
                <a:spcPts val="0"/>
              </a:spcBef>
              <a:spcAft>
                <a:spcPts val="0"/>
              </a:spcAft>
              <a:buSzPts val="1800"/>
              <a:buChar char="●"/>
            </a:pPr>
            <a:r>
              <a:rPr lang="en"/>
              <a:t>Notice: Everything after the hash mark on each line is ignored (comments).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Addition and Subtraction of Integers</a:t>
            </a:r>
            <a:endParaRPr sz="2244">
              <a:latin typeface="Oswald"/>
              <a:ea typeface="Oswald"/>
              <a:cs typeface="Oswald"/>
              <a:sym typeface="Oswald"/>
            </a:endParaRPr>
          </a:p>
        </p:txBody>
      </p:sp>
      <p:sp>
        <p:nvSpPr>
          <p:cNvPr id="249" name="Google Shape;249;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 we do this?</a:t>
            </a:r>
            <a:br>
              <a:rPr lang="en"/>
            </a:br>
            <a:r>
              <a:rPr b="1" lang="en">
                <a:latin typeface="Courier New"/>
                <a:ea typeface="Courier New"/>
                <a:cs typeface="Courier New"/>
                <a:sym typeface="Courier New"/>
              </a:rPr>
              <a:t>f = (g + h) - (i + j);</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Use intermediate temporary register</a:t>
            </a:r>
            <a:br>
              <a:rPr lang="en"/>
            </a:br>
            <a:r>
              <a:rPr b="1" lang="en">
                <a:latin typeface="Courier New"/>
                <a:ea typeface="Courier New"/>
                <a:cs typeface="Courier New"/>
                <a:sym typeface="Courier New"/>
              </a:rPr>
              <a:t>add x5, x20,x21 # a_temp = g + h</a:t>
            </a:r>
            <a:br>
              <a:rPr b="1" lang="en">
                <a:latin typeface="Courier New"/>
                <a:ea typeface="Courier New"/>
                <a:cs typeface="Courier New"/>
                <a:sym typeface="Courier New"/>
              </a:rPr>
            </a:br>
            <a:r>
              <a:rPr b="1" lang="en">
                <a:latin typeface="Courier New"/>
                <a:ea typeface="Courier New"/>
                <a:cs typeface="Courier New"/>
                <a:sym typeface="Courier New"/>
              </a:rPr>
              <a:t>add x6, x22,x23 # b_temp = i + j</a:t>
            </a:r>
            <a:br>
              <a:rPr b="1" lang="en">
                <a:latin typeface="Courier New"/>
                <a:ea typeface="Courier New"/>
                <a:cs typeface="Courier New"/>
                <a:sym typeface="Courier New"/>
              </a:rPr>
            </a:br>
            <a:r>
              <a:rPr b="1" lang="en">
                <a:latin typeface="Courier New"/>
                <a:ea typeface="Courier New"/>
                <a:cs typeface="Courier New"/>
                <a:sym typeface="Courier New"/>
              </a:rPr>
              <a:t>sub x19,x5, x6  # f = (g + h)- (i + j)</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Notice: By using x5 and x6 in this way, we overwrite any data that used to be in those registers. As such, we generally keep a few registers free (i.e., not containing any </a:t>
            </a:r>
            <a:r>
              <a:rPr lang="en"/>
              <a:t>important data) to help with intermediate calculations.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Pseudo-instructions</a:t>
            </a:r>
            <a:endParaRPr>
              <a:latin typeface="Oswald"/>
              <a:ea typeface="Oswald"/>
              <a:cs typeface="Oswald"/>
              <a:sym typeface="Oswald"/>
            </a:endParaRPr>
          </a:p>
        </p:txBody>
      </p:sp>
      <p:sp>
        <p:nvSpPr>
          <p:cNvPr id="255" name="Google Shape;255;p5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Every instruction in our ISA needs some amount of circuitry, so we want to minimize our ISA as much as possible</a:t>
            </a:r>
            <a:endParaRPr/>
          </a:p>
          <a:p>
            <a:pPr indent="-342900" lvl="0" marL="457200" rtl="0" algn="l">
              <a:spcBef>
                <a:spcPts val="0"/>
              </a:spcBef>
              <a:spcAft>
                <a:spcPts val="0"/>
              </a:spcAft>
              <a:buSzPts val="1800"/>
              <a:buChar char="●"/>
            </a:pPr>
            <a:r>
              <a:rPr lang="en"/>
              <a:t>There are, however, a few commands that are common enough that we want a shorthand for them, but which can be written using other instructions. In this case, we provide the name of the instruction, but they get turned into regular instructions by the assembler early on.</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mv x5,x6</a:t>
            </a:r>
            <a:r>
              <a:rPr lang="en"/>
              <a:t>” is a pseudo-instruction that means “set x5 to x6”</a:t>
            </a:r>
            <a:endParaRPr/>
          </a:p>
          <a:p>
            <a:pPr indent="-342900" lvl="0" marL="457200" rtl="0" algn="l">
              <a:spcBef>
                <a:spcPts val="0"/>
              </a:spcBef>
              <a:spcAft>
                <a:spcPts val="0"/>
              </a:spcAft>
              <a:buSzPts val="1800"/>
              <a:buChar char="●"/>
            </a:pPr>
            <a:r>
              <a:rPr lang="en"/>
              <a:t>Equivalent normal instruction: “</a:t>
            </a:r>
            <a:r>
              <a:rPr b="1" lang="en">
                <a:latin typeface="Courier New"/>
                <a:ea typeface="Courier New"/>
                <a:cs typeface="Courier New"/>
                <a:sym typeface="Courier New"/>
              </a:rPr>
              <a:t>add x5,x6,x0</a:t>
            </a:r>
            <a:r>
              <a:rPr lang="en"/>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Immediates</a:t>
            </a:r>
            <a:endParaRPr>
              <a:latin typeface="Oswald"/>
              <a:ea typeface="Oswald"/>
              <a:cs typeface="Oswald"/>
              <a:sym typeface="Oswald"/>
            </a:endParaRPr>
          </a:p>
        </p:txBody>
      </p:sp>
      <p:sp>
        <p:nvSpPr>
          <p:cNvPr id="261" name="Google Shape;261;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Immediates are numerical constants.</a:t>
            </a:r>
            <a:endParaRPr/>
          </a:p>
          <a:p>
            <a:pPr indent="-342900" lvl="0" marL="457200" rtl="0" algn="l">
              <a:spcBef>
                <a:spcPts val="0"/>
              </a:spcBef>
              <a:spcAft>
                <a:spcPts val="0"/>
              </a:spcAft>
              <a:buSzPts val="1800"/>
              <a:buChar char="●"/>
            </a:pPr>
            <a:r>
              <a:rPr lang="en"/>
              <a:t>They appear often in code, so there are special instructions for them.</a:t>
            </a:r>
            <a:endParaRPr/>
          </a:p>
          <a:p>
            <a:pPr indent="-342900" lvl="0" marL="457200" rtl="0" algn="l">
              <a:spcBef>
                <a:spcPts val="0"/>
              </a:spcBef>
              <a:spcAft>
                <a:spcPts val="0"/>
              </a:spcAft>
              <a:buSzPts val="1800"/>
              <a:buChar char="●"/>
            </a:pPr>
            <a:r>
              <a:rPr lang="en"/>
              <a:t>Add Immediate:</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addi x3,x4,10</a:t>
            </a:r>
            <a:r>
              <a:rPr lang="en"/>
              <a:t> (in RISC-V)</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f = g + 10</a:t>
            </a:r>
            <a:r>
              <a:rPr lang="en"/>
              <a:t> (in C)</a:t>
            </a:r>
            <a:endParaRPr/>
          </a:p>
          <a:p>
            <a:pPr indent="-317500" lvl="1" marL="914400" rtl="0" algn="l">
              <a:spcBef>
                <a:spcPts val="0"/>
              </a:spcBef>
              <a:spcAft>
                <a:spcPts val="0"/>
              </a:spcAft>
              <a:buSzPts val="1400"/>
              <a:buChar char="○"/>
            </a:pPr>
            <a:r>
              <a:rPr lang="en"/>
              <a:t>where RISC-V registers </a:t>
            </a:r>
            <a:r>
              <a:rPr b="1" lang="en">
                <a:latin typeface="Courier New"/>
                <a:ea typeface="Courier New"/>
                <a:cs typeface="Courier New"/>
                <a:sym typeface="Courier New"/>
              </a:rPr>
              <a:t>x3,x4</a:t>
            </a:r>
            <a:r>
              <a:rPr lang="en"/>
              <a:t> are associated with C variables </a:t>
            </a:r>
            <a:r>
              <a:rPr b="1" lang="en">
                <a:latin typeface="Courier New"/>
                <a:ea typeface="Courier New"/>
                <a:cs typeface="Courier New"/>
                <a:sym typeface="Courier New"/>
              </a:rPr>
              <a:t>f,g</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Syntax similar to add instruction, except that last argument is a number instead of a register.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Immediates</a:t>
            </a:r>
            <a:endParaRPr>
              <a:latin typeface="Oswald"/>
              <a:ea typeface="Oswald"/>
              <a:cs typeface="Oswald"/>
              <a:sym typeface="Oswald"/>
            </a:endParaRPr>
          </a:p>
        </p:txBody>
      </p:sp>
      <p:sp>
        <p:nvSpPr>
          <p:cNvPr id="267" name="Google Shape;267;p5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is no Subtract Immediate in RISC-V: Why?</a:t>
            </a:r>
            <a:endParaRPr/>
          </a:p>
          <a:p>
            <a:pPr indent="-317500" lvl="1" marL="914400" rtl="0" algn="l">
              <a:spcBef>
                <a:spcPts val="0"/>
              </a:spcBef>
              <a:spcAft>
                <a:spcPts val="0"/>
              </a:spcAft>
              <a:buSzPts val="1400"/>
              <a:buChar char="○"/>
            </a:pPr>
            <a:r>
              <a:rPr lang="en"/>
              <a:t>There are add and sub, but no addi counterpart</a:t>
            </a:r>
            <a:endParaRPr/>
          </a:p>
          <a:p>
            <a:pPr indent="-342900" lvl="0" marL="457200" rtl="0" algn="l">
              <a:spcBef>
                <a:spcPts val="0"/>
              </a:spcBef>
              <a:spcAft>
                <a:spcPts val="0"/>
              </a:spcAft>
              <a:buSzPts val="1800"/>
              <a:buChar char="●"/>
            </a:pPr>
            <a:r>
              <a:rPr lang="en"/>
              <a:t>Limit types of operations that can be done to absolute minimum</a:t>
            </a:r>
            <a:endParaRPr/>
          </a:p>
          <a:p>
            <a:pPr indent="-317500" lvl="1" marL="914400" rtl="0" algn="l">
              <a:spcBef>
                <a:spcPts val="0"/>
              </a:spcBef>
              <a:spcAft>
                <a:spcPts val="0"/>
              </a:spcAft>
              <a:buSzPts val="1400"/>
              <a:buChar char="○"/>
            </a:pPr>
            <a:r>
              <a:rPr lang="en"/>
              <a:t>if an operation can be decomposed into a simpler operation, don’t include it</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addi …, -X</a:t>
            </a:r>
            <a:r>
              <a:rPr b="1" lang="en">
                <a:latin typeface="Courier New"/>
                <a:ea typeface="Courier New"/>
                <a:cs typeface="Courier New"/>
                <a:sym typeface="Courier New"/>
              </a:rPr>
              <a:t> = subi …, X</a:t>
            </a:r>
            <a:r>
              <a:rPr lang="en"/>
              <a:t> ⇒ so no subi</a:t>
            </a:r>
            <a:br>
              <a:rPr lang="en"/>
            </a:br>
            <a:r>
              <a:rPr b="1" lang="en">
                <a:latin typeface="Courier New"/>
                <a:ea typeface="Courier New"/>
                <a:cs typeface="Courier New"/>
                <a:sym typeface="Courier New"/>
              </a:rPr>
              <a:t>addi x3,x4,-10</a:t>
            </a:r>
            <a:r>
              <a:rPr lang="en"/>
              <a:t> (in RISC-V)</a:t>
            </a:r>
            <a:br>
              <a:rPr lang="en"/>
            </a:br>
            <a:r>
              <a:rPr b="1" lang="en">
                <a:latin typeface="Courier New"/>
                <a:ea typeface="Courier New"/>
                <a:cs typeface="Courier New"/>
                <a:sym typeface="Courier New"/>
              </a:rPr>
              <a:t>f = g - 10</a:t>
            </a:r>
            <a:r>
              <a:rPr lang="en"/>
              <a:t> (in C)</a:t>
            </a:r>
            <a:endParaRPr/>
          </a:p>
          <a:p>
            <a:pPr indent="-342900" lvl="0" marL="457200" rtl="0" algn="l">
              <a:spcBef>
                <a:spcPts val="0"/>
              </a:spcBef>
              <a:spcAft>
                <a:spcPts val="0"/>
              </a:spcAft>
              <a:buSzPts val="1800"/>
              <a:buChar char="●"/>
            </a:pPr>
            <a:r>
              <a:rPr lang="en"/>
              <a:t>where RISC-V registers </a:t>
            </a:r>
            <a:r>
              <a:rPr b="1" lang="en">
                <a:latin typeface="Courier New"/>
                <a:ea typeface="Courier New"/>
                <a:cs typeface="Courier New"/>
                <a:sym typeface="Courier New"/>
              </a:rPr>
              <a:t>x3,x4</a:t>
            </a:r>
            <a:r>
              <a:rPr lang="en"/>
              <a:t> are associated with C variables </a:t>
            </a:r>
            <a:r>
              <a:rPr b="1" lang="en">
                <a:latin typeface="Courier New"/>
                <a:ea typeface="Courier New"/>
                <a:cs typeface="Courier New"/>
                <a:sym typeface="Courier New"/>
              </a:rPr>
              <a:t>f,g</a:t>
            </a:r>
            <a:endParaRPr b="1">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Register Zero</a:t>
            </a:r>
            <a:endParaRPr>
              <a:latin typeface="Oswald"/>
              <a:ea typeface="Oswald"/>
              <a:cs typeface="Oswald"/>
              <a:sym typeface="Oswald"/>
            </a:endParaRPr>
          </a:p>
        </p:txBody>
      </p:sp>
      <p:sp>
        <p:nvSpPr>
          <p:cNvPr id="273" name="Google Shape;273;p5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One particular immediate, the number zero (0), appears very often in code.</a:t>
            </a:r>
            <a:endParaRPr/>
          </a:p>
          <a:p>
            <a:pPr indent="-342900" lvl="0" marL="457200" rtl="0" algn="l">
              <a:spcBef>
                <a:spcPts val="0"/>
              </a:spcBef>
              <a:spcAft>
                <a:spcPts val="0"/>
              </a:spcAft>
              <a:buSzPts val="1800"/>
              <a:buChar char="●"/>
            </a:pPr>
            <a:r>
              <a:rPr lang="en"/>
              <a:t>So the register zero (</a:t>
            </a:r>
            <a:r>
              <a:rPr b="1" lang="en">
                <a:latin typeface="Courier New"/>
                <a:ea typeface="Courier New"/>
                <a:cs typeface="Courier New"/>
                <a:sym typeface="Courier New"/>
              </a:rPr>
              <a:t>x0</a:t>
            </a:r>
            <a:r>
              <a:rPr lang="en"/>
              <a:t>) is ‘hard-wired’ to value 0; e.g.,</a:t>
            </a:r>
            <a:br>
              <a:rPr lang="en"/>
            </a:br>
            <a:r>
              <a:rPr b="1" lang="en">
                <a:latin typeface="Courier New"/>
                <a:ea typeface="Courier New"/>
                <a:cs typeface="Courier New"/>
                <a:sym typeface="Courier New"/>
              </a:rPr>
              <a:t>add x3,x4,x0</a:t>
            </a:r>
            <a:r>
              <a:rPr lang="en"/>
              <a:t> (in RISC-V)</a:t>
            </a:r>
            <a:br>
              <a:rPr lang="en"/>
            </a:br>
            <a:r>
              <a:rPr b="1" lang="en">
                <a:latin typeface="Courier New"/>
                <a:ea typeface="Courier New"/>
                <a:cs typeface="Courier New"/>
                <a:sym typeface="Courier New"/>
              </a:rPr>
              <a:t>f = g</a:t>
            </a:r>
            <a:r>
              <a:rPr lang="en"/>
              <a:t> (in C)</a:t>
            </a:r>
            <a:endParaRPr/>
          </a:p>
          <a:p>
            <a:pPr indent="-342900" lvl="0" marL="457200" rtl="0" algn="l">
              <a:spcBef>
                <a:spcPts val="0"/>
              </a:spcBef>
              <a:spcAft>
                <a:spcPts val="0"/>
              </a:spcAft>
              <a:buSzPts val="1800"/>
              <a:buChar char="●"/>
            </a:pPr>
            <a:r>
              <a:rPr lang="en"/>
              <a:t>where RISC-V registers </a:t>
            </a:r>
            <a:r>
              <a:rPr b="1" lang="en">
                <a:latin typeface="Courier New"/>
                <a:ea typeface="Courier New"/>
                <a:cs typeface="Courier New"/>
                <a:sym typeface="Courier New"/>
              </a:rPr>
              <a:t>x3,x4</a:t>
            </a:r>
            <a:r>
              <a:rPr lang="en"/>
              <a:t> are associated with C variables f, g</a:t>
            </a:r>
            <a:endParaRPr/>
          </a:p>
          <a:p>
            <a:pPr indent="-342900" lvl="0" marL="457200" rtl="0" algn="l">
              <a:spcBef>
                <a:spcPts val="0"/>
              </a:spcBef>
              <a:spcAft>
                <a:spcPts val="0"/>
              </a:spcAft>
              <a:buSzPts val="1800"/>
              <a:buChar char="●"/>
            </a:pPr>
            <a:r>
              <a:rPr lang="en"/>
              <a:t>Defined in hardware, so an instruction</a:t>
            </a:r>
            <a:br>
              <a:rPr lang="en"/>
            </a:br>
            <a:r>
              <a:rPr lang="en"/>
              <a:t> 	</a:t>
            </a:r>
            <a:r>
              <a:rPr b="1" lang="en">
                <a:latin typeface="Courier New"/>
                <a:ea typeface="Courier New"/>
                <a:cs typeface="Courier New"/>
                <a:sym typeface="Courier New"/>
              </a:rPr>
              <a:t>add x0,x3,x4</a:t>
            </a:r>
            <a:r>
              <a:rPr lang="en"/>
              <a:t> 	will not do anything!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Agenda</a:t>
            </a:r>
            <a:endParaRPr>
              <a:latin typeface="Oswald"/>
              <a:ea typeface="Oswald"/>
              <a:cs typeface="Oswald"/>
              <a:sym typeface="Oswald"/>
            </a:endParaRPr>
          </a:p>
        </p:txBody>
      </p:sp>
      <p:sp>
        <p:nvSpPr>
          <p:cNvPr id="279" name="Google Shape;279;p5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 to Assembly Languages</a:t>
            </a:r>
            <a:endParaRPr/>
          </a:p>
          <a:p>
            <a:pPr indent="-342900" lvl="0" marL="457200" rtl="0" algn="l">
              <a:spcBef>
                <a:spcPts val="0"/>
              </a:spcBef>
              <a:spcAft>
                <a:spcPts val="0"/>
              </a:spcAft>
              <a:buSzPts val="1800"/>
              <a:buChar char="●"/>
            </a:pPr>
            <a:r>
              <a:rPr lang="en"/>
              <a:t>RISC-V Programming Paradigm</a:t>
            </a:r>
            <a:endParaRPr/>
          </a:p>
          <a:p>
            <a:pPr indent="-342900" lvl="0" marL="457200" rtl="0" algn="l">
              <a:spcBef>
                <a:spcPts val="0"/>
              </a:spcBef>
              <a:spcAft>
                <a:spcPts val="0"/>
              </a:spcAft>
              <a:buClr>
                <a:srgbClr val="6AA84F"/>
              </a:buClr>
              <a:buSzPts val="1800"/>
              <a:buChar char="●"/>
            </a:pPr>
            <a:r>
              <a:rPr b="1" lang="en">
                <a:solidFill>
                  <a:srgbClr val="6AA84F"/>
                </a:solidFill>
              </a:rPr>
              <a:t>List of RISC-V Instructions</a:t>
            </a:r>
            <a:endParaRPr b="1">
              <a:solidFill>
                <a:srgbClr val="6AA84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types</a:t>
            </a:r>
            <a:endParaRPr>
              <a:latin typeface="Oswald"/>
              <a:ea typeface="Oswald"/>
              <a:cs typeface="Oswald"/>
              <a:sym typeface="Oswald"/>
            </a:endParaRPr>
          </a:p>
        </p:txBody>
      </p:sp>
      <p:sp>
        <p:nvSpPr>
          <p:cNvPr id="285" name="Google Shape;285;p5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Instructions fall in 5 categories:</a:t>
            </a:r>
            <a:endParaRPr/>
          </a:p>
          <a:p>
            <a:pPr indent="-342900" lvl="0" marL="457200" rtl="0" algn="l">
              <a:spcBef>
                <a:spcPts val="0"/>
              </a:spcBef>
              <a:spcAft>
                <a:spcPts val="0"/>
              </a:spcAft>
              <a:buSzPts val="1800"/>
              <a:buChar char="●"/>
            </a:pPr>
            <a:r>
              <a:rPr lang="en"/>
              <a:t>Arithmetic Operators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Arithmetic Operators</a:t>
            </a:r>
            <a:endParaRPr>
              <a:latin typeface="Oswald"/>
              <a:ea typeface="Oswald"/>
              <a:cs typeface="Oswald"/>
              <a:sym typeface="Oswald"/>
            </a:endParaRPr>
          </a:p>
        </p:txBody>
      </p:sp>
      <p:sp>
        <p:nvSpPr>
          <p:cNvPr id="291" name="Google Shape;291;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Generally for doing math between registers or between a register and an immediate.</a:t>
            </a:r>
            <a:endParaRPr/>
          </a:p>
          <a:p>
            <a:pPr indent="-342900" lvl="0" marL="457200" rtl="0" algn="l">
              <a:spcBef>
                <a:spcPts val="0"/>
              </a:spcBef>
              <a:spcAft>
                <a:spcPts val="0"/>
              </a:spcAft>
              <a:buSzPts val="1800"/>
              <a:buChar char="●"/>
            </a:pPr>
            <a:r>
              <a:rPr lang="en"/>
              <a:t>The following operations are available in the base RISC-V instruction set:</a:t>
            </a:r>
            <a:endParaRPr/>
          </a:p>
          <a:p>
            <a:pPr indent="-317500" lvl="1" marL="914400" rtl="0" algn="l">
              <a:spcBef>
                <a:spcPts val="0"/>
              </a:spcBef>
              <a:spcAft>
                <a:spcPts val="0"/>
              </a:spcAft>
              <a:buSzPts val="1400"/>
              <a:buChar char="○"/>
            </a:pPr>
            <a:r>
              <a:rPr lang="en"/>
              <a:t>Addition/Subtraction: add, sub, addi</a:t>
            </a:r>
            <a:endParaRPr/>
          </a:p>
          <a:p>
            <a:pPr indent="-317500" lvl="1" marL="914400" rtl="0" algn="l">
              <a:spcBef>
                <a:spcPts val="0"/>
              </a:spcBef>
              <a:spcAft>
                <a:spcPts val="0"/>
              </a:spcAft>
              <a:buSzPts val="1400"/>
              <a:buChar char="○"/>
            </a:pPr>
            <a:r>
              <a:rPr lang="en"/>
              <a:t>Bitwise: </a:t>
            </a:r>
            <a:r>
              <a:rPr b="1" lang="en">
                <a:latin typeface="Courier New"/>
                <a:ea typeface="Courier New"/>
                <a:cs typeface="Courier New"/>
                <a:sym typeface="Courier New"/>
              </a:rPr>
              <a:t>and</a:t>
            </a:r>
            <a:r>
              <a:rPr lang="en"/>
              <a:t>, </a:t>
            </a:r>
            <a:r>
              <a:rPr b="1" lang="en">
                <a:latin typeface="Courier New"/>
                <a:ea typeface="Courier New"/>
                <a:cs typeface="Courier New"/>
                <a:sym typeface="Courier New"/>
              </a:rPr>
              <a:t>or</a:t>
            </a:r>
            <a:r>
              <a:rPr lang="en"/>
              <a:t>, </a:t>
            </a:r>
            <a:r>
              <a:rPr b="1" lang="en">
                <a:latin typeface="Courier New"/>
                <a:ea typeface="Courier New"/>
                <a:cs typeface="Courier New"/>
                <a:sym typeface="Courier New"/>
              </a:rPr>
              <a:t>xor</a:t>
            </a:r>
            <a:r>
              <a:rPr lang="en"/>
              <a:t>, </a:t>
            </a:r>
            <a:r>
              <a:rPr b="1" lang="en">
                <a:latin typeface="Courier New"/>
                <a:ea typeface="Courier New"/>
                <a:cs typeface="Courier New"/>
                <a:sym typeface="Courier New"/>
              </a:rPr>
              <a:t>andi</a:t>
            </a:r>
            <a:r>
              <a:rPr lang="en"/>
              <a:t>, </a:t>
            </a:r>
            <a:r>
              <a:rPr b="1" lang="en">
                <a:latin typeface="Courier New"/>
                <a:ea typeface="Courier New"/>
                <a:cs typeface="Courier New"/>
                <a:sym typeface="Courier New"/>
              </a:rPr>
              <a:t>ori</a:t>
            </a:r>
            <a:r>
              <a:rPr lang="en"/>
              <a:t>, </a:t>
            </a:r>
            <a:r>
              <a:rPr b="1" lang="en">
                <a:latin typeface="Courier New"/>
                <a:ea typeface="Courier New"/>
                <a:cs typeface="Courier New"/>
                <a:sym typeface="Courier New"/>
              </a:rPr>
              <a:t>xori</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Shifts: </a:t>
            </a:r>
            <a:r>
              <a:rPr b="1" lang="en">
                <a:latin typeface="Courier New"/>
                <a:ea typeface="Courier New"/>
                <a:cs typeface="Courier New"/>
                <a:sym typeface="Courier New"/>
              </a:rPr>
              <a:t>sll</a:t>
            </a:r>
            <a:r>
              <a:rPr lang="en"/>
              <a:t> </a:t>
            </a:r>
            <a:r>
              <a:rPr lang="en" sz="1200"/>
              <a:t>(Shift Left Logical)</a:t>
            </a:r>
            <a:r>
              <a:rPr lang="en"/>
              <a:t>, </a:t>
            </a:r>
            <a:r>
              <a:rPr b="1" lang="en">
                <a:latin typeface="Courier New"/>
                <a:ea typeface="Courier New"/>
                <a:cs typeface="Courier New"/>
                <a:sym typeface="Courier New"/>
              </a:rPr>
              <a:t>srl</a:t>
            </a:r>
            <a:r>
              <a:rPr lang="en"/>
              <a:t> </a:t>
            </a:r>
            <a:r>
              <a:rPr lang="en" sz="1200"/>
              <a:t>(Shift Right Logical)</a:t>
            </a:r>
            <a:r>
              <a:rPr lang="en"/>
              <a:t>, </a:t>
            </a:r>
            <a:r>
              <a:rPr b="1" lang="en">
                <a:latin typeface="Courier New"/>
                <a:ea typeface="Courier New"/>
                <a:cs typeface="Courier New"/>
                <a:sym typeface="Courier New"/>
              </a:rPr>
              <a:t>sra</a:t>
            </a:r>
            <a:r>
              <a:rPr lang="en"/>
              <a:t> </a:t>
            </a:r>
            <a:r>
              <a:rPr lang="en" sz="1200"/>
              <a:t>(Shift Right Arithmetic)</a:t>
            </a:r>
            <a:r>
              <a:rPr lang="en"/>
              <a:t>, </a:t>
            </a:r>
            <a:r>
              <a:rPr b="1" lang="en">
                <a:latin typeface="Courier New"/>
                <a:ea typeface="Courier New"/>
                <a:cs typeface="Courier New"/>
                <a:sym typeface="Courier New"/>
              </a:rPr>
              <a:t>slli</a:t>
            </a:r>
            <a:r>
              <a:rPr lang="en"/>
              <a:t>, </a:t>
            </a:r>
            <a:r>
              <a:rPr b="1" lang="en">
                <a:latin typeface="Courier New"/>
                <a:ea typeface="Courier New"/>
                <a:cs typeface="Courier New"/>
                <a:sym typeface="Courier New"/>
              </a:rPr>
              <a:t>srli</a:t>
            </a:r>
            <a:r>
              <a:rPr lang="en"/>
              <a:t>, </a:t>
            </a:r>
            <a:r>
              <a:rPr b="1" lang="en">
                <a:latin typeface="Courier New"/>
                <a:ea typeface="Courier New"/>
                <a:cs typeface="Courier New"/>
                <a:sym typeface="Courier New"/>
              </a:rPr>
              <a:t>srai</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Set Less Than: </a:t>
            </a:r>
            <a:r>
              <a:rPr b="1" lang="en">
                <a:latin typeface="Courier New"/>
                <a:ea typeface="Courier New"/>
                <a:cs typeface="Courier New"/>
                <a:sym typeface="Courier New"/>
              </a:rPr>
              <a:t>slt</a:t>
            </a:r>
            <a:r>
              <a:rPr lang="en"/>
              <a:t>, </a:t>
            </a:r>
            <a:r>
              <a:rPr b="1" lang="en">
                <a:latin typeface="Courier New"/>
                <a:ea typeface="Courier New"/>
                <a:cs typeface="Courier New"/>
                <a:sym typeface="Courier New"/>
              </a:rPr>
              <a:t>sltu</a:t>
            </a:r>
            <a:r>
              <a:rPr lang="en"/>
              <a:t>, </a:t>
            </a:r>
            <a:r>
              <a:rPr b="1" lang="en">
                <a:latin typeface="Courier New"/>
                <a:ea typeface="Courier New"/>
                <a:cs typeface="Courier New"/>
                <a:sym typeface="Courier New"/>
              </a:rPr>
              <a:t>slti</a:t>
            </a:r>
            <a:r>
              <a:rPr lang="en"/>
              <a:t>, </a:t>
            </a:r>
            <a:r>
              <a:rPr b="1" lang="en">
                <a:latin typeface="Courier New"/>
                <a:ea typeface="Courier New"/>
                <a:cs typeface="Courier New"/>
                <a:sym typeface="Courier New"/>
              </a:rPr>
              <a:t>sltiu</a:t>
            </a:r>
            <a:r>
              <a:rPr lang="en"/>
              <a:t> </a:t>
            </a:r>
            <a:endParaRPr/>
          </a:p>
          <a:p>
            <a:pPr indent="-342900" lvl="0" marL="457200" rtl="0" algn="l">
              <a:spcBef>
                <a:spcPts val="0"/>
              </a:spcBef>
              <a:spcAft>
                <a:spcPts val="0"/>
              </a:spcAft>
              <a:buSzPts val="1800"/>
              <a:buChar char="●"/>
            </a:pPr>
            <a:r>
              <a:rPr lang="en"/>
              <a:t>Quick note on Set Less Than:</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s</a:t>
            </a:r>
            <a:r>
              <a:rPr b="1" lang="en">
                <a:latin typeface="Courier New"/>
                <a:ea typeface="Courier New"/>
                <a:cs typeface="Courier New"/>
                <a:sym typeface="Courier New"/>
              </a:rPr>
              <a:t>lt x5,x6,x7</a:t>
            </a:r>
            <a:r>
              <a:rPr lang="en"/>
              <a:t> means:</a:t>
            </a:r>
            <a:endParaRPr/>
          </a:p>
          <a:p>
            <a:pPr indent="-317500" lvl="1" marL="914400" rtl="0" algn="l">
              <a:spcBef>
                <a:spcPts val="0"/>
              </a:spcBef>
              <a:spcAft>
                <a:spcPts val="0"/>
              </a:spcAft>
              <a:buSzPts val="1400"/>
              <a:buChar char="○"/>
            </a:pPr>
            <a:r>
              <a:rPr lang="en"/>
              <a:t>If the x6 &lt; x7, then set x5 to 1. Otherwise, set x5 to 0</a:t>
            </a:r>
            <a:endParaRPr/>
          </a:p>
          <a:p>
            <a:pPr indent="-317500" lvl="1" marL="914400" rtl="0" algn="l">
              <a:spcBef>
                <a:spcPts val="0"/>
              </a:spcBef>
              <a:spcAft>
                <a:spcPts val="0"/>
              </a:spcAft>
              <a:buSzPts val="1400"/>
              <a:buChar char="○"/>
            </a:pPr>
            <a:r>
              <a:rPr lang="en"/>
              <a:t>Comes in two versions: </a:t>
            </a:r>
            <a:r>
              <a:rPr b="1" lang="en">
                <a:latin typeface="Courier New"/>
                <a:ea typeface="Courier New"/>
                <a:cs typeface="Courier New"/>
                <a:sym typeface="Courier New"/>
              </a:rPr>
              <a:t>slt</a:t>
            </a:r>
            <a:r>
              <a:rPr lang="en"/>
              <a:t> (treat the operands as signed numbers) and </a:t>
            </a:r>
            <a:r>
              <a:rPr b="1" lang="en">
                <a:latin typeface="Courier New"/>
                <a:ea typeface="Courier New"/>
                <a:cs typeface="Courier New"/>
                <a:sym typeface="Courier New"/>
              </a:rPr>
              <a:t>sltu</a:t>
            </a:r>
            <a:r>
              <a:rPr lang="en"/>
              <a:t> (treat the operands as unsigned numbers). </a:t>
            </a:r>
            <a:r>
              <a:rPr b="1" lang="en">
                <a:latin typeface="Courier New"/>
                <a:ea typeface="Courier New"/>
                <a:cs typeface="Courier New"/>
                <a:sym typeface="Courier New"/>
              </a:rPr>
              <a:t>s</a:t>
            </a:r>
            <a:r>
              <a:rPr b="1" lang="en">
                <a:latin typeface="Courier New"/>
                <a:ea typeface="Courier New"/>
                <a:cs typeface="Courier New"/>
                <a:sym typeface="Courier New"/>
              </a:rPr>
              <a:t>lti</a:t>
            </a:r>
            <a:r>
              <a:rPr lang="en"/>
              <a:t> and </a:t>
            </a:r>
            <a:r>
              <a:rPr b="1" lang="en">
                <a:latin typeface="Courier New"/>
                <a:ea typeface="Courier New"/>
                <a:cs typeface="Courier New"/>
                <a:sym typeface="Courier New"/>
              </a:rPr>
              <a:t>sltiu</a:t>
            </a:r>
            <a:r>
              <a:rPr lang="en"/>
              <a:t> are the same but with an immediate instead of x7.</a:t>
            </a:r>
            <a:endParaRPr/>
          </a:p>
          <a:p>
            <a:pPr indent="-342900" lvl="0" marL="457200" rtl="0" algn="l">
              <a:spcBef>
                <a:spcPts val="0"/>
              </a:spcBef>
              <a:spcAft>
                <a:spcPts val="0"/>
              </a:spcAft>
              <a:buSzPts val="1800"/>
              <a:buChar char="●"/>
            </a:pPr>
            <a:r>
              <a:rPr lang="en"/>
              <a:t>Note: Multiplication/Division is NOT within the base instruction set</a:t>
            </a:r>
            <a:endParaRPr/>
          </a:p>
          <a:p>
            <a:pPr indent="-317500" lvl="1" marL="914400" rtl="0" algn="l">
              <a:spcBef>
                <a:spcPts val="0"/>
              </a:spcBef>
              <a:spcAft>
                <a:spcPts val="0"/>
              </a:spcAft>
              <a:buSzPts val="1400"/>
              <a:buChar char="○"/>
            </a:pPr>
            <a:r>
              <a:rPr lang="en"/>
              <a:t>Takes O(n</a:t>
            </a:r>
            <a:r>
              <a:rPr baseline="30000" lang="en"/>
              <a:t>2</a:t>
            </a:r>
            <a:r>
              <a:rPr lang="en"/>
              <a:t>) circuit components, so it gets put in an optional extension instead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Arithmetic vs. Logical Shifts</a:t>
            </a:r>
            <a:endParaRPr>
              <a:latin typeface="Oswald"/>
              <a:ea typeface="Oswald"/>
              <a:cs typeface="Oswald"/>
              <a:sym typeface="Oswald"/>
            </a:endParaRPr>
          </a:p>
        </p:txBody>
      </p:sp>
      <p:sp>
        <p:nvSpPr>
          <p:cNvPr id="297" name="Google Shape;297;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Logical Left shift: Move all bits to the left, appending zeros as needed</a:t>
            </a:r>
            <a:endParaRPr/>
          </a:p>
          <a:p>
            <a:pPr indent="-342900" lvl="0" marL="457200" rtl="0" algn="l">
              <a:spcBef>
                <a:spcPts val="0"/>
              </a:spcBef>
              <a:spcAft>
                <a:spcPts val="0"/>
              </a:spcAft>
              <a:buSzPts val="1800"/>
              <a:buChar char="●"/>
            </a:pPr>
            <a:r>
              <a:rPr lang="en"/>
              <a:t>Logical Right shift: Move all bits to the right, prepending zeros as needed</a:t>
            </a:r>
            <a:endParaRPr/>
          </a:p>
          <a:p>
            <a:pPr indent="-342900" lvl="0" marL="457200" rtl="0" algn="l">
              <a:spcBef>
                <a:spcPts val="0"/>
              </a:spcBef>
              <a:spcAft>
                <a:spcPts val="0"/>
              </a:spcAft>
              <a:buSzPts val="1800"/>
              <a:buChar char="●"/>
            </a:pPr>
            <a:r>
              <a:rPr lang="en"/>
              <a:t>Recall: When working with unsigned numbers, these are equivalent to multiplying by a power of 2 and dividing by a power of 2 (rounding down), respectively.</a:t>
            </a:r>
            <a:endParaRPr/>
          </a:p>
          <a:p>
            <a:pPr indent="-342900" lvl="0" marL="457200" rtl="0" algn="l">
              <a:spcBef>
                <a:spcPts val="0"/>
              </a:spcBef>
              <a:spcAft>
                <a:spcPts val="0"/>
              </a:spcAft>
              <a:buSzPts val="1800"/>
              <a:buChar char="●"/>
            </a:pPr>
            <a:r>
              <a:rPr lang="en"/>
              <a:t>What if we want the same behavior for signed numbers?</a:t>
            </a:r>
            <a:endParaRPr/>
          </a:p>
          <a:p>
            <a:pPr indent="-317500" lvl="1" marL="914400" rtl="0" algn="l">
              <a:spcBef>
                <a:spcPts val="0"/>
              </a:spcBef>
              <a:spcAft>
                <a:spcPts val="0"/>
              </a:spcAft>
              <a:buSzPts val="1400"/>
              <a:buChar char="○"/>
            </a:pPr>
            <a:r>
              <a:rPr lang="en"/>
              <a:t>For left shifts, nothing changes</a:t>
            </a:r>
            <a:endParaRPr/>
          </a:p>
          <a:p>
            <a:pPr indent="-317500" lvl="1" marL="914400" rtl="0" algn="l">
              <a:spcBef>
                <a:spcPts val="0"/>
              </a:spcBef>
              <a:spcAft>
                <a:spcPts val="0"/>
              </a:spcAft>
              <a:buSzPts val="1400"/>
              <a:buChar char="○"/>
            </a:pPr>
            <a:r>
              <a:rPr lang="en"/>
              <a:t>For right shifts, adding 0s the front of a number will turn negative numbers into positive numbers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Arithmetic vs. Logical Shifts</a:t>
            </a:r>
            <a:endParaRPr>
              <a:latin typeface="Oswald"/>
              <a:ea typeface="Oswald"/>
              <a:cs typeface="Oswald"/>
              <a:sym typeface="Oswald"/>
            </a:endParaRPr>
          </a:p>
        </p:txBody>
      </p:sp>
      <p:sp>
        <p:nvSpPr>
          <p:cNvPr id="303" name="Google Shape;303;p6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Clr>
                <a:srgbClr val="999999"/>
              </a:buClr>
              <a:buSzPct val="100000"/>
              <a:buChar char="●"/>
            </a:pPr>
            <a:r>
              <a:rPr lang="en">
                <a:solidFill>
                  <a:srgbClr val="999999"/>
                </a:solidFill>
              </a:rPr>
              <a:t>What if we want the same behavior for signed numbers?</a:t>
            </a:r>
            <a:endParaRPr>
              <a:solidFill>
                <a:srgbClr val="999999"/>
              </a:solidFill>
            </a:endParaRPr>
          </a:p>
          <a:p>
            <a:pPr indent="-310832" lvl="1" marL="914400" rtl="0" algn="l">
              <a:spcBef>
                <a:spcPts val="0"/>
              </a:spcBef>
              <a:spcAft>
                <a:spcPts val="0"/>
              </a:spcAft>
              <a:buClr>
                <a:srgbClr val="999999"/>
              </a:buClr>
              <a:buSzPct val="100000"/>
              <a:buChar char="○"/>
            </a:pPr>
            <a:r>
              <a:rPr lang="en">
                <a:solidFill>
                  <a:srgbClr val="999999"/>
                </a:solidFill>
              </a:rPr>
              <a:t>For left shifts, nothing changes</a:t>
            </a:r>
            <a:endParaRPr>
              <a:solidFill>
                <a:srgbClr val="999999"/>
              </a:solidFill>
            </a:endParaRPr>
          </a:p>
          <a:p>
            <a:pPr indent="-310832" lvl="1" marL="914400" rtl="0" algn="l">
              <a:spcBef>
                <a:spcPts val="0"/>
              </a:spcBef>
              <a:spcAft>
                <a:spcPts val="0"/>
              </a:spcAft>
              <a:buClr>
                <a:srgbClr val="999999"/>
              </a:buClr>
              <a:buSzPct val="100000"/>
              <a:buChar char="○"/>
            </a:pPr>
            <a:r>
              <a:rPr lang="en">
                <a:solidFill>
                  <a:srgbClr val="999999"/>
                </a:solidFill>
              </a:rPr>
              <a:t>For right shifts, adding 0s the front of a number will turn negative numbers into positive numbers</a:t>
            </a:r>
            <a:endParaRPr>
              <a:solidFill>
                <a:srgbClr val="999999"/>
              </a:solidFill>
            </a:endParaRPr>
          </a:p>
          <a:p>
            <a:pPr indent="-334327" lvl="0" marL="457200" rtl="0" algn="l">
              <a:spcBef>
                <a:spcPts val="0"/>
              </a:spcBef>
              <a:spcAft>
                <a:spcPts val="0"/>
              </a:spcAft>
              <a:buClr>
                <a:srgbClr val="000000"/>
              </a:buClr>
              <a:buSzPct val="100000"/>
              <a:buChar char="●"/>
            </a:pPr>
            <a:r>
              <a:rPr lang="en">
                <a:solidFill>
                  <a:srgbClr val="000000"/>
                </a:solidFill>
              </a:rPr>
              <a:t>Solution: If you right-shift a negative number, prepend with 1s instead to keep the number negative.</a:t>
            </a:r>
            <a:endParaRPr>
              <a:solidFill>
                <a:srgbClr val="000000"/>
              </a:solidFill>
            </a:endParaRPr>
          </a:p>
          <a:p>
            <a:pPr indent="-334327" lvl="0" marL="457200" rtl="0" algn="l">
              <a:spcBef>
                <a:spcPts val="0"/>
              </a:spcBef>
              <a:spcAft>
                <a:spcPts val="0"/>
              </a:spcAft>
              <a:buClr>
                <a:srgbClr val="000000"/>
              </a:buClr>
              <a:buSzPct val="100000"/>
              <a:buChar char="●"/>
            </a:pPr>
            <a:r>
              <a:rPr lang="en">
                <a:solidFill>
                  <a:srgbClr val="000000"/>
                </a:solidFill>
              </a:rPr>
              <a:t>Why does this work?</a:t>
            </a:r>
            <a:endParaRPr>
              <a:solidFill>
                <a:srgbClr val="000000"/>
              </a:solidFill>
            </a:endParaRPr>
          </a:p>
          <a:p>
            <a:pPr indent="-310832" lvl="1" marL="914400" rtl="0" algn="l">
              <a:spcBef>
                <a:spcPts val="0"/>
              </a:spcBef>
              <a:spcAft>
                <a:spcPts val="0"/>
              </a:spcAft>
              <a:buClr>
                <a:srgbClr val="000000"/>
              </a:buClr>
              <a:buSzPct val="100000"/>
              <a:buChar char="○"/>
            </a:pPr>
            <a:r>
              <a:rPr lang="en">
                <a:solidFill>
                  <a:srgbClr val="000000"/>
                </a:solidFill>
              </a:rPr>
              <a:t>If we had the number -3 stored with n bits, 2’s complement means this is equivalent to the unsigned bit pattern 2</a:t>
            </a:r>
            <a:r>
              <a:rPr baseline="30000" lang="en">
                <a:solidFill>
                  <a:srgbClr val="000000"/>
                </a:solidFill>
              </a:rPr>
              <a:t>n</a:t>
            </a:r>
            <a:r>
              <a:rPr lang="en">
                <a:solidFill>
                  <a:srgbClr val="000000"/>
                </a:solidFill>
              </a:rPr>
              <a:t>-3. e.g., the 16-bit pattern would be 0b1111 1111 1111 1101, and the 20-bit pattern would be 0b1111 1111 1111 1111 1101. Thus, to “extend” a negative number from 16 bits to 20 bits, we can prepend with 1s. The same principle applies when extending right shifts.</a:t>
            </a:r>
            <a:endParaRPr>
              <a:solidFill>
                <a:srgbClr val="000000"/>
              </a:solidFill>
            </a:endParaRPr>
          </a:p>
          <a:p>
            <a:pPr indent="-334327" lvl="0" marL="457200" rtl="0" algn="l">
              <a:spcBef>
                <a:spcPts val="0"/>
              </a:spcBef>
              <a:spcAft>
                <a:spcPts val="0"/>
              </a:spcAft>
              <a:buClr>
                <a:srgbClr val="000000"/>
              </a:buClr>
              <a:buSzPct val="100000"/>
              <a:buChar char="●"/>
            </a:pPr>
            <a:r>
              <a:rPr lang="en">
                <a:solidFill>
                  <a:srgbClr val="000000"/>
                </a:solidFill>
              </a:rPr>
              <a:t>Note: Negative numbers have a 1 bit in the MSB</a:t>
            </a:r>
            <a:endParaRPr>
              <a:solidFill>
                <a:srgbClr val="000000"/>
              </a:solidFill>
            </a:endParaRPr>
          </a:p>
          <a:p>
            <a:pPr indent="-334327" lvl="0" marL="457200" rtl="0" algn="l">
              <a:spcBef>
                <a:spcPts val="0"/>
              </a:spcBef>
              <a:spcAft>
                <a:spcPts val="0"/>
              </a:spcAft>
              <a:buClr>
                <a:srgbClr val="000000"/>
              </a:buClr>
              <a:buSzPct val="100000"/>
              <a:buChar char="●"/>
            </a:pPr>
            <a:r>
              <a:rPr lang="en">
                <a:solidFill>
                  <a:srgbClr val="000000"/>
                </a:solidFill>
              </a:rPr>
              <a:t>Conclusion: If we want to right-shift (or extend) a signed number, fill in the extra bits with the MSB to keep the same represented value. This is known as “sign-extension”</a:t>
            </a:r>
            <a:endParaRPr>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Logical Shifting</a:t>
            </a:r>
            <a:endParaRPr>
              <a:latin typeface="Oswald"/>
              <a:ea typeface="Oswald"/>
              <a:cs typeface="Oswald"/>
              <a:sym typeface="Oswald"/>
            </a:endParaRPr>
          </a:p>
        </p:txBody>
      </p:sp>
      <p:sp>
        <p:nvSpPr>
          <p:cNvPr id="309" name="Google Shape;309;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Shift Left Logical (</a:t>
            </a:r>
            <a:r>
              <a:rPr b="1" lang="en">
                <a:latin typeface="Courier New"/>
                <a:ea typeface="Courier New"/>
                <a:cs typeface="Courier New"/>
                <a:sym typeface="Courier New"/>
              </a:rPr>
              <a:t>sll</a:t>
            </a:r>
            <a:r>
              <a:rPr lang="en"/>
              <a:t>) and immediate (</a:t>
            </a:r>
            <a:r>
              <a:rPr b="1" lang="en">
                <a:latin typeface="Courier New"/>
                <a:ea typeface="Courier New"/>
                <a:cs typeface="Courier New"/>
                <a:sym typeface="Courier New"/>
              </a:rPr>
              <a:t>slli</a:t>
            </a:r>
            <a:r>
              <a:rPr lang="en"/>
              <a:t>):</a:t>
            </a:r>
            <a:br>
              <a:rPr lang="en"/>
            </a:br>
            <a:r>
              <a:rPr b="1" lang="en">
                <a:latin typeface="Courier New"/>
                <a:ea typeface="Courier New"/>
                <a:cs typeface="Courier New"/>
                <a:sym typeface="Courier New"/>
              </a:rPr>
              <a:t>	slli x11,x12,2 #x11=x12&lt;&lt;2</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Store in x1 the value from x2 shifted by 2 bits to the left (they fall off end), inserting 0’s on right; </a:t>
            </a:r>
            <a:r>
              <a:rPr b="1" lang="en">
                <a:latin typeface="Courier New"/>
                <a:ea typeface="Courier New"/>
                <a:cs typeface="Courier New"/>
                <a:sym typeface="Courier New"/>
              </a:rPr>
              <a:t>&lt;&lt;</a:t>
            </a:r>
            <a:r>
              <a:rPr lang="en"/>
              <a:t> in C.</a:t>
            </a:r>
            <a:endParaRPr/>
          </a:p>
          <a:p>
            <a:pPr indent="-342900" lvl="0" marL="457200" rtl="0" algn="l">
              <a:spcBef>
                <a:spcPts val="0"/>
              </a:spcBef>
              <a:spcAft>
                <a:spcPts val="0"/>
              </a:spcAft>
              <a:buSzPts val="1800"/>
              <a:buChar char="●"/>
            </a:pPr>
            <a:r>
              <a:rPr lang="en"/>
              <a:t>Before:	0b0000 0002</a:t>
            </a:r>
            <a:br>
              <a:rPr lang="en"/>
            </a:br>
            <a:r>
              <a:rPr lang="en"/>
              <a:t>0b0000 0000 0000 0000 0000 0000 0000 0010</a:t>
            </a:r>
            <a:endParaRPr/>
          </a:p>
          <a:p>
            <a:pPr indent="-342900" lvl="0" marL="457200" rtl="0" algn="l">
              <a:spcBef>
                <a:spcPts val="0"/>
              </a:spcBef>
              <a:spcAft>
                <a:spcPts val="0"/>
              </a:spcAft>
              <a:buSzPts val="1800"/>
              <a:buChar char="●"/>
            </a:pPr>
            <a:r>
              <a:rPr lang="en"/>
              <a:t>After: 	0b0000 0008</a:t>
            </a:r>
            <a:br>
              <a:rPr lang="en"/>
            </a:br>
            <a:r>
              <a:rPr lang="en"/>
              <a:t>0b0000 0000 0000 0000 0000 0000 0000 1000</a:t>
            </a:r>
            <a:endParaRPr/>
          </a:p>
          <a:p>
            <a:pPr indent="-342900" lvl="0" marL="457200" rtl="0" algn="l">
              <a:spcBef>
                <a:spcPts val="0"/>
              </a:spcBef>
              <a:spcAft>
                <a:spcPts val="0"/>
              </a:spcAft>
              <a:buSzPts val="1800"/>
              <a:buChar char="●"/>
            </a:pPr>
            <a:r>
              <a:rPr lang="en"/>
              <a:t>Shift Right Logical </a:t>
            </a:r>
            <a:r>
              <a:rPr lang="en"/>
              <a:t>(</a:t>
            </a:r>
            <a:r>
              <a:rPr b="1" lang="en">
                <a:latin typeface="Courier New"/>
                <a:ea typeface="Courier New"/>
                <a:cs typeface="Courier New"/>
                <a:sym typeface="Courier New"/>
              </a:rPr>
              <a:t>srl</a:t>
            </a:r>
            <a:r>
              <a:rPr lang="en"/>
              <a:t>) and immediate (</a:t>
            </a:r>
            <a:r>
              <a:rPr b="1" lang="en">
                <a:latin typeface="Courier New"/>
                <a:ea typeface="Courier New"/>
                <a:cs typeface="Courier New"/>
                <a:sym typeface="Courier New"/>
              </a:rPr>
              <a:t>srli</a:t>
            </a:r>
            <a:r>
              <a:rPr lang="en"/>
              <a:t>): Same behavior as before; prepend with 0s.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Arithmetic Shifting</a:t>
            </a:r>
            <a:endParaRPr>
              <a:latin typeface="Oswald"/>
              <a:ea typeface="Oswald"/>
              <a:cs typeface="Oswald"/>
              <a:sym typeface="Oswald"/>
            </a:endParaRPr>
          </a:p>
        </p:txBody>
      </p:sp>
      <p:sp>
        <p:nvSpPr>
          <p:cNvPr id="315" name="Google Shape;315;p6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Shift right arithmetic (</a:t>
            </a:r>
            <a:r>
              <a:rPr b="1" lang="en">
                <a:latin typeface="Courier New"/>
                <a:ea typeface="Courier New"/>
                <a:cs typeface="Courier New"/>
                <a:sym typeface="Courier New"/>
              </a:rPr>
              <a:t>sra</a:t>
            </a:r>
            <a:r>
              <a:rPr lang="en"/>
              <a:t>, </a:t>
            </a:r>
            <a:r>
              <a:rPr b="1" lang="en">
                <a:latin typeface="Courier New"/>
                <a:ea typeface="Courier New"/>
                <a:cs typeface="Courier New"/>
                <a:sym typeface="Courier New"/>
              </a:rPr>
              <a:t>srai</a:t>
            </a:r>
            <a:r>
              <a:rPr lang="en"/>
              <a:t>) moves n bits to the right </a:t>
            </a:r>
            <a:r>
              <a:rPr lang="en" sz="1600"/>
              <a:t>(insert high-order sign bit into empty bits)</a:t>
            </a:r>
            <a:endParaRPr sz="1600"/>
          </a:p>
          <a:p>
            <a:pPr indent="-342900" lvl="0" marL="457200" rtl="0" algn="l">
              <a:spcBef>
                <a:spcPts val="0"/>
              </a:spcBef>
              <a:spcAft>
                <a:spcPts val="0"/>
              </a:spcAft>
              <a:buSzPts val="1800"/>
              <a:buChar char="●"/>
            </a:pPr>
            <a:r>
              <a:rPr lang="en"/>
              <a:t>For example, if register x10 contained</a:t>
            </a:r>
            <a:br>
              <a:rPr lang="en"/>
            </a:br>
            <a:r>
              <a:rPr lang="en"/>
              <a:t>0b1111 1111 1111 1111 1111 1111 1110 0111 = -25</a:t>
            </a:r>
            <a:endParaRPr/>
          </a:p>
          <a:p>
            <a:pPr indent="-342900" lvl="0" marL="457200" rtl="0" algn="l">
              <a:spcBef>
                <a:spcPts val="0"/>
              </a:spcBef>
              <a:spcAft>
                <a:spcPts val="0"/>
              </a:spcAft>
              <a:buSzPts val="1800"/>
              <a:buChar char="●"/>
            </a:pPr>
            <a:r>
              <a:rPr lang="en"/>
              <a:t>If execute </a:t>
            </a:r>
            <a:r>
              <a:rPr b="1" lang="en">
                <a:latin typeface="Courier New"/>
                <a:ea typeface="Courier New"/>
                <a:cs typeface="Courier New"/>
                <a:sym typeface="Courier New"/>
              </a:rPr>
              <a:t>srai x10,x10,4</a:t>
            </a:r>
            <a:r>
              <a:rPr lang="en"/>
              <a:t>, result is:</a:t>
            </a:r>
            <a:br>
              <a:rPr lang="en"/>
            </a:br>
            <a:r>
              <a:rPr lang="en"/>
              <a:t>0b1111 1111 1111 1111 1111 1111 1111 1110 = -2</a:t>
            </a:r>
            <a:endParaRPr/>
          </a:p>
          <a:p>
            <a:pPr indent="-342900" lvl="0" marL="457200" rtl="0" algn="l">
              <a:spcBef>
                <a:spcPts val="0"/>
              </a:spcBef>
              <a:spcAft>
                <a:spcPts val="0"/>
              </a:spcAft>
              <a:buSzPts val="1800"/>
              <a:buChar char="●"/>
            </a:pPr>
            <a:r>
              <a:rPr lang="en"/>
              <a:t>Unfortunately, this is NOT same as dividing by 2</a:t>
            </a:r>
            <a:r>
              <a:rPr baseline="30000" lang="en"/>
              <a:t>n</a:t>
            </a:r>
            <a:endParaRPr baseline="30000"/>
          </a:p>
          <a:p>
            <a:pPr indent="-317500" lvl="1" marL="914400" rtl="0" algn="l">
              <a:spcBef>
                <a:spcPts val="0"/>
              </a:spcBef>
              <a:spcAft>
                <a:spcPts val="0"/>
              </a:spcAft>
              <a:buSzPts val="1400"/>
              <a:buChar char="○"/>
            </a:pPr>
            <a:r>
              <a:rPr lang="en"/>
              <a:t>Fails for odd negative numbers</a:t>
            </a:r>
            <a:endParaRPr/>
          </a:p>
          <a:p>
            <a:pPr indent="-317500" lvl="1" marL="914400" rtl="0" algn="l">
              <a:spcBef>
                <a:spcPts val="0"/>
              </a:spcBef>
              <a:spcAft>
                <a:spcPts val="0"/>
              </a:spcAft>
              <a:buSzPts val="1400"/>
              <a:buChar char="○"/>
            </a:pPr>
            <a:r>
              <a:rPr lang="en"/>
              <a:t>C arithmetic semantics is that division should round towards 0</a:t>
            </a:r>
            <a:endParaRPr/>
          </a:p>
          <a:p>
            <a:pPr indent="-342900" lvl="0" marL="457200" rtl="0" algn="l">
              <a:spcBef>
                <a:spcPts val="0"/>
              </a:spcBef>
              <a:spcAft>
                <a:spcPts val="0"/>
              </a:spcAft>
              <a:buSzPts val="1800"/>
              <a:buChar char="●"/>
            </a:pPr>
            <a:r>
              <a:rPr lang="en"/>
              <a:t>Note: There’s no “sla” because left shifts work the same regardless of if we use signed or unsigned numbers.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types</a:t>
            </a:r>
            <a:endParaRPr>
              <a:latin typeface="Oswald"/>
              <a:ea typeface="Oswald"/>
              <a:cs typeface="Oswald"/>
              <a:sym typeface="Oswald"/>
            </a:endParaRPr>
          </a:p>
        </p:txBody>
      </p:sp>
      <p:sp>
        <p:nvSpPr>
          <p:cNvPr id="321" name="Google Shape;321;p6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999999"/>
              </a:buClr>
              <a:buSzPts val="1800"/>
              <a:buChar char="●"/>
            </a:pPr>
            <a:r>
              <a:rPr lang="en">
                <a:solidFill>
                  <a:srgbClr val="999999"/>
                </a:solidFill>
              </a:rPr>
              <a:t>Instructions fall in 5 categories: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Arithmetic </a:t>
            </a:r>
            <a:r>
              <a:rPr lang="en">
                <a:solidFill>
                  <a:srgbClr val="999999"/>
                </a:solidFill>
              </a:rPr>
              <a:t>Operators</a:t>
            </a:r>
            <a:endParaRPr>
              <a:solidFill>
                <a:srgbClr val="999999"/>
              </a:solidFill>
            </a:endParaRPr>
          </a:p>
          <a:p>
            <a:pPr indent="-342900" lvl="0" marL="457200" rtl="0" algn="l">
              <a:spcBef>
                <a:spcPts val="0"/>
              </a:spcBef>
              <a:spcAft>
                <a:spcPts val="0"/>
              </a:spcAft>
              <a:buSzPts val="1800"/>
              <a:buChar char="●"/>
            </a:pPr>
            <a:r>
              <a:rPr lang="en"/>
              <a:t>Memory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Memory Instructions</a:t>
            </a:r>
            <a:endParaRPr>
              <a:latin typeface="Oswald"/>
              <a:ea typeface="Oswald"/>
              <a:cs typeface="Oswald"/>
              <a:sym typeface="Oswald"/>
            </a:endParaRPr>
          </a:p>
        </p:txBody>
      </p:sp>
      <p:sp>
        <p:nvSpPr>
          <p:cNvPr id="327" name="Google Shape;327;p6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Allows data to be transferred from main memory to registers and vice versa.</a:t>
            </a:r>
            <a:endParaRPr/>
          </a:p>
          <a:p>
            <a:pPr indent="-342900" lvl="0" marL="457200" rtl="0" algn="l">
              <a:spcBef>
                <a:spcPts val="0"/>
              </a:spcBef>
              <a:spcAft>
                <a:spcPts val="0"/>
              </a:spcAft>
              <a:buSzPts val="1800"/>
              <a:buChar char="●"/>
            </a:pPr>
            <a:r>
              <a:rPr lang="en"/>
              <a:t>Has a different syntax compared to arithmetic instructions</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lw x5,12(x7)</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Meaning: Interpret x7 as an address and add 12 </a:t>
            </a:r>
            <a:r>
              <a:rPr lang="en" sz="1600"/>
              <a:t>(Note that since we don’t have types in RISC-V, we don’t do </a:t>
            </a:r>
            <a:r>
              <a:rPr b="1" lang="en" sz="1600">
                <a:latin typeface="Courier New"/>
                <a:ea typeface="Courier New"/>
                <a:cs typeface="Courier New"/>
                <a:sym typeface="Courier New"/>
              </a:rPr>
              <a:t>12*sizeof(type)</a:t>
            </a:r>
            <a:r>
              <a:rPr lang="en" sz="1600"/>
              <a:t>)</a:t>
            </a:r>
            <a:r>
              <a:rPr lang="en"/>
              <a:t>. Retrieve the next word of data (4 bytes), and save the result in x5.</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sw x5,12(x7)</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Meaning: </a:t>
            </a:r>
            <a:r>
              <a:rPr lang="en"/>
              <a:t>Interpret x7 as an address and add 12. Overwrite the 4 bytes of memory at that location with the value currently stored in x5.</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Load from Memory to Register</a:t>
            </a:r>
            <a:endParaRPr>
              <a:latin typeface="Oswald"/>
              <a:ea typeface="Oswald"/>
              <a:cs typeface="Oswald"/>
              <a:sym typeface="Oswald"/>
            </a:endParaRPr>
          </a:p>
        </p:txBody>
      </p:sp>
      <p:sp>
        <p:nvSpPr>
          <p:cNvPr id="333" name="Google Shape;333;p6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C code</a:t>
            </a:r>
            <a:br>
              <a:rPr lang="en"/>
            </a:br>
            <a:r>
              <a:rPr b="1" lang="en">
                <a:latin typeface="Courier New"/>
                <a:ea typeface="Courier New"/>
                <a:cs typeface="Courier New"/>
                <a:sym typeface="Courier New"/>
              </a:rPr>
              <a:t>int A[100];</a:t>
            </a:r>
            <a:br>
              <a:rPr b="1" lang="en">
                <a:latin typeface="Courier New"/>
                <a:ea typeface="Courier New"/>
                <a:cs typeface="Courier New"/>
                <a:sym typeface="Courier New"/>
              </a:rPr>
            </a:br>
            <a:r>
              <a:rPr b="1" lang="en">
                <a:latin typeface="Courier New"/>
                <a:ea typeface="Courier New"/>
                <a:cs typeface="Courier New"/>
                <a:sym typeface="Courier New"/>
              </a:rPr>
              <a:t>g = h + A[3];</a:t>
            </a:r>
            <a:endParaRPr b="1">
              <a:latin typeface="Courier New"/>
              <a:ea typeface="Courier New"/>
              <a:cs typeface="Courier New"/>
              <a:sym typeface="Courier New"/>
            </a:endParaRPr>
          </a:p>
          <a:p>
            <a:pPr indent="-334327" lvl="0" marL="457200" rtl="0" algn="l">
              <a:spcBef>
                <a:spcPts val="0"/>
              </a:spcBef>
              <a:spcAft>
                <a:spcPts val="0"/>
              </a:spcAft>
              <a:buSzPct val="100000"/>
              <a:buChar char="●"/>
            </a:pPr>
            <a:r>
              <a:rPr lang="en"/>
              <a:t>Using Load Word (lw) in RISC-V:</a:t>
            </a:r>
            <a:br>
              <a:rPr lang="en"/>
            </a:br>
            <a:r>
              <a:rPr b="1" lang="en">
                <a:latin typeface="Courier New"/>
                <a:ea typeface="Courier New"/>
                <a:cs typeface="Courier New"/>
                <a:sym typeface="Courier New"/>
              </a:rPr>
              <a:t>lw x10,12(x15) # Reg x10 gets A[3]</a:t>
            </a:r>
            <a:br>
              <a:rPr b="1" lang="en">
                <a:latin typeface="Courier New"/>
                <a:ea typeface="Courier New"/>
                <a:cs typeface="Courier New"/>
                <a:sym typeface="Courier New"/>
              </a:rPr>
            </a:br>
            <a:r>
              <a:rPr b="1" lang="en">
                <a:latin typeface="Courier New"/>
                <a:ea typeface="Courier New"/>
                <a:cs typeface="Courier New"/>
                <a:sym typeface="Courier New"/>
              </a:rPr>
              <a:t>add x11,x12,x10 # g = h + A[3]</a:t>
            </a:r>
            <a:endParaRPr b="1">
              <a:latin typeface="Courier New"/>
              <a:ea typeface="Courier New"/>
              <a:cs typeface="Courier New"/>
              <a:sym typeface="Courier New"/>
            </a:endParaRPr>
          </a:p>
          <a:p>
            <a:pPr indent="-334327" lvl="0" marL="457200" rtl="0" algn="l">
              <a:spcBef>
                <a:spcPts val="0"/>
              </a:spcBef>
              <a:spcAft>
                <a:spcPts val="0"/>
              </a:spcAft>
              <a:buSzPct val="100000"/>
              <a:buChar char="●"/>
            </a:pPr>
            <a:r>
              <a:rPr lang="en"/>
              <a:t>Note</a:t>
            </a:r>
            <a:endParaRPr/>
          </a:p>
          <a:p>
            <a:pPr indent="-310832" lvl="1" marL="914400" rtl="0" algn="l">
              <a:spcBef>
                <a:spcPts val="0"/>
              </a:spcBef>
              <a:spcAft>
                <a:spcPts val="0"/>
              </a:spcAft>
              <a:buSzPct val="100000"/>
              <a:buChar char="○"/>
            </a:pPr>
            <a:r>
              <a:rPr lang="en"/>
              <a:t>x15 – base register (pointer to A[0])</a:t>
            </a:r>
            <a:endParaRPr/>
          </a:p>
          <a:p>
            <a:pPr indent="-310832" lvl="1" marL="914400" rtl="0" algn="l">
              <a:spcBef>
                <a:spcPts val="0"/>
              </a:spcBef>
              <a:spcAft>
                <a:spcPts val="0"/>
              </a:spcAft>
              <a:buSzPct val="100000"/>
              <a:buChar char="○"/>
            </a:pPr>
            <a:r>
              <a:rPr lang="en"/>
              <a:t>12 – offset in bytes</a:t>
            </a:r>
            <a:endParaRPr/>
          </a:p>
          <a:p>
            <a:pPr indent="-334327" lvl="0" marL="457200" rtl="0" algn="l">
              <a:spcBef>
                <a:spcPts val="0"/>
              </a:spcBef>
              <a:spcAft>
                <a:spcPts val="0"/>
              </a:spcAft>
              <a:buSzPct val="100000"/>
              <a:buChar char="●"/>
            </a:pPr>
            <a:r>
              <a:rPr lang="en"/>
              <a:t>Offset must be a constant known at assembly time</a:t>
            </a:r>
            <a:endParaRPr/>
          </a:p>
          <a:p>
            <a:pPr indent="-310832" lvl="1" marL="914400" rtl="0" algn="l">
              <a:spcBef>
                <a:spcPts val="0"/>
              </a:spcBef>
              <a:spcAft>
                <a:spcPts val="0"/>
              </a:spcAft>
              <a:buSzPct val="100000"/>
              <a:buChar char="○"/>
            </a:pPr>
            <a:r>
              <a:rPr lang="en"/>
              <a:t>If you wanted to do a variable offset, you would need to add it to the original address and offset by zero.</a:t>
            </a:r>
            <a:endParaRPr/>
          </a:p>
          <a:p>
            <a:pPr indent="-310832" lvl="1" marL="914400" rtl="0" algn="l">
              <a:spcBef>
                <a:spcPts val="0"/>
              </a:spcBef>
              <a:spcAft>
                <a:spcPts val="0"/>
              </a:spcAft>
              <a:buSzPct val="100000"/>
              <a:buChar char="○"/>
            </a:pPr>
            <a:r>
              <a:rPr lang="en"/>
              <a:t>e.g., If we wanted to do A[i], we could do:</a:t>
            </a:r>
            <a:endParaRPr/>
          </a:p>
          <a:p>
            <a:pPr indent="457200" lvl="0" marL="0" rtl="0" algn="l">
              <a:spcBef>
                <a:spcPts val="1200"/>
              </a:spcBef>
              <a:spcAft>
                <a:spcPts val="1200"/>
              </a:spcAft>
              <a:buNone/>
            </a:pPr>
            <a:r>
              <a:rPr lang="en" sz="1350"/>
              <a:t>	</a:t>
            </a:r>
            <a:r>
              <a:rPr b="1" lang="en" sz="1350">
                <a:latin typeface="Courier New"/>
                <a:ea typeface="Courier New"/>
                <a:cs typeface="Courier New"/>
                <a:sym typeface="Courier New"/>
              </a:rPr>
              <a:t>a</a:t>
            </a:r>
            <a:r>
              <a:rPr b="1" lang="en" sz="1350">
                <a:latin typeface="Courier New"/>
                <a:ea typeface="Courier New"/>
                <a:cs typeface="Courier New"/>
                <a:sym typeface="Courier New"/>
              </a:rPr>
              <a:t>dd x5,x15,x16 # Assume i stored in x16</a:t>
            </a:r>
            <a:br>
              <a:rPr b="1" lang="en" sz="1350">
                <a:latin typeface="Courier New"/>
                <a:ea typeface="Courier New"/>
                <a:cs typeface="Courier New"/>
                <a:sym typeface="Courier New"/>
              </a:rPr>
            </a:br>
            <a:r>
              <a:rPr b="1" lang="en" sz="1350">
                <a:latin typeface="Courier New"/>
                <a:ea typeface="Courier New"/>
                <a:cs typeface="Courier New"/>
                <a:sym typeface="Courier New"/>
              </a:rPr>
              <a:t>		lw x10,0(x5)</a:t>
            </a:r>
            <a:endParaRPr sz="135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Store from Register to Memory</a:t>
            </a:r>
            <a:endParaRPr>
              <a:latin typeface="Oswald"/>
              <a:ea typeface="Oswald"/>
              <a:cs typeface="Oswald"/>
              <a:sym typeface="Oswald"/>
            </a:endParaRPr>
          </a:p>
        </p:txBody>
      </p:sp>
      <p:sp>
        <p:nvSpPr>
          <p:cNvPr id="339" name="Google Shape;339;p6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 code</a:t>
            </a:r>
            <a:br>
              <a:rPr lang="en"/>
            </a:br>
            <a:r>
              <a:rPr b="1" lang="en">
                <a:latin typeface="Courier New"/>
                <a:ea typeface="Courier New"/>
                <a:cs typeface="Courier New"/>
                <a:sym typeface="Courier New"/>
              </a:rPr>
              <a:t>int A[100];</a:t>
            </a:r>
            <a:br>
              <a:rPr b="1" lang="en">
                <a:latin typeface="Courier New"/>
                <a:ea typeface="Courier New"/>
                <a:cs typeface="Courier New"/>
                <a:sym typeface="Courier New"/>
              </a:rPr>
            </a:br>
            <a:r>
              <a:rPr b="1" lang="en">
                <a:latin typeface="Courier New"/>
                <a:ea typeface="Courier New"/>
                <a:cs typeface="Courier New"/>
                <a:sym typeface="Courier New"/>
              </a:rPr>
              <a:t>A[10] = h + A[3];</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Using Store Word (sw) in RISC-V:</a:t>
            </a:r>
            <a:br>
              <a:rPr lang="en"/>
            </a:br>
            <a:r>
              <a:rPr b="1" lang="en">
                <a:latin typeface="Courier New"/>
                <a:ea typeface="Courier New"/>
                <a:cs typeface="Courier New"/>
                <a:sym typeface="Courier New"/>
              </a:rPr>
              <a:t>lw x10,12(x15)  # Temp reg x10 gets A[3]</a:t>
            </a:r>
            <a:br>
              <a:rPr b="1" lang="en">
                <a:latin typeface="Courier New"/>
                <a:ea typeface="Courier New"/>
                <a:cs typeface="Courier New"/>
                <a:sym typeface="Courier New"/>
              </a:rPr>
            </a:br>
            <a:r>
              <a:rPr b="1" lang="en">
                <a:latin typeface="Courier New"/>
                <a:ea typeface="Courier New"/>
                <a:cs typeface="Courier New"/>
                <a:sym typeface="Courier New"/>
              </a:rPr>
              <a:t>add x10,x12,x10 # Temp reg x10 gets h + A[3]</a:t>
            </a:r>
            <a:br>
              <a:rPr b="1" lang="en">
                <a:latin typeface="Courier New"/>
                <a:ea typeface="Courier New"/>
                <a:cs typeface="Courier New"/>
                <a:sym typeface="Courier New"/>
              </a:rPr>
            </a:br>
            <a:r>
              <a:rPr b="1" lang="en">
                <a:latin typeface="Courier New"/>
                <a:ea typeface="Courier New"/>
                <a:cs typeface="Courier New"/>
                <a:sym typeface="Courier New"/>
              </a:rPr>
              <a:t>sw x10,40(x15)  # A[10] = h + A[3]</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Note</a:t>
            </a:r>
            <a:endParaRPr/>
          </a:p>
          <a:p>
            <a:pPr indent="-317500" lvl="1" marL="914400" rtl="0" algn="l">
              <a:spcBef>
                <a:spcPts val="0"/>
              </a:spcBef>
              <a:spcAft>
                <a:spcPts val="0"/>
              </a:spcAft>
              <a:buSzPts val="1400"/>
              <a:buChar char="○"/>
            </a:pPr>
            <a:r>
              <a:rPr lang="en"/>
              <a:t>x15 – base register (pointer)</a:t>
            </a:r>
            <a:endParaRPr/>
          </a:p>
          <a:p>
            <a:pPr indent="-317500" lvl="1" marL="914400" rtl="0" algn="l">
              <a:spcBef>
                <a:spcPts val="0"/>
              </a:spcBef>
              <a:spcAft>
                <a:spcPts val="0"/>
              </a:spcAft>
              <a:buSzPts val="1400"/>
              <a:buChar char="○"/>
            </a:pPr>
            <a:r>
              <a:rPr lang="en"/>
              <a:t>12,40 – offsets in bytes</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x15+12</a:t>
            </a:r>
            <a:r>
              <a:rPr lang="en"/>
              <a:t> and </a:t>
            </a:r>
            <a:r>
              <a:rPr b="1" lang="en">
                <a:latin typeface="Courier New"/>
                <a:ea typeface="Courier New"/>
                <a:cs typeface="Courier New"/>
                <a:sym typeface="Courier New"/>
              </a:rPr>
              <a:t>x15+40</a:t>
            </a:r>
            <a:r>
              <a:rPr lang="en"/>
              <a:t> must be multiples of 4</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Loading and Storing Bytes</a:t>
            </a:r>
            <a:endParaRPr>
              <a:latin typeface="Oswald"/>
              <a:ea typeface="Oswald"/>
              <a:cs typeface="Oswald"/>
              <a:sym typeface="Oswald"/>
            </a:endParaRPr>
          </a:p>
        </p:txBody>
      </p:sp>
      <p:sp>
        <p:nvSpPr>
          <p:cNvPr id="345" name="Google Shape;345;p6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addition to word data transfers (</a:t>
            </a:r>
            <a:r>
              <a:rPr b="1" lang="en">
                <a:latin typeface="Courier New"/>
                <a:ea typeface="Courier New"/>
                <a:cs typeface="Courier New"/>
                <a:sym typeface="Courier New"/>
              </a:rPr>
              <a:t>lw</a:t>
            </a:r>
            <a:r>
              <a:rPr lang="en"/>
              <a:t>, </a:t>
            </a:r>
            <a:r>
              <a:rPr b="1" lang="en">
                <a:latin typeface="Courier New"/>
                <a:ea typeface="Courier New"/>
                <a:cs typeface="Courier New"/>
                <a:sym typeface="Courier New"/>
              </a:rPr>
              <a:t>sw</a:t>
            </a:r>
            <a:r>
              <a:rPr lang="en"/>
              <a:t>), RISC-V has byte data transfers:</a:t>
            </a:r>
            <a:endParaRPr/>
          </a:p>
          <a:p>
            <a:pPr indent="-317500" lvl="1" marL="914400" rtl="0" algn="l">
              <a:spcBef>
                <a:spcPts val="0"/>
              </a:spcBef>
              <a:spcAft>
                <a:spcPts val="0"/>
              </a:spcAft>
              <a:buSzPts val="1400"/>
              <a:buChar char="○"/>
            </a:pPr>
            <a:r>
              <a:rPr lang="en"/>
              <a:t>load byte: </a:t>
            </a:r>
            <a:r>
              <a:rPr b="1" lang="en">
                <a:latin typeface="Courier New"/>
                <a:ea typeface="Courier New"/>
                <a:cs typeface="Courier New"/>
                <a:sym typeface="Courier New"/>
              </a:rPr>
              <a:t>lb</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store byte: </a:t>
            </a:r>
            <a:r>
              <a:rPr b="1" lang="en">
                <a:latin typeface="Courier New"/>
                <a:ea typeface="Courier New"/>
                <a:cs typeface="Courier New"/>
                <a:sym typeface="Courier New"/>
              </a:rPr>
              <a:t>sb</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l</a:t>
            </a:r>
            <a:r>
              <a:rPr lang="en"/>
              <a:t>oad/store half-word: </a:t>
            </a:r>
            <a:r>
              <a:rPr b="1" lang="en">
                <a:latin typeface="Courier New"/>
                <a:ea typeface="Courier New"/>
                <a:cs typeface="Courier New"/>
                <a:sym typeface="Courier New"/>
              </a:rPr>
              <a:t>lh</a:t>
            </a:r>
            <a:r>
              <a:rPr lang="en"/>
              <a:t>, </a:t>
            </a:r>
            <a:r>
              <a:rPr b="1" lang="en">
                <a:latin typeface="Courier New"/>
                <a:ea typeface="Courier New"/>
                <a:cs typeface="Courier New"/>
                <a:sym typeface="Courier New"/>
              </a:rPr>
              <a:t>sh</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Same format as lw, sw</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lb x10,3(x11)</a:t>
            </a:r>
            <a:endParaRPr b="1">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t>Interpret x11 as an address and add 3. Retrieve the next byte of data, and save the result in x10.</a:t>
            </a:r>
            <a:endParaRPr sz="1300"/>
          </a:p>
          <a:p>
            <a:pPr indent="-342900" lvl="0" marL="457200" rtl="0" algn="l">
              <a:spcBef>
                <a:spcPts val="0"/>
              </a:spcBef>
              <a:spcAft>
                <a:spcPts val="0"/>
              </a:spcAft>
              <a:buSzPts val="1800"/>
              <a:buChar char="●"/>
            </a:pPr>
            <a:r>
              <a:rPr lang="en"/>
              <a:t>RISC-V also has “unsigned byte” loads (</a:t>
            </a:r>
            <a:r>
              <a:rPr b="1" lang="en">
                <a:latin typeface="Courier New"/>
                <a:ea typeface="Courier New"/>
                <a:cs typeface="Courier New"/>
                <a:sym typeface="Courier New"/>
              </a:rPr>
              <a:t>lbu</a:t>
            </a:r>
            <a:r>
              <a:rPr lang="en"/>
              <a:t>, </a:t>
            </a:r>
            <a:r>
              <a:rPr b="1" lang="en">
                <a:latin typeface="Courier New"/>
                <a:ea typeface="Courier New"/>
                <a:cs typeface="Courier New"/>
                <a:sym typeface="Courier New"/>
              </a:rPr>
              <a:t>lhu</a:t>
            </a:r>
            <a:r>
              <a:rPr lang="en"/>
              <a:t>) which zero-extends to fill register (normal </a:t>
            </a:r>
            <a:r>
              <a:rPr b="1" lang="en">
                <a:latin typeface="Courier New"/>
                <a:ea typeface="Courier New"/>
                <a:cs typeface="Courier New"/>
                <a:sym typeface="Courier New"/>
              </a:rPr>
              <a:t>lb</a:t>
            </a:r>
            <a:r>
              <a:rPr lang="en"/>
              <a:t> and </a:t>
            </a:r>
            <a:r>
              <a:rPr b="1" lang="en">
                <a:latin typeface="Courier New"/>
                <a:ea typeface="Courier New"/>
                <a:cs typeface="Courier New"/>
                <a:sym typeface="Courier New"/>
              </a:rPr>
              <a:t>lh</a:t>
            </a:r>
            <a:r>
              <a:rPr lang="en"/>
              <a:t> sign-extends). Why no unsigned store byte sbu?</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types</a:t>
            </a:r>
            <a:endParaRPr>
              <a:latin typeface="Oswald"/>
              <a:ea typeface="Oswald"/>
              <a:cs typeface="Oswald"/>
              <a:sym typeface="Oswald"/>
            </a:endParaRPr>
          </a:p>
        </p:txBody>
      </p:sp>
      <p:sp>
        <p:nvSpPr>
          <p:cNvPr id="351" name="Google Shape;351;p6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999999"/>
              </a:buClr>
              <a:buSzPts val="1800"/>
              <a:buChar char="●"/>
            </a:pPr>
            <a:r>
              <a:rPr lang="en">
                <a:solidFill>
                  <a:srgbClr val="999999"/>
                </a:solidFill>
              </a:rPr>
              <a:t>Instructions fall in 5 categories: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Arithmetic Operators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Memory </a:t>
            </a:r>
            <a:endParaRPr>
              <a:solidFill>
                <a:srgbClr val="999999"/>
              </a:solidFill>
            </a:endParaRPr>
          </a:p>
          <a:p>
            <a:pPr indent="-342900" lvl="0" marL="457200" rtl="0" algn="l">
              <a:spcBef>
                <a:spcPts val="0"/>
              </a:spcBef>
              <a:spcAft>
                <a:spcPts val="0"/>
              </a:spcAft>
              <a:buSzPts val="1800"/>
              <a:buChar char="●"/>
            </a:pPr>
            <a:r>
              <a:rPr lang="en"/>
              <a:t>Control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7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Control</a:t>
            </a:r>
            <a:endParaRPr>
              <a:latin typeface="Oswald"/>
              <a:ea typeface="Oswald"/>
              <a:cs typeface="Oswald"/>
              <a:sym typeface="Oswald"/>
            </a:endParaRPr>
          </a:p>
        </p:txBody>
      </p:sp>
      <p:sp>
        <p:nvSpPr>
          <p:cNvPr id="357" name="Google Shape;357;p7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Normally, when running RISC-V code, we always move to the next line of code</a:t>
            </a:r>
            <a:endParaRPr/>
          </a:p>
          <a:p>
            <a:pPr indent="-342900" lvl="0" marL="457200" rtl="0" algn="l">
              <a:spcBef>
                <a:spcPts val="0"/>
              </a:spcBef>
              <a:spcAft>
                <a:spcPts val="0"/>
              </a:spcAft>
              <a:buSzPts val="1800"/>
              <a:buChar char="●"/>
            </a:pPr>
            <a:r>
              <a:rPr lang="en"/>
              <a:t>Control instructions instead specify a different line of code to run next.</a:t>
            </a:r>
            <a:endParaRPr/>
          </a:p>
          <a:p>
            <a:pPr indent="-342900" lvl="0" marL="457200" rtl="0" algn="l">
              <a:spcBef>
                <a:spcPts val="0"/>
              </a:spcBef>
              <a:spcAft>
                <a:spcPts val="0"/>
              </a:spcAft>
              <a:buSzPts val="1800"/>
              <a:buChar char="●"/>
            </a:pPr>
            <a:r>
              <a:rPr lang="en"/>
              <a:t>Comes in two variants</a:t>
            </a:r>
            <a:endParaRPr/>
          </a:p>
          <a:p>
            <a:pPr indent="-317500" lvl="1" marL="914400" rtl="0" algn="l">
              <a:spcBef>
                <a:spcPts val="0"/>
              </a:spcBef>
              <a:spcAft>
                <a:spcPts val="0"/>
              </a:spcAft>
              <a:buSzPts val="1400"/>
              <a:buChar char="○"/>
            </a:pPr>
            <a:r>
              <a:rPr lang="en"/>
              <a:t>Conditional jumps (Also called branches), which jump to the specified line only if a certain condition is met, and otherwise move to the next line</a:t>
            </a:r>
            <a:endParaRPr/>
          </a:p>
          <a:p>
            <a:pPr indent="-317500" lvl="1" marL="914400" rtl="0" algn="l">
              <a:spcBef>
                <a:spcPts val="0"/>
              </a:spcBef>
              <a:spcAft>
                <a:spcPts val="0"/>
              </a:spcAft>
              <a:buSzPts val="1400"/>
              <a:buChar char="○"/>
            </a:pPr>
            <a:r>
              <a:rPr lang="en"/>
              <a:t>Unconditional jumps, which jump to the specified line no matter what.</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bne x5,x0,Label</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Meaning: compare x5 and x0. If the two are Not Equal, jump to the line of code marked Label. Otherwise </a:t>
            </a:r>
            <a:r>
              <a:rPr lang="en"/>
              <a:t>continue to the next line of code.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7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Labels</a:t>
            </a:r>
            <a:endParaRPr>
              <a:latin typeface="Oswald"/>
              <a:ea typeface="Oswald"/>
              <a:cs typeface="Oswald"/>
              <a:sym typeface="Oswald"/>
            </a:endParaRPr>
          </a:p>
        </p:txBody>
      </p:sp>
      <p:sp>
        <p:nvSpPr>
          <p:cNvPr id="363" name="Google Shape;363;p7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One last piece of RISC-V syntax: When working with control instructions, we often need to specify a line of RISC-V code to jump to.</a:t>
            </a:r>
            <a:endParaRPr/>
          </a:p>
          <a:p>
            <a:pPr indent="-342900" lvl="0" marL="457200" rtl="0" algn="l">
              <a:spcBef>
                <a:spcPts val="0"/>
              </a:spcBef>
              <a:spcAft>
                <a:spcPts val="0"/>
              </a:spcAft>
              <a:buSzPts val="1800"/>
              <a:buChar char="●"/>
            </a:pPr>
            <a:r>
              <a:rPr lang="en"/>
              <a:t>Label: A human-readable identifier for a particular line of code.</a:t>
            </a:r>
            <a:endParaRPr/>
          </a:p>
          <a:p>
            <a:pPr indent="0" lvl="0" marL="0" rtl="0" algn="l">
              <a:spcBef>
                <a:spcPts val="1200"/>
              </a:spcBef>
              <a:spcAft>
                <a:spcPts val="1200"/>
              </a:spcAft>
              <a:buNone/>
            </a:pPr>
            <a:r>
              <a:rPr lang="en"/>
              <a:t>e.g., </a:t>
            </a:r>
            <a:br>
              <a:rPr lang="en"/>
            </a:br>
            <a:r>
              <a:rPr lang="en"/>
              <a:t>		</a:t>
            </a:r>
            <a:r>
              <a:rPr b="1" lang="en">
                <a:latin typeface="Courier New"/>
                <a:ea typeface="Courier New"/>
                <a:cs typeface="Courier New"/>
                <a:sym typeface="Courier New"/>
              </a:rPr>
              <a:t>addi x5,x0,0</a:t>
            </a:r>
            <a:br>
              <a:rPr b="1" lang="en">
                <a:latin typeface="Courier New"/>
                <a:ea typeface="Courier New"/>
                <a:cs typeface="Courier New"/>
                <a:sym typeface="Courier New"/>
              </a:rPr>
            </a:br>
            <a:r>
              <a:rPr b="1" lang="en">
                <a:latin typeface="Courier New"/>
                <a:ea typeface="Courier New"/>
                <a:cs typeface="Courier New"/>
                <a:sym typeface="Courier New"/>
              </a:rPr>
              <a:t>		</a:t>
            </a:r>
            <a:r>
              <a:rPr b="1" lang="en">
                <a:latin typeface="Courier New"/>
                <a:ea typeface="Courier New"/>
                <a:cs typeface="Courier New"/>
                <a:sym typeface="Courier New"/>
              </a:rPr>
              <a:t>a</a:t>
            </a:r>
            <a:r>
              <a:rPr b="1" lang="en">
                <a:latin typeface="Courier New"/>
                <a:ea typeface="Courier New"/>
                <a:cs typeface="Courier New"/>
                <a:sym typeface="Courier New"/>
              </a:rPr>
              <a:t>ddi x6,x0,10</a:t>
            </a:r>
            <a:br>
              <a:rPr b="1" lang="en">
                <a:latin typeface="Courier New"/>
                <a:ea typeface="Courier New"/>
                <a:cs typeface="Courier New"/>
                <a:sym typeface="Courier New"/>
              </a:rPr>
            </a:br>
            <a:r>
              <a:rPr b="1" lang="en">
                <a:latin typeface="Courier New"/>
                <a:ea typeface="Courier New"/>
                <a:cs typeface="Courier New"/>
                <a:sym typeface="Courier New"/>
              </a:rPr>
              <a:t>Loop: 	add  x5,x5,x6</a:t>
            </a:r>
            <a:br>
              <a:rPr b="1" lang="en">
                <a:latin typeface="Courier New"/>
                <a:ea typeface="Courier New"/>
                <a:cs typeface="Courier New"/>
                <a:sym typeface="Courier New"/>
              </a:rPr>
            </a:br>
            <a:r>
              <a:rPr b="1" lang="en">
                <a:latin typeface="Courier New"/>
                <a:ea typeface="Courier New"/>
                <a:cs typeface="Courier New"/>
                <a:sym typeface="Courier New"/>
              </a:rPr>
              <a:t>		</a:t>
            </a:r>
            <a:r>
              <a:rPr b="1" lang="en">
                <a:latin typeface="Courier New"/>
                <a:ea typeface="Courier New"/>
                <a:cs typeface="Courier New"/>
                <a:sym typeface="Courier New"/>
              </a:rPr>
              <a:t>a</a:t>
            </a:r>
            <a:r>
              <a:rPr b="1" lang="en">
                <a:latin typeface="Courier New"/>
                <a:ea typeface="Courier New"/>
                <a:cs typeface="Courier New"/>
                <a:sym typeface="Courier New"/>
              </a:rPr>
              <a:t>ddi x5,x5,-1</a:t>
            </a:r>
            <a:br>
              <a:rPr b="1" lang="en">
                <a:latin typeface="Courier New"/>
                <a:ea typeface="Courier New"/>
                <a:cs typeface="Courier New"/>
                <a:sym typeface="Courier New"/>
              </a:rPr>
            </a:br>
            <a:r>
              <a:rPr b="1" lang="en">
                <a:latin typeface="Courier New"/>
                <a:ea typeface="Courier New"/>
                <a:cs typeface="Courier New"/>
                <a:sym typeface="Courier New"/>
              </a:rPr>
              <a:t>		</a:t>
            </a:r>
            <a:r>
              <a:rPr b="1" lang="en">
                <a:latin typeface="Courier New"/>
                <a:ea typeface="Courier New"/>
                <a:cs typeface="Courier New"/>
                <a:sym typeface="Courier New"/>
              </a:rPr>
              <a:t>bne  x5,x0,Loop</a:t>
            </a:r>
            <a:endParaRPr b="1">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7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Types of Branches</a:t>
            </a:r>
            <a:endParaRPr>
              <a:latin typeface="Oswald"/>
              <a:ea typeface="Oswald"/>
              <a:cs typeface="Oswald"/>
              <a:sym typeface="Oswald"/>
            </a:endParaRPr>
          </a:p>
        </p:txBody>
      </p:sp>
      <p:sp>
        <p:nvSpPr>
          <p:cNvPr id="369" name="Google Shape;369;p7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latin typeface="Courier New"/>
                <a:ea typeface="Courier New"/>
                <a:cs typeface="Courier New"/>
                <a:sym typeface="Courier New"/>
              </a:rPr>
              <a:t>b</a:t>
            </a:r>
            <a:r>
              <a:rPr b="1" lang="en">
                <a:latin typeface="Courier New"/>
                <a:ea typeface="Courier New"/>
                <a:cs typeface="Courier New"/>
                <a:sym typeface="Courier New"/>
              </a:rPr>
              <a:t>eq</a:t>
            </a:r>
            <a:r>
              <a:rPr lang="en"/>
              <a:t>: Branch if the two registers have equal value</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b</a:t>
            </a:r>
            <a:r>
              <a:rPr b="1" lang="en">
                <a:latin typeface="Courier New"/>
                <a:ea typeface="Courier New"/>
                <a:cs typeface="Courier New"/>
                <a:sym typeface="Courier New"/>
              </a:rPr>
              <a:t>ne</a:t>
            </a:r>
            <a:r>
              <a:rPr lang="en"/>
              <a:t>: Branch if non-equal</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b</a:t>
            </a:r>
            <a:r>
              <a:rPr b="1" lang="en">
                <a:latin typeface="Courier New"/>
                <a:ea typeface="Courier New"/>
                <a:cs typeface="Courier New"/>
                <a:sym typeface="Courier New"/>
              </a:rPr>
              <a:t>lt</a:t>
            </a:r>
            <a:r>
              <a:rPr lang="en"/>
              <a:t>, </a:t>
            </a:r>
            <a:r>
              <a:rPr b="1" lang="en">
                <a:latin typeface="Courier New"/>
                <a:ea typeface="Courier New"/>
                <a:cs typeface="Courier New"/>
                <a:sym typeface="Courier New"/>
              </a:rPr>
              <a:t>bge</a:t>
            </a:r>
            <a:r>
              <a:rPr lang="en"/>
              <a:t>, </a:t>
            </a:r>
            <a:r>
              <a:rPr b="1" lang="en">
                <a:latin typeface="Courier New"/>
                <a:ea typeface="Courier New"/>
                <a:cs typeface="Courier New"/>
                <a:sym typeface="Courier New"/>
              </a:rPr>
              <a:t>bltu</a:t>
            </a:r>
            <a:r>
              <a:rPr lang="en"/>
              <a:t>, </a:t>
            </a:r>
            <a:r>
              <a:rPr b="1" lang="en">
                <a:latin typeface="Courier New"/>
                <a:ea typeface="Courier New"/>
                <a:cs typeface="Courier New"/>
                <a:sym typeface="Courier New"/>
              </a:rPr>
              <a:t>bgeu</a:t>
            </a:r>
            <a:r>
              <a:rPr lang="en"/>
              <a:t>: Less than and “greater or equal”, along with unsigned variants.</a:t>
            </a:r>
            <a:endParaRPr/>
          </a:p>
          <a:p>
            <a:pPr indent="-342900" lvl="0" marL="457200" rtl="0" algn="l">
              <a:spcBef>
                <a:spcPts val="0"/>
              </a:spcBef>
              <a:spcAft>
                <a:spcPts val="0"/>
              </a:spcAft>
              <a:buSzPts val="1800"/>
              <a:buChar char="●"/>
            </a:pPr>
            <a:r>
              <a:rPr lang="en"/>
              <a:t>Note: </a:t>
            </a:r>
            <a:r>
              <a:rPr b="1" lang="en">
                <a:latin typeface="Courier New"/>
                <a:ea typeface="Courier New"/>
                <a:cs typeface="Courier New"/>
                <a:sym typeface="Courier New"/>
              </a:rPr>
              <a:t>bgt</a:t>
            </a:r>
            <a:r>
              <a:rPr lang="en"/>
              <a:t> is not an instruction, because if we wanted to do </a:t>
            </a:r>
            <a:r>
              <a:rPr b="1" lang="en">
                <a:latin typeface="Courier New"/>
                <a:ea typeface="Courier New"/>
                <a:cs typeface="Courier New"/>
                <a:sym typeface="Courier New"/>
              </a:rPr>
              <a:t>bgt x5,x6,Label</a:t>
            </a:r>
            <a:r>
              <a:rPr lang="en"/>
              <a:t>, we could do </a:t>
            </a:r>
            <a:r>
              <a:rPr b="1" lang="en">
                <a:latin typeface="Courier New"/>
                <a:ea typeface="Courier New"/>
                <a:cs typeface="Courier New"/>
                <a:sym typeface="Courier New"/>
              </a:rPr>
              <a:t>blt x6,x5,Label</a:t>
            </a:r>
            <a:r>
              <a:rPr lang="en"/>
              <a:t> instead.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Unconditional Jumps</a:t>
            </a:r>
            <a:endParaRPr>
              <a:latin typeface="Oswald"/>
              <a:ea typeface="Oswald"/>
              <a:cs typeface="Oswald"/>
              <a:sym typeface="Oswald"/>
            </a:endParaRPr>
          </a:p>
        </p:txBody>
      </p:sp>
      <p:sp>
        <p:nvSpPr>
          <p:cNvPr id="375" name="Google Shape;375;p7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Two versions, depending on if we want to jump to a label, or to an address saved in a register.</a:t>
            </a:r>
            <a:endParaRPr/>
          </a:p>
          <a:p>
            <a:pPr indent="-342900" lvl="0" marL="457200" rtl="0" algn="l">
              <a:spcBef>
                <a:spcPts val="0"/>
              </a:spcBef>
              <a:spcAft>
                <a:spcPts val="0"/>
              </a:spcAft>
              <a:buSzPts val="1800"/>
              <a:buChar char="●"/>
            </a:pPr>
            <a:r>
              <a:rPr lang="en"/>
              <a:t>These instructions also reference the current Program Counter (or PC), which stores the address of the current line of code being run.</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j</a:t>
            </a:r>
            <a:r>
              <a:rPr b="1" lang="en">
                <a:latin typeface="Courier New"/>
                <a:ea typeface="Courier New"/>
                <a:cs typeface="Courier New"/>
                <a:sym typeface="Courier New"/>
              </a:rPr>
              <a:t>al x1,Label</a:t>
            </a:r>
            <a:r>
              <a:rPr lang="en"/>
              <a:t> (Jump and Link)</a:t>
            </a:r>
            <a:endParaRPr/>
          </a:p>
          <a:p>
            <a:pPr indent="-317500" lvl="1" marL="914400" rtl="0" algn="l">
              <a:spcBef>
                <a:spcPts val="0"/>
              </a:spcBef>
              <a:spcAft>
                <a:spcPts val="0"/>
              </a:spcAft>
              <a:buSzPts val="1400"/>
              <a:buChar char="○"/>
            </a:pPr>
            <a:r>
              <a:rPr lang="en"/>
              <a:t>Meaning: Set x1 to PC+4 (the line of code immediately after the current line), then jump to Label</a:t>
            </a:r>
            <a:endParaRPr/>
          </a:p>
          <a:p>
            <a:pPr indent="-342900" lvl="0" marL="457200" rtl="0" algn="l">
              <a:spcBef>
                <a:spcPts val="0"/>
              </a:spcBef>
              <a:spcAft>
                <a:spcPts val="0"/>
              </a:spcAft>
              <a:buSzPts val="1800"/>
              <a:buChar char="●"/>
            </a:pPr>
            <a:r>
              <a:rPr lang="en"/>
              <a:t>e.g., </a:t>
            </a:r>
            <a:r>
              <a:rPr b="1" lang="en">
                <a:latin typeface="Courier New"/>
                <a:ea typeface="Courier New"/>
                <a:cs typeface="Courier New"/>
                <a:sym typeface="Courier New"/>
              </a:rPr>
              <a:t>jalr x1,x5,0</a:t>
            </a:r>
            <a:r>
              <a:rPr lang="en"/>
              <a:t> (Jump and Link Register)</a:t>
            </a:r>
            <a:endParaRPr/>
          </a:p>
          <a:p>
            <a:pPr indent="-317500" lvl="1" marL="914400" rtl="0" algn="l">
              <a:spcBef>
                <a:spcPts val="0"/>
              </a:spcBef>
              <a:spcAft>
                <a:spcPts val="0"/>
              </a:spcAft>
              <a:buSzPts val="1400"/>
              <a:buChar char="○"/>
            </a:pPr>
            <a:r>
              <a:rPr lang="en"/>
              <a:t>Meaning: set x1 to PC+4, then jump to the line of code at address </a:t>
            </a:r>
            <a:r>
              <a:rPr b="1" lang="en">
                <a:latin typeface="Courier New"/>
                <a:ea typeface="Courier New"/>
                <a:cs typeface="Courier New"/>
                <a:sym typeface="Courier New"/>
              </a:rPr>
              <a:t>x5+0</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Pseudo-instructions exist for when we don’t need the link</a:t>
            </a:r>
            <a:endParaRPr/>
          </a:p>
          <a:p>
            <a:pPr indent="-317500" lvl="1" marL="914400" rtl="0" algn="l">
              <a:spcBef>
                <a:spcPts val="0"/>
              </a:spcBef>
              <a:spcAft>
                <a:spcPts val="0"/>
              </a:spcAft>
              <a:buSzPts val="1400"/>
              <a:buChar char="○"/>
            </a:pPr>
            <a:r>
              <a:rPr lang="en"/>
              <a:t>“</a:t>
            </a:r>
            <a:r>
              <a:rPr b="1" lang="en">
                <a:latin typeface="Courier New"/>
                <a:ea typeface="Courier New"/>
                <a:cs typeface="Courier New"/>
                <a:sym typeface="Courier New"/>
              </a:rPr>
              <a:t>j Label</a:t>
            </a:r>
            <a:r>
              <a:rPr lang="en"/>
              <a:t>” and “</a:t>
            </a:r>
            <a:r>
              <a:rPr b="1" lang="en">
                <a:latin typeface="Courier New"/>
                <a:ea typeface="Courier New"/>
                <a:cs typeface="Courier New"/>
                <a:sym typeface="Courier New"/>
              </a:rPr>
              <a:t>jr x1</a:t>
            </a:r>
            <a:r>
              <a:rPr lang="en"/>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7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C Loop Mapped to RISC-V Assembly</a:t>
            </a:r>
            <a:endParaRPr>
              <a:latin typeface="Oswald"/>
              <a:ea typeface="Oswald"/>
              <a:cs typeface="Oswald"/>
              <a:sym typeface="Oswald"/>
            </a:endParaRPr>
          </a:p>
        </p:txBody>
      </p:sp>
      <p:sp>
        <p:nvSpPr>
          <p:cNvPr id="381" name="Google Shape;381;p74"/>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int A[20];</a:t>
            </a:r>
            <a:endParaRPr b="1">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b="1" lang="en">
                <a:latin typeface="Courier New"/>
                <a:ea typeface="Courier New"/>
                <a:cs typeface="Courier New"/>
                <a:sym typeface="Courier New"/>
              </a:rPr>
              <a:t>int sum = 0;</a:t>
            </a:r>
            <a:endParaRPr b="1">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b="1" lang="en">
                <a:latin typeface="Courier New"/>
                <a:ea typeface="Courier New"/>
                <a:cs typeface="Courier New"/>
                <a:sym typeface="Courier New"/>
              </a:rPr>
              <a:t>for (int i=0; i &lt; 20; i++)</a:t>
            </a:r>
            <a:endParaRPr b="1">
              <a:latin typeface="Courier New"/>
              <a:ea typeface="Courier New"/>
              <a:cs typeface="Courier New"/>
              <a:sym typeface="Courier New"/>
            </a:endParaRPr>
          </a:p>
          <a:p>
            <a:pPr indent="0" lvl="0" marL="0" rtl="0" algn="l">
              <a:spcBef>
                <a:spcPts val="1200"/>
              </a:spcBef>
              <a:spcAft>
                <a:spcPts val="1200"/>
              </a:spcAft>
              <a:buNone/>
            </a:pPr>
            <a:r>
              <a:rPr b="1" lang="en">
                <a:latin typeface="Courier New"/>
                <a:ea typeface="Courier New"/>
                <a:cs typeface="Courier New"/>
                <a:sym typeface="Courier New"/>
              </a:rPr>
              <a:t>sum += A[i];</a:t>
            </a:r>
            <a:endParaRPr b="1">
              <a:latin typeface="Courier New"/>
              <a:ea typeface="Courier New"/>
              <a:cs typeface="Courier New"/>
              <a:sym typeface="Courier New"/>
            </a:endParaRPr>
          </a:p>
        </p:txBody>
      </p:sp>
      <p:sp>
        <p:nvSpPr>
          <p:cNvPr id="382" name="Google Shape;382;p74"/>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  x9, x8, x0 # x9=&amp;A[0]</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  x10,x0, x0 # sum=0</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  x11,x0, x0 # i=0</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addi x13,x0, 20 # x13=20</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Loop:</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bge  x11,x13,Done</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lw   x12,0(x9) # x12=A[i]</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  x10,x10,x12 # sum+=</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addi x9, x9, 4 # &amp;A[i+1]</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addi x11,x11,1 # i++</a:t>
            </a:r>
            <a:endParaRPr b="1">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latin typeface="Courier New"/>
                <a:ea typeface="Courier New"/>
                <a:cs typeface="Courier New"/>
                <a:sym typeface="Courier New"/>
              </a:rPr>
              <a:t>  j Loop</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Done:</a:t>
            </a:r>
            <a:endParaRPr b="1">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7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Why we Link</a:t>
            </a:r>
            <a:endParaRPr>
              <a:latin typeface="Oswald"/>
              <a:ea typeface="Oswald"/>
              <a:cs typeface="Oswald"/>
              <a:sym typeface="Oswald"/>
            </a:endParaRPr>
          </a:p>
        </p:txBody>
      </p:sp>
      <p:sp>
        <p:nvSpPr>
          <p:cNvPr id="388" name="Google Shape;388;p7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999999"/>
              </a:buClr>
              <a:buSzPts val="1800"/>
              <a:buChar char="●"/>
            </a:pPr>
            <a:r>
              <a:rPr lang="en">
                <a:solidFill>
                  <a:srgbClr val="999999"/>
                </a:solidFill>
              </a:rPr>
              <a:t>e.g.,</a:t>
            </a:r>
            <a:r>
              <a:rPr lang="en">
                <a:solidFill>
                  <a:srgbClr val="999999"/>
                </a:solidFill>
              </a:rPr>
              <a:t> jal x1 Label (Jump and Link)</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Meaning: Set x1 to PC+4, then jump to Label</a:t>
            </a:r>
            <a:endParaRPr>
              <a:solidFill>
                <a:srgbClr val="999999"/>
              </a:solidFill>
            </a:endParaRPr>
          </a:p>
          <a:p>
            <a:pPr indent="-342900" lvl="0" marL="457200" rtl="0" algn="l">
              <a:spcBef>
                <a:spcPts val="0"/>
              </a:spcBef>
              <a:spcAft>
                <a:spcPts val="0"/>
              </a:spcAft>
              <a:buClr>
                <a:srgbClr val="000000"/>
              </a:buClr>
              <a:buSzPts val="1800"/>
              <a:buChar char="●"/>
            </a:pPr>
            <a:r>
              <a:rPr lang="en">
                <a:solidFill>
                  <a:srgbClr val="000000"/>
                </a:solidFill>
              </a:rPr>
              <a:t>Links allow us to “return” to where we were before we jumped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Often used to mimic the behavior of functions:</a:t>
            </a:r>
            <a:endParaRPr>
              <a:solidFill>
                <a:srgbClr val="000000"/>
              </a:solidFill>
            </a:endParaRPr>
          </a:p>
          <a:p>
            <a:pPr indent="0" lvl="0" marL="0" rtl="0" algn="l">
              <a:spcBef>
                <a:spcPts val="1200"/>
              </a:spcBef>
              <a:spcAft>
                <a:spcPts val="0"/>
              </a:spcAft>
              <a:buNone/>
            </a:pPr>
            <a:r>
              <a:rPr b="1" lang="en">
                <a:solidFill>
                  <a:srgbClr val="000000"/>
                </a:solidFill>
                <a:latin typeface="Courier New"/>
                <a:ea typeface="Courier New"/>
                <a:cs typeface="Courier New"/>
                <a:sym typeface="Courier New"/>
              </a:rPr>
              <a:t>main: 	addi x10,x0,5</a:t>
            </a:r>
            <a:br>
              <a:rPr b="1" lang="en">
                <a:solidFill>
                  <a:srgbClr val="000000"/>
                </a:solidFill>
                <a:latin typeface="Courier New"/>
                <a:ea typeface="Courier New"/>
                <a:cs typeface="Courier New"/>
                <a:sym typeface="Courier New"/>
              </a:rPr>
            </a:br>
            <a:r>
              <a:rPr b="1" lang="en">
                <a:solidFill>
                  <a:srgbClr val="000000"/>
                </a:solidFill>
                <a:latin typeface="Courier New"/>
                <a:ea typeface="Courier New"/>
                <a:cs typeface="Courier New"/>
                <a:sym typeface="Courier New"/>
              </a:rPr>
              <a:t>		jal x1,foo</a:t>
            </a:r>
            <a:br>
              <a:rPr b="1" lang="en">
                <a:solidFill>
                  <a:srgbClr val="000000"/>
                </a:solidFill>
                <a:latin typeface="Courier New"/>
                <a:ea typeface="Courier New"/>
                <a:cs typeface="Courier New"/>
                <a:sym typeface="Courier New"/>
              </a:rPr>
            </a:br>
            <a:r>
              <a:rPr b="1" lang="en">
                <a:solidFill>
                  <a:srgbClr val="000000"/>
                </a:solidFill>
                <a:latin typeface="Courier New"/>
                <a:ea typeface="Courier New"/>
                <a:cs typeface="Courier New"/>
                <a:sym typeface="Courier New"/>
              </a:rPr>
              <a:t>		...</a:t>
            </a:r>
            <a:br>
              <a:rPr b="1" lang="en">
                <a:solidFill>
                  <a:srgbClr val="000000"/>
                </a:solidFill>
                <a:latin typeface="Courier New"/>
                <a:ea typeface="Courier New"/>
                <a:cs typeface="Courier New"/>
                <a:sym typeface="Courier New"/>
              </a:rPr>
            </a:br>
            <a:r>
              <a:rPr b="1" lang="en">
                <a:solidFill>
                  <a:srgbClr val="000000"/>
                </a:solidFill>
                <a:latin typeface="Courier New"/>
                <a:ea typeface="Courier New"/>
                <a:cs typeface="Courier New"/>
                <a:sym typeface="Courier New"/>
              </a:rPr>
              <a:t>foo:	...</a:t>
            </a:r>
            <a:br>
              <a:rPr b="1" lang="en">
                <a:solidFill>
                  <a:srgbClr val="000000"/>
                </a:solidFill>
                <a:latin typeface="Courier New"/>
                <a:ea typeface="Courier New"/>
                <a:cs typeface="Courier New"/>
                <a:sym typeface="Courier New"/>
              </a:rPr>
            </a:br>
            <a:r>
              <a:rPr b="1" lang="en">
                <a:solidFill>
                  <a:srgbClr val="000000"/>
                </a:solidFill>
                <a:latin typeface="Courier New"/>
                <a:ea typeface="Courier New"/>
                <a:cs typeface="Courier New"/>
                <a:sym typeface="Courier New"/>
              </a:rPr>
              <a:t>		jr x1</a:t>
            </a:r>
            <a:endParaRPr b="1">
              <a:solidFill>
                <a:srgbClr val="000000"/>
              </a:solidFill>
              <a:latin typeface="Courier New"/>
              <a:ea typeface="Courier New"/>
              <a:cs typeface="Courier New"/>
              <a:sym typeface="Courier New"/>
            </a:endParaRPr>
          </a:p>
          <a:p>
            <a:pPr indent="-342900" lvl="0" marL="457200" rtl="0" algn="l">
              <a:spcBef>
                <a:spcPts val="1200"/>
              </a:spcBef>
              <a:spcAft>
                <a:spcPts val="0"/>
              </a:spcAft>
              <a:buClr>
                <a:srgbClr val="000000"/>
              </a:buClr>
              <a:buSzPts val="1800"/>
              <a:buChar char="●"/>
            </a:pPr>
            <a:r>
              <a:rPr lang="en">
                <a:solidFill>
                  <a:srgbClr val="000000"/>
                </a:solidFill>
              </a:rPr>
              <a:t>We jump to foo, and store the next line after that jump into x1. Later, foo runs “</a:t>
            </a:r>
            <a:r>
              <a:rPr b="1" lang="en">
                <a:solidFill>
                  <a:srgbClr val="000000"/>
                </a:solidFill>
                <a:latin typeface="Courier New"/>
                <a:ea typeface="Courier New"/>
                <a:cs typeface="Courier New"/>
                <a:sym typeface="Courier New"/>
              </a:rPr>
              <a:t>jr x1</a:t>
            </a:r>
            <a:r>
              <a:rPr lang="en">
                <a:solidFill>
                  <a:srgbClr val="000000"/>
                </a:solidFill>
              </a:rPr>
              <a:t>”, which jumps back to where x1 is pointing, effectively “returning”.</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This lets foo act as a “function” (though there are critical differences)</a:t>
            </a:r>
            <a:endParaRPr>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types</a:t>
            </a:r>
            <a:endParaRPr>
              <a:latin typeface="Oswald"/>
              <a:ea typeface="Oswald"/>
              <a:cs typeface="Oswald"/>
              <a:sym typeface="Oswald"/>
            </a:endParaRPr>
          </a:p>
        </p:txBody>
      </p:sp>
      <p:sp>
        <p:nvSpPr>
          <p:cNvPr id="394" name="Google Shape;394;p7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999999"/>
              </a:buClr>
              <a:buSzPts val="1800"/>
              <a:buChar char="●"/>
            </a:pPr>
            <a:r>
              <a:rPr lang="en">
                <a:solidFill>
                  <a:srgbClr val="999999"/>
                </a:solidFill>
              </a:rPr>
              <a:t>Instructions fall in 5 categories: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Arithmetic Operators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Memory </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Control</a:t>
            </a:r>
            <a:endParaRPr>
              <a:solidFill>
                <a:srgbClr val="999999"/>
              </a:solidFill>
            </a:endParaRPr>
          </a:p>
          <a:p>
            <a:pPr indent="-342900" lvl="0" marL="457200" rtl="0" algn="l">
              <a:spcBef>
                <a:spcPts val="0"/>
              </a:spcBef>
              <a:spcAft>
                <a:spcPts val="0"/>
              </a:spcAft>
              <a:buSzPts val="1800"/>
              <a:buChar char="●"/>
            </a:pPr>
            <a:r>
              <a:rPr lang="en"/>
              <a:t>Miscellaneous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Miscellaneous Instructions</a:t>
            </a:r>
            <a:endParaRPr>
              <a:latin typeface="Oswald"/>
              <a:ea typeface="Oswald"/>
              <a:cs typeface="Oswald"/>
              <a:sym typeface="Oswald"/>
            </a:endParaRPr>
          </a:p>
        </p:txBody>
      </p:sp>
      <p:sp>
        <p:nvSpPr>
          <p:cNvPr id="400" name="Google Shape;400;p7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These instructions don’t fit in the other categories:</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latin typeface="Courier New"/>
                <a:ea typeface="Courier New"/>
                <a:cs typeface="Courier New"/>
                <a:sym typeface="Courier New"/>
              </a:rPr>
              <a:t>l</a:t>
            </a:r>
            <a:r>
              <a:rPr b="1" lang="en">
                <a:solidFill>
                  <a:srgbClr val="000000"/>
                </a:solidFill>
                <a:latin typeface="Courier New"/>
                <a:ea typeface="Courier New"/>
                <a:cs typeface="Courier New"/>
                <a:sym typeface="Courier New"/>
              </a:rPr>
              <a:t>ui</a:t>
            </a:r>
            <a:r>
              <a:rPr lang="en">
                <a:solidFill>
                  <a:srgbClr val="000000"/>
                </a:solidFill>
              </a:rPr>
              <a:t>, </a:t>
            </a:r>
            <a:r>
              <a:rPr b="1" lang="en">
                <a:solidFill>
                  <a:srgbClr val="000000"/>
                </a:solidFill>
                <a:latin typeface="Courier New"/>
                <a:ea typeface="Courier New"/>
                <a:cs typeface="Courier New"/>
                <a:sym typeface="Courier New"/>
              </a:rPr>
              <a:t>auipc</a:t>
            </a:r>
            <a:r>
              <a:rPr lang="en">
                <a:solidFill>
                  <a:srgbClr val="000000"/>
                </a:solidFill>
              </a:rPr>
              <a:t>: Two instructions that act as “helpers” to let the pseudo-instructions “li” and “la” work. Rarely used independently.</a:t>
            </a:r>
            <a:endParaRPr>
              <a:solidFill>
                <a:srgbClr val="000000"/>
              </a:solidFill>
            </a:endParaRPr>
          </a:p>
          <a:p>
            <a:pPr indent="-317500" lvl="1" marL="914400" rtl="0" algn="l">
              <a:spcBef>
                <a:spcPts val="0"/>
              </a:spcBef>
              <a:spcAft>
                <a:spcPts val="0"/>
              </a:spcAft>
              <a:buClr>
                <a:srgbClr val="000000"/>
              </a:buClr>
              <a:buSzPts val="1400"/>
              <a:buChar char="○"/>
            </a:pPr>
            <a:r>
              <a:rPr b="1" lang="en">
                <a:solidFill>
                  <a:srgbClr val="000000"/>
                </a:solidFill>
                <a:latin typeface="Courier New"/>
                <a:ea typeface="Courier New"/>
                <a:cs typeface="Courier New"/>
                <a:sym typeface="Courier New"/>
              </a:rPr>
              <a:t>l</a:t>
            </a:r>
            <a:r>
              <a:rPr b="1" lang="en">
                <a:solidFill>
                  <a:srgbClr val="000000"/>
                </a:solidFill>
                <a:latin typeface="Courier New"/>
                <a:ea typeface="Courier New"/>
                <a:cs typeface="Courier New"/>
                <a:sym typeface="Courier New"/>
              </a:rPr>
              <a:t>i x5,0xDEADBEEF</a:t>
            </a:r>
            <a:r>
              <a:rPr lang="en">
                <a:solidFill>
                  <a:srgbClr val="000000"/>
                </a:solidFill>
              </a:rPr>
              <a:t>: Sets the register x5 to immediate value 0xDEADBEEF</a:t>
            </a:r>
            <a:endParaRPr>
              <a:solidFill>
                <a:srgbClr val="000000"/>
              </a:solidFill>
            </a:endParaRPr>
          </a:p>
          <a:p>
            <a:pPr indent="-317500" lvl="1" marL="914400" rtl="0" algn="l">
              <a:spcBef>
                <a:spcPts val="0"/>
              </a:spcBef>
              <a:spcAft>
                <a:spcPts val="0"/>
              </a:spcAft>
              <a:buClr>
                <a:srgbClr val="000000"/>
              </a:buClr>
              <a:buSzPts val="1400"/>
              <a:buChar char="○"/>
            </a:pPr>
            <a:r>
              <a:rPr b="1" lang="en">
                <a:solidFill>
                  <a:srgbClr val="000000"/>
                </a:solidFill>
                <a:latin typeface="Courier New"/>
                <a:ea typeface="Courier New"/>
                <a:cs typeface="Courier New"/>
                <a:sym typeface="Courier New"/>
              </a:rPr>
              <a:t>l</a:t>
            </a:r>
            <a:r>
              <a:rPr b="1" lang="en">
                <a:solidFill>
                  <a:srgbClr val="000000"/>
                </a:solidFill>
                <a:latin typeface="Courier New"/>
                <a:ea typeface="Courier New"/>
                <a:cs typeface="Courier New"/>
                <a:sym typeface="Courier New"/>
              </a:rPr>
              <a:t>a x5,Label</a:t>
            </a:r>
            <a:r>
              <a:rPr lang="en">
                <a:solidFill>
                  <a:srgbClr val="000000"/>
                </a:solidFill>
              </a:rPr>
              <a:t>: Sets x5 to the address of the line of code pointed to by Label</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latin typeface="Courier New"/>
                <a:ea typeface="Courier New"/>
                <a:cs typeface="Courier New"/>
                <a:sym typeface="Courier New"/>
              </a:rPr>
              <a:t>e</a:t>
            </a:r>
            <a:r>
              <a:rPr b="1" lang="en">
                <a:solidFill>
                  <a:srgbClr val="000000"/>
                </a:solidFill>
                <a:latin typeface="Courier New"/>
                <a:ea typeface="Courier New"/>
                <a:cs typeface="Courier New"/>
                <a:sym typeface="Courier New"/>
              </a:rPr>
              <a:t>break</a:t>
            </a:r>
            <a:r>
              <a:rPr lang="en">
                <a:solidFill>
                  <a:srgbClr val="000000"/>
                </a:solidFill>
              </a:rPr>
              <a:t>: Debugger-specific behavior. In some emulators, it stops program flow at this line to let you step in </a:t>
            </a:r>
            <a:r>
              <a:rPr lang="en" sz="1600">
                <a:solidFill>
                  <a:srgbClr val="000000"/>
                </a:solidFill>
              </a:rPr>
              <a:t>(similar to adding a breakpoint in other debuggers)</a:t>
            </a:r>
            <a:endParaRPr sz="1600">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latin typeface="Courier New"/>
                <a:ea typeface="Courier New"/>
                <a:cs typeface="Courier New"/>
                <a:sym typeface="Courier New"/>
              </a:rPr>
              <a:t>e</a:t>
            </a:r>
            <a:r>
              <a:rPr b="1" lang="en">
                <a:solidFill>
                  <a:srgbClr val="000000"/>
                </a:solidFill>
                <a:latin typeface="Courier New"/>
                <a:ea typeface="Courier New"/>
                <a:cs typeface="Courier New"/>
                <a:sym typeface="Courier New"/>
              </a:rPr>
              <a:t>call</a:t>
            </a:r>
            <a:r>
              <a:rPr lang="en">
                <a:solidFill>
                  <a:srgbClr val="000000"/>
                </a:solidFill>
              </a:rPr>
              <a:t>: OS-specific behavior. Kind of a catch-all for anything the program can’t do on its own. Example behavior includes printing out data, and requesting memory via malloc.</a:t>
            </a:r>
            <a:endParaRPr>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Instruction types</a:t>
            </a:r>
            <a:endParaRPr>
              <a:latin typeface="Oswald"/>
              <a:ea typeface="Oswald"/>
              <a:cs typeface="Oswald"/>
              <a:sym typeface="Oswald"/>
            </a:endParaRPr>
          </a:p>
        </p:txBody>
      </p:sp>
      <p:sp>
        <p:nvSpPr>
          <p:cNvPr id="406" name="Google Shape;406;p7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999999"/>
              </a:buClr>
              <a:buSzPts val="1800"/>
              <a:buChar char="●"/>
            </a:pPr>
            <a:r>
              <a:rPr lang="en">
                <a:solidFill>
                  <a:srgbClr val="999999"/>
                </a:solidFill>
              </a:rPr>
              <a:t>Instructions fall in 5 categories: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Arithmetic Operators</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Memory </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Control</a:t>
            </a:r>
            <a:endParaRPr>
              <a:solidFill>
                <a:srgbClr val="999999"/>
              </a:solidFill>
            </a:endParaRPr>
          </a:p>
          <a:p>
            <a:pPr indent="-342900" lvl="0" marL="457200" rtl="0" algn="l">
              <a:spcBef>
                <a:spcPts val="0"/>
              </a:spcBef>
              <a:spcAft>
                <a:spcPts val="0"/>
              </a:spcAft>
              <a:buClr>
                <a:srgbClr val="999999"/>
              </a:buClr>
              <a:buSzPts val="1800"/>
              <a:buChar char="●"/>
            </a:pPr>
            <a:r>
              <a:rPr lang="en">
                <a:solidFill>
                  <a:srgbClr val="999999"/>
                </a:solidFill>
              </a:rPr>
              <a:t>Miscellaneous</a:t>
            </a:r>
            <a:endParaRPr>
              <a:solidFill>
                <a:srgbClr val="999999"/>
              </a:solidFill>
            </a:endParaRPr>
          </a:p>
          <a:p>
            <a:pPr indent="-342900" lvl="0" marL="457200" rtl="0" algn="l">
              <a:spcBef>
                <a:spcPts val="0"/>
              </a:spcBef>
              <a:spcAft>
                <a:spcPts val="0"/>
              </a:spcAft>
              <a:buSzPts val="1800"/>
              <a:buChar char="●"/>
            </a:pPr>
            <a:r>
              <a:rPr lang="en"/>
              <a:t>Extensions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RISC-V Extensions</a:t>
            </a:r>
            <a:endParaRPr>
              <a:latin typeface="Oswald"/>
              <a:ea typeface="Oswald"/>
              <a:cs typeface="Oswald"/>
              <a:sym typeface="Oswald"/>
            </a:endParaRPr>
          </a:p>
        </p:txBody>
      </p:sp>
      <p:sp>
        <p:nvSpPr>
          <p:cNvPr id="412" name="Google Shape;412;p7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RISC-V offers a number of extensions which may optionally be implemented by a CPU</a:t>
            </a:r>
            <a:endParaRPr>
              <a:solidFill>
                <a:srgbClr val="000000"/>
              </a:solidFill>
            </a:endParaRPr>
          </a:p>
          <a:p>
            <a:pPr indent="-317500" lvl="1" marL="914400" rtl="0" algn="l">
              <a:spcBef>
                <a:spcPts val="0"/>
              </a:spcBef>
              <a:spcAft>
                <a:spcPts val="0"/>
              </a:spcAft>
              <a:buClr>
                <a:srgbClr val="000000"/>
              </a:buClr>
              <a:buSzPts val="1400"/>
              <a:buChar char="○"/>
            </a:pPr>
            <a:r>
              <a:rPr b="1" lang="en">
                <a:solidFill>
                  <a:srgbClr val="000000"/>
                </a:solidFill>
              </a:rPr>
              <a:t>M</a:t>
            </a:r>
            <a:r>
              <a:rPr lang="en">
                <a:solidFill>
                  <a:srgbClr val="000000"/>
                </a:solidFill>
              </a:rPr>
              <a:t>ultiplication/Division extension (too slow for the base instruction set)</a:t>
            </a:r>
            <a:endParaRPr>
              <a:solidFill>
                <a:srgbClr val="000000"/>
              </a:solidFill>
            </a:endParaRPr>
          </a:p>
          <a:p>
            <a:pPr indent="-317500" lvl="1" marL="914400" rtl="0" algn="l">
              <a:spcBef>
                <a:spcPts val="0"/>
              </a:spcBef>
              <a:spcAft>
                <a:spcPts val="0"/>
              </a:spcAft>
              <a:buClr>
                <a:srgbClr val="000000"/>
              </a:buClr>
              <a:buSzPts val="1400"/>
              <a:buChar char="○"/>
            </a:pPr>
            <a:r>
              <a:rPr b="1" lang="en">
                <a:solidFill>
                  <a:srgbClr val="000000"/>
                </a:solidFill>
              </a:rPr>
              <a:t>F</a:t>
            </a:r>
            <a:r>
              <a:rPr lang="en">
                <a:solidFill>
                  <a:srgbClr val="000000"/>
                </a:solidFill>
              </a:rPr>
              <a:t>loat extension (requires significantly more circuitry)</a:t>
            </a:r>
            <a:endParaRPr>
              <a:solidFill>
                <a:srgbClr val="000000"/>
              </a:solidFill>
            </a:endParaRPr>
          </a:p>
          <a:p>
            <a:pPr indent="-317500" lvl="1" marL="914400" rtl="0" algn="l">
              <a:spcBef>
                <a:spcPts val="0"/>
              </a:spcBef>
              <a:spcAft>
                <a:spcPts val="0"/>
              </a:spcAft>
              <a:buClr>
                <a:srgbClr val="000000"/>
              </a:buClr>
              <a:buSzPts val="1400"/>
              <a:buChar char="○"/>
            </a:pPr>
            <a:r>
              <a:rPr b="1" lang="en">
                <a:solidFill>
                  <a:srgbClr val="000000"/>
                </a:solidFill>
              </a:rPr>
              <a:t>D</a:t>
            </a:r>
            <a:r>
              <a:rPr lang="en">
                <a:solidFill>
                  <a:srgbClr val="000000"/>
                </a:solidFill>
              </a:rPr>
              <a:t>ouble extension (requires more circuitry AND 64-bit registers)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Other extensions for </a:t>
            </a:r>
            <a:r>
              <a:rPr lang="en">
                <a:solidFill>
                  <a:srgbClr val="000000"/>
                </a:solidFill>
              </a:rPr>
              <a:t>different</a:t>
            </a:r>
            <a:r>
              <a:rPr lang="en">
                <a:solidFill>
                  <a:srgbClr val="000000"/>
                </a:solidFill>
              </a:rPr>
              <a:t> use cases</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latin typeface="Courier New"/>
                <a:ea typeface="Courier New"/>
                <a:cs typeface="Courier New"/>
                <a:sym typeface="Courier New"/>
              </a:rPr>
              <a:t>m</a:t>
            </a:r>
            <a:r>
              <a:rPr b="1" lang="en">
                <a:solidFill>
                  <a:srgbClr val="000000"/>
                </a:solidFill>
                <a:latin typeface="Courier New"/>
                <a:ea typeface="Courier New"/>
                <a:cs typeface="Courier New"/>
                <a:sym typeface="Courier New"/>
              </a:rPr>
              <a:t>ul x5,x</a:t>
            </a:r>
            <a:r>
              <a:rPr b="1" lang="en">
                <a:solidFill>
                  <a:srgbClr val="000000"/>
                </a:solidFill>
                <a:latin typeface="Courier New"/>
                <a:ea typeface="Courier New"/>
                <a:cs typeface="Courier New"/>
                <a:sym typeface="Courier New"/>
              </a:rPr>
              <a:t>6,</a:t>
            </a:r>
            <a:r>
              <a:rPr b="1" lang="en">
                <a:solidFill>
                  <a:srgbClr val="000000"/>
                </a:solidFill>
                <a:latin typeface="Courier New"/>
                <a:ea typeface="Courier New"/>
                <a:cs typeface="Courier New"/>
                <a:sym typeface="Courier New"/>
              </a:rPr>
              <a:t>x7</a:t>
            </a:r>
            <a:r>
              <a:rPr lang="en">
                <a:solidFill>
                  <a:srgbClr val="000000"/>
                </a:solidFill>
              </a:rPr>
              <a:t>: Multiply x6 and x7 together, and store the result in x5</a:t>
            </a:r>
            <a:endParaRPr>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8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swald"/>
                <a:ea typeface="Oswald"/>
                <a:cs typeface="Oswald"/>
                <a:sym typeface="Oswald"/>
              </a:rPr>
              <a:t>Summary</a:t>
            </a:r>
            <a:endParaRPr>
              <a:latin typeface="Oswald"/>
              <a:ea typeface="Oswald"/>
              <a:cs typeface="Oswald"/>
              <a:sym typeface="Oswald"/>
            </a:endParaRPr>
          </a:p>
        </p:txBody>
      </p:sp>
      <p:sp>
        <p:nvSpPr>
          <p:cNvPr id="418" name="Google Shape;418;p8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Everything that we normally use when programming (variables, functions, loops) need to be constructed out of these instructions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RISC-V is also extremely easy to get wrong (no guardrails), so to ensure that everyone’s code is compatible, we need to follow a set of conventions.</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S61C (Weaver)">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